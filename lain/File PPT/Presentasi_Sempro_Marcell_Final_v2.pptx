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457200"/>
            <a:ext cx="1371600" cy="13716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[Logo Ma Chung]</a:t>
            </a:r>
          </a:p>
        </p:txBody>
      </p:sp>
      <p:sp>
        <p:nvSpPr>
          <p:cNvPr id="3" name="TextBox 2"/>
          <p:cNvSpPr txBox="1"/>
          <p:nvPr/>
        </p:nvSpPr>
        <p:spPr>
          <a:xfrm>
            <a:off x="914400" y="2286000"/>
            <a:ext cx="7315200" cy="1371600"/>
          </a:xfrm>
          <a:prstGeom prst="rect">
            <a:avLst/>
          </a:prstGeom>
          <a:noFill/>
        </p:spPr>
        <p:txBody>
          <a:bodyPr wrap="square">
            <a:spAutoFit/>
          </a:bodyPr>
          <a:lstStyle/>
          <a:p>
            <a:pPr algn="ctr">
              <a:defRPr sz="3200" b="1"/>
            </a:pPr>
            <a:r>
              <a:t>Rancang Bangun Sistem Informasi Inventory Omnichannel Alat Kesehatan dan Obat (Studi Kasus: ZenCare Medical)</a:t>
            </a:r>
          </a:p>
        </p:txBody>
      </p:sp>
      <p:sp>
        <p:nvSpPr>
          <p:cNvPr id="4" name="TextBox 3"/>
          <p:cNvSpPr txBox="1"/>
          <p:nvPr/>
        </p:nvSpPr>
        <p:spPr>
          <a:xfrm>
            <a:off x="914400" y="4114800"/>
            <a:ext cx="7315200" cy="1828800"/>
          </a:xfrm>
          <a:prstGeom prst="rect">
            <a:avLst/>
          </a:prstGeom>
          <a:noFill/>
        </p:spPr>
        <p:txBody>
          <a:bodyPr wrap="square">
            <a:spAutoFit/>
          </a:bodyPr>
          <a:lstStyle/>
          <a:p>
            <a:pPr algn="ctr">
              <a:defRPr sz="1600" b="0"/>
            </a:pPr>
            <a:r>
              <a:t>Penyusun: Marcell Chandra Kenchana (322310015)</a:t>
            </a:r>
            <a:br/>
            <a:r>
              <a:t>Ketua Penguji: [Nama Ketua Penguji]</a:t>
            </a:r>
            <a:br/>
            <a:r>
              <a:t>Dosen Penguji I: [Nama Dosen Penguji 1]</a:t>
            </a:r>
            <a:br/>
            <a:r>
              <a:t>Dosen Penguji II: Dr. Soetam Rizky Wicaksono, S.Kom., MM., MCP., MCTS., MOSM.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DAFTAR ISI</a:t>
            </a:r>
          </a:p>
        </p:txBody>
      </p:sp>
      <p:sp>
        <p:nvSpPr>
          <p:cNvPr id="3" name="Rectangle 2"/>
          <p:cNvSpPr/>
          <p:nvPr/>
        </p:nvSpPr>
        <p:spPr>
          <a:xfrm>
            <a:off x="1828800" y="1371600"/>
            <a:ext cx="5486400" cy="731520"/>
          </a:xfrm>
          <a:prstGeom prst="rect">
            <a:avLst/>
          </a:prstGeom>
          <a:solidFill>
            <a:srgbClr val="F0F0F0"/>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000000"/>
                </a:solidFill>
              </a:defRPr>
            </a:pPr>
            <a:r>
              <a:t>1. Latar Belakang &amp; Identifikasi Masalah</a:t>
            </a:r>
          </a:p>
        </p:txBody>
      </p:sp>
      <p:sp>
        <p:nvSpPr>
          <p:cNvPr id="4" name="Rectangle 3"/>
          <p:cNvSpPr/>
          <p:nvPr/>
        </p:nvSpPr>
        <p:spPr>
          <a:xfrm>
            <a:off x="1828800" y="2286000"/>
            <a:ext cx="5486400" cy="731520"/>
          </a:xfrm>
          <a:prstGeom prst="rect">
            <a:avLst/>
          </a:prstGeom>
          <a:solidFill>
            <a:srgbClr val="F0F0F0"/>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000000"/>
                </a:solidFill>
              </a:defRPr>
            </a:pPr>
            <a:r>
              <a:t>2. Perbandingan Penelitian Terdahulu</a:t>
            </a:r>
          </a:p>
        </p:txBody>
      </p:sp>
      <p:sp>
        <p:nvSpPr>
          <p:cNvPr id="5" name="Rectangle 4"/>
          <p:cNvSpPr/>
          <p:nvPr/>
        </p:nvSpPr>
        <p:spPr>
          <a:xfrm>
            <a:off x="1828800" y="3200400"/>
            <a:ext cx="5486400" cy="731520"/>
          </a:xfrm>
          <a:prstGeom prst="rect">
            <a:avLst/>
          </a:prstGeom>
          <a:solidFill>
            <a:srgbClr val="F0F0F0"/>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000000"/>
                </a:solidFill>
              </a:defRPr>
            </a:pPr>
            <a:r>
              <a:t>3. Workflow &amp; Antarmuka Sistem</a:t>
            </a:r>
          </a:p>
        </p:txBody>
      </p:sp>
      <p:sp>
        <p:nvSpPr>
          <p:cNvPr id="6" name="Rectangle 5"/>
          <p:cNvSpPr/>
          <p:nvPr/>
        </p:nvSpPr>
        <p:spPr>
          <a:xfrm>
            <a:off x="1828800" y="4114800"/>
            <a:ext cx="5486400" cy="731520"/>
          </a:xfrm>
          <a:prstGeom prst="rect">
            <a:avLst/>
          </a:prstGeom>
          <a:solidFill>
            <a:srgbClr val="F0F0F0"/>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000000"/>
                </a:solidFill>
              </a:defRPr>
            </a:pPr>
            <a:r>
              <a:t>4. Arsitektur Teknis &amp; Database</a:t>
            </a:r>
          </a:p>
        </p:txBody>
      </p:sp>
      <p:sp>
        <p:nvSpPr>
          <p:cNvPr id="7" name="Rectangle 6"/>
          <p:cNvSpPr/>
          <p:nvPr/>
        </p:nvSpPr>
        <p:spPr>
          <a:xfrm>
            <a:off x="1828800" y="5029200"/>
            <a:ext cx="5486400" cy="731520"/>
          </a:xfrm>
          <a:prstGeom prst="rect">
            <a:avLst/>
          </a:prstGeom>
          <a:solidFill>
            <a:srgbClr val="F0F0F0"/>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a:solidFill>
                  <a:srgbClr val="000000"/>
                </a:solidFill>
              </a:defRPr>
            </a:pPr>
            <a:r>
              <a:t>5. Dokumentasi Lapangan &amp; Kesimpulan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LATAR BELAKANG &amp; IDENTIFIKASI MASALAH</a:t>
            </a:r>
          </a:p>
        </p:txBody>
      </p:sp>
      <p:sp>
        <p:nvSpPr>
          <p:cNvPr id="3" name="Rectangle 2"/>
          <p:cNvSpPr/>
          <p:nvPr/>
        </p:nvSpPr>
        <p:spPr>
          <a:xfrm>
            <a:off x="457200" y="1371600"/>
            <a:ext cx="914400" cy="9144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[Ikon 1]</a:t>
            </a:r>
          </a:p>
        </p:txBody>
      </p:sp>
      <p:sp>
        <p:nvSpPr>
          <p:cNvPr id="4" name="Rectangle 3"/>
          <p:cNvSpPr/>
          <p:nvPr/>
        </p:nvSpPr>
        <p:spPr>
          <a:xfrm>
            <a:off x="3474720" y="1371600"/>
            <a:ext cx="914400" cy="9144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[Ikon 2]</a:t>
            </a:r>
          </a:p>
        </p:txBody>
      </p:sp>
      <p:sp>
        <p:nvSpPr>
          <p:cNvPr id="5" name="Rectangle 4"/>
          <p:cNvSpPr/>
          <p:nvPr/>
        </p:nvSpPr>
        <p:spPr>
          <a:xfrm>
            <a:off x="6492240" y="1371600"/>
            <a:ext cx="914400" cy="9144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[Ikon 3]</a:t>
            </a:r>
          </a:p>
        </p:txBody>
      </p:sp>
      <p:sp>
        <p:nvSpPr>
          <p:cNvPr id="6" name="TextBox 5"/>
          <p:cNvSpPr txBox="1"/>
          <p:nvPr/>
        </p:nvSpPr>
        <p:spPr>
          <a:xfrm>
            <a:off x="457200" y="2377440"/>
            <a:ext cx="2560320" cy="3657600"/>
          </a:xfrm>
          <a:prstGeom prst="rect">
            <a:avLst/>
          </a:prstGeom>
          <a:noFill/>
        </p:spPr>
        <p:txBody>
          <a:bodyPr wrap="square">
            <a:spAutoFit/>
          </a:bodyPr>
          <a:lstStyle/>
          <a:p>
            <a:pPr algn="l">
              <a:defRPr sz="1400" b="0"/>
            </a:pPr>
            <a:r>
              <a:t>Kasir Luring &amp; Daring Terpisah:</a:t>
            </a:r>
            <a:br/>
            <a:r>
              <a:t>Penggunaan aplikasi POS fisik yang stand-alone memicu tingginya risiko pesanan ganda (overselling), karena ketersediaan fisik tidak tersinkronisasi otomatis dengan etalase e-commerce.</a:t>
            </a:r>
          </a:p>
        </p:txBody>
      </p:sp>
      <p:sp>
        <p:nvSpPr>
          <p:cNvPr id="7" name="TextBox 6"/>
          <p:cNvSpPr txBox="1"/>
          <p:nvPr/>
        </p:nvSpPr>
        <p:spPr>
          <a:xfrm>
            <a:off x="3474720" y="2377440"/>
            <a:ext cx="2560320" cy="3657600"/>
          </a:xfrm>
          <a:prstGeom prst="rect">
            <a:avLst/>
          </a:prstGeom>
          <a:noFill/>
        </p:spPr>
        <p:txBody>
          <a:bodyPr wrap="square">
            <a:spAutoFit/>
          </a:bodyPr>
          <a:lstStyle/>
          <a:p>
            <a:pPr algn="l">
              <a:defRPr sz="1400" b="0"/>
            </a:pPr>
            <a:r>
              <a:t>Konversi Multi-Satuan Manual:</a:t>
            </a:r>
            <a:br/>
            <a:r>
              <a:t>Ketiadaan fitur konversi satuan di sistem lama memaksa admin menghitung pecahan kemasan grosir (Box) ke eceran (Strip) secara manual sebelum memotong sisa persediaan.</a:t>
            </a:r>
          </a:p>
        </p:txBody>
      </p:sp>
      <p:sp>
        <p:nvSpPr>
          <p:cNvPr id="8" name="TextBox 7"/>
          <p:cNvSpPr txBox="1"/>
          <p:nvPr/>
        </p:nvSpPr>
        <p:spPr>
          <a:xfrm>
            <a:off x="6492240" y="2377440"/>
            <a:ext cx="2560320" cy="3657600"/>
          </a:xfrm>
          <a:prstGeom prst="rect">
            <a:avLst/>
          </a:prstGeom>
          <a:noFill/>
        </p:spPr>
        <p:txBody>
          <a:bodyPr wrap="square">
            <a:spAutoFit/>
          </a:bodyPr>
          <a:lstStyle/>
          <a:p>
            <a:pPr algn="l">
              <a:defRPr sz="1400" b="0"/>
            </a:pPr>
            <a:r>
              <a:t>Ketiadaan Kendali Logistik Medis:</a:t>
            </a:r>
            <a:br/>
            <a:r>
              <a:t>Sistem pencatatan saat ini belum mendata tanggal kedaluwarsa berbasis Batch (FEFO) untuk obat, maupun pelacakan Serial Number (SN) jaminan garansi alat kesehatan.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BATASAN MASALAH</a:t>
            </a:r>
          </a:p>
        </p:txBody>
      </p:sp>
      <p:sp>
        <p:nvSpPr>
          <p:cNvPr id="3" name="TextBox 2"/>
          <p:cNvSpPr txBox="1"/>
          <p:nvPr/>
        </p:nvSpPr>
        <p:spPr>
          <a:xfrm>
            <a:off x="914400" y="1371600"/>
            <a:ext cx="7315200" cy="1097280"/>
          </a:xfrm>
          <a:prstGeom prst="rect">
            <a:avLst/>
          </a:prstGeom>
          <a:noFill/>
        </p:spPr>
        <p:txBody>
          <a:bodyPr wrap="square">
            <a:spAutoFit/>
          </a:bodyPr>
          <a:lstStyle/>
          <a:p>
            <a:pPr algn="l">
              <a:defRPr sz="1600" b="0"/>
            </a:pPr>
            <a:r>
              <a:t>• Fokus Operasional: Sistem murni menyinkronkan inventaris antara terminal POS dan E-Commerce mandiri, tanpa mencakup modul akuntansi keuangan atau laba rugi.</a:t>
            </a:r>
          </a:p>
        </p:txBody>
      </p:sp>
      <p:sp>
        <p:nvSpPr>
          <p:cNvPr id="4" name="TextBox 3"/>
          <p:cNvSpPr txBox="1"/>
          <p:nvPr/>
        </p:nvSpPr>
        <p:spPr>
          <a:xfrm>
            <a:off x="914400" y="2743200"/>
            <a:ext cx="7315200" cy="1097280"/>
          </a:xfrm>
          <a:prstGeom prst="rect">
            <a:avLst/>
          </a:prstGeom>
          <a:noFill/>
        </p:spPr>
        <p:txBody>
          <a:bodyPr wrap="square">
            <a:spAutoFit/>
          </a:bodyPr>
          <a:lstStyle/>
          <a:p>
            <a:pPr algn="l">
              <a:defRPr sz="1600" b="0"/>
            </a:pPr>
            <a:r>
              <a:t>• Logika Pengeluaran Logistik: Pengendalian persediaan menerapkan algoritma First Expired First Out (FEFO) berbasis Batch untuk obat, serta pendataan Serial Number untuk Alat Kesehatan.</a:t>
            </a:r>
          </a:p>
        </p:txBody>
      </p:sp>
      <p:sp>
        <p:nvSpPr>
          <p:cNvPr id="5" name="TextBox 4"/>
          <p:cNvSpPr txBox="1"/>
          <p:nvPr/>
        </p:nvSpPr>
        <p:spPr>
          <a:xfrm>
            <a:off x="914400" y="4114800"/>
            <a:ext cx="7315200" cy="1097280"/>
          </a:xfrm>
          <a:prstGeom prst="rect">
            <a:avLst/>
          </a:prstGeom>
          <a:noFill/>
        </p:spPr>
        <p:txBody>
          <a:bodyPr wrap="square">
            <a:spAutoFit/>
          </a:bodyPr>
          <a:lstStyle/>
          <a:p>
            <a:pPr algn="l">
              <a:defRPr sz="1600" b="0"/>
            </a:pPr>
            <a:r>
              <a:t>• Infrastruktur Pihak Ketiga: Integrasi layanan gerbang pembayaran (Midtrans API) dan kalkulasi ongkos kirim (RajaOngkir) dijalankan secara eksklusif pada lingkungan pengujian (Sandbox).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RESEARCH GAP (PENELITIAN TERDAHULU)</a:t>
            </a:r>
          </a:p>
        </p:txBody>
      </p:sp>
      <p:graphicFrame>
        <p:nvGraphicFramePr>
          <p:cNvPr id="3" name="Table 2"/>
          <p:cNvGraphicFramePr>
            <a:graphicFrameLocks noGrp="1"/>
          </p:cNvGraphicFramePr>
          <p:nvPr/>
        </p:nvGraphicFramePr>
        <p:xfrm>
          <a:off x="457200" y="1371600"/>
          <a:ext cx="8229600" cy="3657600"/>
        </p:xfrm>
        <a:graphic>
          <a:graphicData uri="http://schemas.openxmlformats.org/drawingml/2006/table">
            <a:tbl>
              <a:tblPr firstRow="1" bandRow="1">
                <a:tableStyleId>{5C22544A-7EE6-4342-B048-85BDC9FD1C3A}</a:tableStyleId>
              </a:tblPr>
              <a:tblGrid>
                <a:gridCol w="2286000"/>
                <a:gridCol w="2971800"/>
                <a:gridCol w="2971800"/>
              </a:tblGrid>
              <a:tr h="1219200">
                <a:tc>
                  <a:txBody>
                    <a:bodyPr/>
                    <a:lstStyle/>
                    <a:p>
                      <a:pPr>
                        <a:defRPr sz="1200"/>
                      </a:pPr>
                      <a:r>
                        <a:t>Peneliti</a:t>
                      </a:r>
                    </a:p>
                  </a:txBody>
                  <a:tcPr/>
                </a:tc>
                <a:tc>
                  <a:txBody>
                    <a:bodyPr/>
                    <a:lstStyle/>
                    <a:p>
                      <a:pPr>
                        <a:defRPr sz="1200"/>
                      </a:pPr>
                      <a:r>
                        <a:t>Karakteristik</a:t>
                      </a:r>
                    </a:p>
                  </a:txBody>
                  <a:tcPr/>
                </a:tc>
                <a:tc>
                  <a:txBody>
                    <a:bodyPr/>
                    <a:lstStyle/>
                    <a:p>
                      <a:pPr>
                        <a:defRPr sz="1200"/>
                      </a:pPr>
                      <a:r>
                        <a:t>Kelemahan / Gap</a:t>
                      </a:r>
                    </a:p>
                  </a:txBody>
                  <a:tcPr/>
                </a:tc>
              </a:tr>
              <a:tr h="1219200">
                <a:tc>
                  <a:txBody>
                    <a:bodyPr/>
                    <a:lstStyle/>
                    <a:p>
                      <a:pPr>
                        <a:defRPr sz="1200"/>
                      </a:pPr>
                      <a:r>
                        <a:t>Rachman (2024) &amp; Nuralisa (2024)</a:t>
                      </a:r>
                    </a:p>
                  </a:txBody>
                  <a:tcPr/>
                </a:tc>
                <a:tc>
                  <a:txBody>
                    <a:bodyPr/>
                    <a:lstStyle/>
                    <a:p>
                      <a:pPr>
                        <a:defRPr sz="1200"/>
                      </a:pPr>
                      <a:r>
                        <a:t>Sistem informasi persediaan Single-channel (Luring).</a:t>
                      </a:r>
                    </a:p>
                  </a:txBody>
                  <a:tcPr/>
                </a:tc>
                <a:tc>
                  <a:txBody>
                    <a:bodyPr/>
                    <a:lstStyle/>
                    <a:p>
                      <a:pPr>
                        <a:defRPr sz="1200"/>
                      </a:pPr>
                      <a:r>
                        <a:t>Tidak memiliki konversi multi-satuan dan filter tanggal kedaluwarsa.</a:t>
                      </a:r>
                    </a:p>
                  </a:txBody>
                  <a:tcPr/>
                </a:tc>
              </a:tr>
              <a:tr h="1219200">
                <a:tc>
                  <a:txBody>
                    <a:bodyPr/>
                    <a:lstStyle/>
                    <a:p>
                      <a:pPr>
                        <a:defRPr sz="1200"/>
                      </a:pPr>
                      <a:r>
                        <a:t>Mattegunta (2025)</a:t>
                      </a:r>
                    </a:p>
                  </a:txBody>
                  <a:tcPr/>
                </a:tc>
                <a:tc>
                  <a:txBody>
                    <a:bodyPr/>
                    <a:lstStyle/>
                    <a:p>
                      <a:pPr>
                        <a:defRPr sz="1200"/>
                      </a:pPr>
                      <a:r>
                        <a:t>Arsitektur Omnichannel dengan visibilitas real-time.</a:t>
                      </a:r>
                    </a:p>
                  </a:txBody>
                  <a:tcPr/>
                </a:tc>
                <a:tc>
                  <a:txBody>
                    <a:bodyPr/>
                    <a:lstStyle/>
                    <a:p>
                      <a:pPr>
                        <a:defRPr sz="1200"/>
                      </a:pPr>
                      <a:r>
                        <a:t>Fokus ritel umum tanpa pertimbangan logistik medis.</a:t>
                      </a:r>
                    </a:p>
                  </a:txBody>
                  <a:tcPr/>
                </a:tc>
              </a:tr>
            </a:tbl>
          </a:graphicData>
        </a:graphic>
      </p:graphicFrame>
      <p:sp>
        <p:nvSpPr>
          <p:cNvPr id="4" name="TextBox 3"/>
          <p:cNvSpPr txBox="1"/>
          <p:nvPr/>
        </p:nvSpPr>
        <p:spPr>
          <a:xfrm>
            <a:off x="457200" y="5303520"/>
            <a:ext cx="8229600" cy="1371600"/>
          </a:xfrm>
          <a:prstGeom prst="rect">
            <a:avLst/>
          </a:prstGeom>
          <a:noFill/>
        </p:spPr>
        <p:txBody>
          <a:bodyPr wrap="square">
            <a:spAutoFit/>
          </a:bodyPr>
          <a:lstStyle/>
          <a:p>
            <a:pPr algn="l">
              <a:defRPr sz="1400" b="1"/>
            </a:pPr>
            <a:r>
              <a:t>Sistem Usulan (ZenCare Medical): Membangun ekosistem Omnichannel mandiri yang dilengkapi otomatisasi konversi Dual-UOM, serta menerapkan pelacakan kedaluwarsa Batch (FEFO) dan Serial Number pada basis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PEMBARUAN SISTEM (NOVELTY)</a:t>
            </a:r>
          </a:p>
        </p:txBody>
      </p:sp>
      <p:sp>
        <p:nvSpPr>
          <p:cNvPr id="3" name="TextBox 2"/>
          <p:cNvSpPr txBox="1"/>
          <p:nvPr/>
        </p:nvSpPr>
        <p:spPr>
          <a:xfrm>
            <a:off x="457200" y="1371600"/>
            <a:ext cx="3840480" cy="731520"/>
          </a:xfrm>
          <a:prstGeom prst="rect">
            <a:avLst/>
          </a:prstGeom>
          <a:noFill/>
        </p:spPr>
        <p:txBody>
          <a:bodyPr wrap="square">
            <a:spAutoFit/>
          </a:bodyPr>
          <a:lstStyle/>
          <a:p>
            <a:pPr algn="ctr">
              <a:defRPr sz="1800" b="1">
                <a:solidFill>
                  <a:srgbClr val="C80000"/>
                </a:solidFill>
              </a:defRPr>
            </a:pPr>
            <a:r>
              <a:t>(X) KENDALA SISTEM BERJALAN</a:t>
            </a:r>
          </a:p>
        </p:txBody>
      </p:sp>
      <p:sp>
        <p:nvSpPr>
          <p:cNvPr id="4" name="TextBox 3"/>
          <p:cNvSpPr txBox="1"/>
          <p:nvPr/>
        </p:nvSpPr>
        <p:spPr>
          <a:xfrm>
            <a:off x="4846320" y="1371600"/>
            <a:ext cx="3840480" cy="731520"/>
          </a:xfrm>
          <a:prstGeom prst="rect">
            <a:avLst/>
          </a:prstGeom>
          <a:noFill/>
        </p:spPr>
        <p:txBody>
          <a:bodyPr wrap="square">
            <a:spAutoFit/>
          </a:bodyPr>
          <a:lstStyle/>
          <a:p>
            <a:pPr algn="ctr">
              <a:defRPr sz="1800" b="1">
                <a:solidFill>
                  <a:srgbClr val="009600"/>
                </a:solidFill>
              </a:defRPr>
            </a:pPr>
            <a:r>
              <a:t>(V) SISTEM USULAN</a:t>
            </a:r>
          </a:p>
        </p:txBody>
      </p:sp>
      <p:sp>
        <p:nvSpPr>
          <p:cNvPr id="5" name="TextBox 4"/>
          <p:cNvSpPr txBox="1"/>
          <p:nvPr/>
        </p:nvSpPr>
        <p:spPr>
          <a:xfrm>
            <a:off x="457200" y="2286000"/>
            <a:ext cx="3840480" cy="3657600"/>
          </a:xfrm>
          <a:prstGeom prst="rect">
            <a:avLst/>
          </a:prstGeom>
          <a:noFill/>
        </p:spPr>
        <p:txBody>
          <a:bodyPr wrap="square">
            <a:spAutoFit/>
          </a:bodyPr>
          <a:lstStyle/>
          <a:p>
            <a:pPr algn="l">
              <a:defRPr sz="1600" b="0"/>
            </a:pPr>
            <a:r>
              <a:t>Risiko overselling akibat aplikasi kasir yang terisolasi, tingginya beban kerja akibat konversi multi-UOM manual, serta penumpukan obat rusak di rak.</a:t>
            </a:r>
          </a:p>
        </p:txBody>
      </p:sp>
      <p:sp>
        <p:nvSpPr>
          <p:cNvPr id="6" name="TextBox 5"/>
          <p:cNvSpPr txBox="1"/>
          <p:nvPr/>
        </p:nvSpPr>
        <p:spPr>
          <a:xfrm>
            <a:off x="4846320" y="2286000"/>
            <a:ext cx="3840480" cy="3657600"/>
          </a:xfrm>
          <a:prstGeom prst="rect">
            <a:avLst/>
          </a:prstGeom>
          <a:noFill/>
        </p:spPr>
        <p:txBody>
          <a:bodyPr wrap="square">
            <a:spAutoFit/>
          </a:bodyPr>
          <a:lstStyle/>
          <a:p>
            <a:pPr algn="l">
              <a:defRPr sz="1600" b="0"/>
            </a:pPr>
            <a:r>
              <a:t>Sinkronisasi basis data tunggal Omnichannel (POS &amp; Web) yang mengunci stok seketika, algoritma konversi dinamis, serta sistem Gatekeeper yang memaksa validasi FEFO pada setiap barang masuk.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SITEMAP ARSITEKTUR NAVIGASI</a:t>
            </a:r>
          </a:p>
        </p:txBody>
      </p:sp>
      <p:sp>
        <p:nvSpPr>
          <p:cNvPr id="3" name="Rectangle 2"/>
          <p:cNvSpPr/>
          <p:nvPr/>
        </p:nvSpPr>
        <p:spPr>
          <a:xfrm>
            <a:off x="1371600" y="1097280"/>
            <a:ext cx="6400800" cy="41148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GAMBAR: SITEMAP 3 AKTOR]</a:t>
            </a:r>
          </a:p>
        </p:txBody>
      </p:sp>
      <p:sp>
        <p:nvSpPr>
          <p:cNvPr id="4" name="TextBox 3"/>
          <p:cNvSpPr txBox="1"/>
          <p:nvPr/>
        </p:nvSpPr>
        <p:spPr>
          <a:xfrm>
            <a:off x="457200" y="5486400"/>
            <a:ext cx="8229600" cy="1371600"/>
          </a:xfrm>
          <a:prstGeom prst="rect">
            <a:avLst/>
          </a:prstGeom>
          <a:noFill/>
        </p:spPr>
        <p:txBody>
          <a:bodyPr wrap="square">
            <a:spAutoFit/>
          </a:bodyPr>
          <a:lstStyle/>
          <a:p>
            <a:pPr algn="ctr">
              <a:defRPr sz="1400" b="0"/>
            </a:pPr>
            <a:r>
              <a:t>Pemetaan antarmuka memisahkan hak akses secara tegas: Pelanggan mengeksplorasi E-Commerce, Admin mengelola POS dan mencatat Harga Beli logistik, sedangkan Superadmin mengontrol Master Produk dan memantau riwayat pengadaan langsung via Dashboard.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WORKFLOW BARANG KELUAR (OMNICHANNEL)</a:t>
            </a:r>
          </a:p>
        </p:txBody>
      </p:sp>
      <p:sp>
        <p:nvSpPr>
          <p:cNvPr id="3" name="Rectangle 2"/>
          <p:cNvSpPr/>
          <p:nvPr/>
        </p:nvSpPr>
        <p:spPr>
          <a:xfrm>
            <a:off x="2286000" y="1097280"/>
            <a:ext cx="4572000" cy="18288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CLIPART WORKFLOW]</a:t>
            </a:r>
          </a:p>
        </p:txBody>
      </p:sp>
      <p:sp>
        <p:nvSpPr>
          <p:cNvPr id="4" name="Rectangle 3"/>
          <p:cNvSpPr/>
          <p:nvPr/>
        </p:nvSpPr>
        <p:spPr>
          <a:xfrm>
            <a:off x="2286000" y="3200400"/>
            <a:ext cx="4572000" cy="22860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WIREFRAME POS &amp; CHECKOUT]</a:t>
            </a:r>
          </a:p>
        </p:txBody>
      </p:sp>
      <p:sp>
        <p:nvSpPr>
          <p:cNvPr id="5" name="TextBox 4"/>
          <p:cNvSpPr txBox="1"/>
          <p:nvPr/>
        </p:nvSpPr>
        <p:spPr>
          <a:xfrm>
            <a:off x="457200" y="5669280"/>
            <a:ext cx="8229600" cy="1371600"/>
          </a:xfrm>
          <a:prstGeom prst="rect">
            <a:avLst/>
          </a:prstGeom>
          <a:noFill/>
        </p:spPr>
        <p:txBody>
          <a:bodyPr wrap="square">
            <a:spAutoFit/>
          </a:bodyPr>
          <a:lstStyle/>
          <a:p>
            <a:pPr algn="ctr">
              <a:defRPr sz="1400" b="0"/>
            </a:pPr>
            <a:r>
              <a:t>Otomatisasi Lintas Saluran: Sistem ZenCare memproses transaksi luring (POS) dan pesanan daring (E-Commerce) secara bersamaan. Sistem mengonversi satuan otomatis dan mengunci stok sementara (Reserved) untuk mencegah overselling.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WORKFLOW PENERIMAAN BARANG &amp; LOGISTIK</a:t>
            </a:r>
          </a:p>
        </p:txBody>
      </p:sp>
      <p:sp>
        <p:nvSpPr>
          <p:cNvPr id="3" name="Rectangle 2"/>
          <p:cNvSpPr/>
          <p:nvPr/>
        </p:nvSpPr>
        <p:spPr>
          <a:xfrm>
            <a:off x="2286000" y="1097280"/>
            <a:ext cx="4572000" cy="18288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CLIPART WORKFLOW]</a:t>
            </a:r>
          </a:p>
        </p:txBody>
      </p:sp>
      <p:sp>
        <p:nvSpPr>
          <p:cNvPr id="4" name="Rectangle 3"/>
          <p:cNvSpPr/>
          <p:nvPr/>
        </p:nvSpPr>
        <p:spPr>
          <a:xfrm>
            <a:off x="2286000" y="3200400"/>
            <a:ext cx="4572000" cy="22860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WIREFRAME FORM PENERIMAAN]</a:t>
            </a:r>
          </a:p>
        </p:txBody>
      </p:sp>
      <p:sp>
        <p:nvSpPr>
          <p:cNvPr id="5" name="TextBox 4"/>
          <p:cNvSpPr txBox="1"/>
          <p:nvPr/>
        </p:nvSpPr>
        <p:spPr>
          <a:xfrm>
            <a:off x="457200" y="5669280"/>
            <a:ext cx="8229600" cy="1371600"/>
          </a:xfrm>
          <a:prstGeom prst="rect">
            <a:avLst/>
          </a:prstGeom>
          <a:noFill/>
        </p:spPr>
        <p:txBody>
          <a:bodyPr wrap="square">
            <a:spAutoFit/>
          </a:bodyPr>
          <a:lstStyle/>
          <a:p>
            <a:pPr algn="ctr">
              <a:defRPr sz="1400" b="0"/>
            </a:pPr>
            <a:r>
              <a:t>Sistem Sebagai Gatekeeper Logistik: Admin diwajibkan menginput Identitas Logistik (Batch/EXP/SN) serta Harga Beli (Modal) dari faktur supplier. Data ini masuk ke Kartu Stok dan menjadi bahan pantauan Superadmin di Dashboard.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ACTIVITY DIAGRAM (VALIDASI SISTEM)</a:t>
            </a:r>
          </a:p>
        </p:txBody>
      </p:sp>
      <p:sp>
        <p:nvSpPr>
          <p:cNvPr id="3" name="Rectangle 2"/>
          <p:cNvSpPr/>
          <p:nvPr/>
        </p:nvSpPr>
        <p:spPr>
          <a:xfrm>
            <a:off x="457200" y="1371600"/>
            <a:ext cx="4572000" cy="45720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ACTIVITY DIAGRAM]</a:t>
            </a:r>
          </a:p>
        </p:txBody>
      </p:sp>
      <p:sp>
        <p:nvSpPr>
          <p:cNvPr id="4" name="TextBox 3"/>
          <p:cNvSpPr txBox="1"/>
          <p:nvPr/>
        </p:nvSpPr>
        <p:spPr>
          <a:xfrm>
            <a:off x="5486400" y="2286000"/>
            <a:ext cx="3200400" cy="3657600"/>
          </a:xfrm>
          <a:prstGeom prst="rect">
            <a:avLst/>
          </a:prstGeom>
          <a:noFill/>
        </p:spPr>
        <p:txBody>
          <a:bodyPr wrap="square">
            <a:spAutoFit/>
          </a:bodyPr>
          <a:lstStyle/>
          <a:p>
            <a:pPr algn="l">
              <a:defRPr sz="1600" b="0"/>
            </a:pPr>
            <a:r>
              <a:t>Pemodelan Logika Pengamanan Data:</a:t>
            </a:r>
            <a:br/>
            <a:br/>
            <a:r>
              <a:t>Alur sistem penerimaan barang menonjolkan percabangan logika (if/else). Sistem otomatis menolak pemrosesan data (mengembalikan admin ke form input) apabila identitas logistik medis terdeteksi kosong atau tidak lengkap.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LOGICAL DATABASE (ERD)</a:t>
            </a:r>
          </a:p>
        </p:txBody>
      </p:sp>
      <p:sp>
        <p:nvSpPr>
          <p:cNvPr id="3" name="Rectangle 2"/>
          <p:cNvSpPr/>
          <p:nvPr/>
        </p:nvSpPr>
        <p:spPr>
          <a:xfrm>
            <a:off x="914400" y="1097280"/>
            <a:ext cx="7315200" cy="45720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[PLACEHOLDER: GAMBAR RELASI 13 TABEL ERD]</a:t>
            </a:r>
          </a:p>
        </p:txBody>
      </p:sp>
      <p:sp>
        <p:nvSpPr>
          <p:cNvPr id="4" name="TextBox 3"/>
          <p:cNvSpPr txBox="1"/>
          <p:nvPr/>
        </p:nvSpPr>
        <p:spPr>
          <a:xfrm>
            <a:off x="457200" y="5852160"/>
            <a:ext cx="8229600" cy="1097280"/>
          </a:xfrm>
          <a:prstGeom prst="rect">
            <a:avLst/>
          </a:prstGeom>
          <a:noFill/>
        </p:spPr>
        <p:txBody>
          <a:bodyPr wrap="square">
            <a:spAutoFit/>
          </a:bodyPr>
          <a:lstStyle/>
          <a:p>
            <a:pPr algn="ctr">
              <a:defRPr sz="1400" b="0"/>
            </a:pPr>
            <a:r>
              <a:t>Arsitektur Relasional 4 Klaster Utama: Pangkalan data terdiri dari 13 tabel yang terbagi menjadi Klaster Aktor (Hak Akses RBAC), Klaster Konversi Multi-UOM, Klaster Logistik Medis (Stok &amp; Batch), dan Klaster Transaksi &amp; Riwayat Mutasi.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STRUKTUR TABEL ESENSIAL</a:t>
            </a:r>
          </a:p>
        </p:txBody>
      </p:sp>
      <p:sp>
        <p:nvSpPr>
          <p:cNvPr id="3" name="Rectangle 2"/>
          <p:cNvSpPr/>
          <p:nvPr/>
        </p:nvSpPr>
        <p:spPr>
          <a:xfrm>
            <a:off x="457200" y="1828800"/>
            <a:ext cx="3840480" cy="32004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920240"/>
            <a:ext cx="3657600" cy="3017520"/>
          </a:xfrm>
          <a:prstGeom prst="rect">
            <a:avLst/>
          </a:prstGeom>
          <a:noFill/>
        </p:spPr>
        <p:txBody>
          <a:bodyPr wrap="square">
            <a:spAutoFit/>
          </a:bodyPr>
          <a:lstStyle/>
          <a:p>
            <a:pPr algn="l">
              <a:defRPr sz="1600" b="0"/>
            </a:pPr>
            <a:r>
              <a:t>Tabel produk_variasi (Konversi Multi-UOM):</a:t>
            </a:r>
            <a:br/>
            <a:br/>
            <a:r>
              <a:t>Menyimpan field rasio_konversi pengunci perkalian matematis untuk mengubah kemasan grosir (Box) ke eceran (Strip) secara dinamis, serta mengunci Harga Jual statis.</a:t>
            </a:r>
          </a:p>
        </p:txBody>
      </p:sp>
      <p:sp>
        <p:nvSpPr>
          <p:cNvPr id="5" name="Rectangle 4"/>
          <p:cNvSpPr/>
          <p:nvPr/>
        </p:nvSpPr>
        <p:spPr>
          <a:xfrm>
            <a:off x="4846320" y="1828800"/>
            <a:ext cx="3840480" cy="32004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0" y="1920240"/>
            <a:ext cx="3657600" cy="3017520"/>
          </a:xfrm>
          <a:prstGeom prst="rect">
            <a:avLst/>
          </a:prstGeom>
          <a:noFill/>
        </p:spPr>
        <p:txBody>
          <a:bodyPr wrap="square">
            <a:spAutoFit/>
          </a:bodyPr>
          <a:lstStyle/>
          <a:p>
            <a:pPr algn="l">
              <a:defRPr sz="1600" b="0"/>
            </a:pPr>
            <a:r>
              <a:t>Tabel stok_batch (Logika FEFO Obat):</a:t>
            </a:r>
            <a:br/>
            <a:br/>
            <a:r>
              <a:t>Menyimpan field no_batch dan tgl_exp. Sistem memotong stok fisik spesifik menggunakan perintah pengurutan masa kedaluwarsa terdekat (ORDER BY tgl_exp ASC).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DOKUMENTASI LAPANGAN</a:t>
            </a:r>
          </a:p>
        </p:txBody>
      </p:sp>
      <p:sp>
        <p:nvSpPr>
          <p:cNvPr id="3" name="Rectangle 2"/>
          <p:cNvSpPr/>
          <p:nvPr/>
        </p:nvSpPr>
        <p:spPr>
          <a:xfrm>
            <a:off x="1828800" y="1371600"/>
            <a:ext cx="2743200" cy="36576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[FOTO APOTEK]</a:t>
            </a:r>
          </a:p>
        </p:txBody>
      </p:sp>
      <p:sp>
        <p:nvSpPr>
          <p:cNvPr id="4" name="Rectangle 3"/>
          <p:cNvSpPr/>
          <p:nvPr/>
        </p:nvSpPr>
        <p:spPr>
          <a:xfrm>
            <a:off x="5029200" y="1371600"/>
            <a:ext cx="2743200" cy="36576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[FOTO DENGAN PEMILIK]</a:t>
            </a:r>
          </a:p>
        </p:txBody>
      </p:sp>
      <p:sp>
        <p:nvSpPr>
          <p:cNvPr id="5" name="TextBox 4"/>
          <p:cNvSpPr txBox="1"/>
          <p:nvPr/>
        </p:nvSpPr>
        <p:spPr>
          <a:xfrm>
            <a:off x="457200" y="5486400"/>
            <a:ext cx="8229600" cy="1371600"/>
          </a:xfrm>
          <a:prstGeom prst="rect">
            <a:avLst/>
          </a:prstGeom>
          <a:noFill/>
        </p:spPr>
        <p:txBody>
          <a:bodyPr wrap="square">
            <a:spAutoFit/>
          </a:bodyPr>
          <a:lstStyle/>
          <a:p>
            <a:pPr algn="ctr">
              <a:defRPr sz="1400" b="0"/>
            </a:pPr>
            <a:r>
              <a:t>Validasi Observasi Lapangan: Seluruh perancangan sistem informasi inventori dan analisis permasalahannya dibangun secara faktual berdasarkan hasil observasi langsung dan wawancara di ZenCare Medical.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b="1" sz="2800">
                <a:solidFill>
                  <a:srgbClr val="003366"/>
                </a:solidFill>
              </a:defRPr>
            </a:pPr>
            <a:r>
              <a:t>KESIMPULAN</a:t>
            </a:r>
          </a:p>
        </p:txBody>
      </p:sp>
      <p:sp>
        <p:nvSpPr>
          <p:cNvPr id="3" name="TextBox 2"/>
          <p:cNvSpPr txBox="1"/>
          <p:nvPr/>
        </p:nvSpPr>
        <p:spPr>
          <a:xfrm>
            <a:off x="914400" y="1828800"/>
            <a:ext cx="7315200" cy="3657600"/>
          </a:xfrm>
          <a:prstGeom prst="rect">
            <a:avLst/>
          </a:prstGeom>
          <a:noFill/>
        </p:spPr>
        <p:txBody>
          <a:bodyPr wrap="square">
            <a:spAutoFit/>
          </a:bodyPr>
          <a:lstStyle/>
          <a:p>
            <a:pPr algn="ctr">
              <a:defRPr sz="1800" b="0"/>
            </a:pPr>
            <a:r>
              <a:t>Melalui penelitian ini, dirancang sebuah sistem informasi inventori omnichannel berbasis web yang bertujuan untuk menjembatani kesenjangan antara transaksi kasir fisik (POS) dan penjualan daring di ZenCare Medical. Dengan menerapkan metode pengembangan Rapid Application Development (RAD), sistem ini diharapkan dapat menjadi solusi atas permasalahan overselling dan inefisiensi konversi multi-satuan. Ke depannya, implementasi basis data terpusat dan fitur gatekeeper berlogika First Expired First Out (FEFO) pada sistem ini diproyeksikan mampu menciptakan tata kelola logistik medis yang jauh lebih akurat, aman, dan transparan.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0" y="1828800"/>
            <a:ext cx="914400" cy="914400"/>
          </a:xfrm>
          <a:prstGeom prst="rect">
            <a:avLst/>
          </a:prstGeom>
          <a:solidFill>
            <a:srgbClr val="DCDCDC"/>
          </a:solidFill>
          <a:ln>
            <a:solidFill>
              <a:srgbClr val="96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646464"/>
                </a:solidFill>
              </a:defRPr>
            </a:pPr>
            <a:r>
              <a:t>[Logo]</a:t>
            </a:r>
          </a:p>
        </p:txBody>
      </p:sp>
      <p:sp>
        <p:nvSpPr>
          <p:cNvPr id="3" name="TextBox 2"/>
          <p:cNvSpPr txBox="1"/>
          <p:nvPr/>
        </p:nvSpPr>
        <p:spPr>
          <a:xfrm>
            <a:off x="914400" y="3200400"/>
            <a:ext cx="7315200" cy="1371600"/>
          </a:xfrm>
          <a:prstGeom prst="rect">
            <a:avLst/>
          </a:prstGeom>
          <a:noFill/>
        </p:spPr>
        <p:txBody>
          <a:bodyPr wrap="square">
            <a:spAutoFit/>
          </a:bodyPr>
          <a:lstStyle/>
          <a:p>
            <a:pPr algn="ctr">
              <a:defRPr sz="4000" b="1"/>
            </a:pPr>
            <a:r>
              <a:t>TERIMA KASIH</a:t>
            </a:r>
          </a:p>
        </p:txBody>
      </p:sp>
      <p:sp>
        <p:nvSpPr>
          <p:cNvPr id="4" name="TextBox 3"/>
          <p:cNvSpPr txBox="1"/>
          <p:nvPr/>
        </p:nvSpPr>
        <p:spPr>
          <a:xfrm>
            <a:off x="914400" y="4572000"/>
            <a:ext cx="7315200" cy="914400"/>
          </a:xfrm>
          <a:prstGeom prst="rect">
            <a:avLst/>
          </a:prstGeom>
          <a:noFill/>
        </p:spPr>
        <p:txBody>
          <a:bodyPr wrap="square">
            <a:spAutoFit/>
          </a:bodyPr>
          <a:lstStyle/>
          <a:p>
            <a:pPr algn="ctr">
              <a:defRPr sz="2400" b="0"/>
            </a:pPr>
            <a:r>
              <a:t>Sesi Tanya Jawab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