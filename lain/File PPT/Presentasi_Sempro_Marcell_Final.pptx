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7.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4"/>
  </p:notesMasterIdLst>
  <p:sldIdLst>
    <p:sldId id="256" r:id="rId48"/>
    <p:sldId id="257" r:id="rId49"/>
    <p:sldId id="258" r:id="rId50"/>
    <p:sldId id="259" r:id="rId51"/>
    <p:sldId id="260" r:id="rId52"/>
    <p:sldId id="261" r:id="rId53"/>
    <p:sldId id="262" r:id="rId54"/>
    <p:sldId id="263" r:id="rId55"/>
    <p:sldId id="264" r:id="rId56"/>
    <p:sldId id="265" r:id="rId57"/>
    <p:sldId id="266" r:id="rId58"/>
    <p:sldId id="267" r:id="rId59"/>
    <p:sldId id="268" r:id="rId60"/>
    <p:sldId id="269" r:id="rId61"/>
    <p:sldId id="270" r:id="rId62"/>
  </p:sldIdLst>
  <p:sldSz cx="18288000" cy="10287000"/>
  <p:notesSz cx="6858000" cy="9144000"/>
  <p:embeddedFontLst>
    <p:embeddedFont>
      <p:font typeface="DM Sans Bold" charset="1" panose="00000000000000000000"/>
      <p:regular r:id="rId27"/>
    </p:embeddedFont>
    <p:embeddedFont>
      <p:font typeface="Merriweather Bold" charset="1" panose="00000800000000000000"/>
      <p:regular r:id="rId28"/>
    </p:embeddedFont>
    <p:embeddedFont>
      <p:font typeface="DM Sans" charset="1" panose="00000000000000000000"/>
      <p:regular r:id="rId29"/>
    </p:embeddedFont>
    <p:embeddedFont>
      <p:font typeface="DM Sans Italics" charset="1" panose="00000000000000000000"/>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notesMaster" Target="notesMasters/notesMaster1.xml"/><Relationship Id="rId25" Type="http://schemas.openxmlformats.org/officeDocument/2006/relationships/theme" Target="theme/theme2.xml"/><Relationship Id="rId26" Type="http://schemas.openxmlformats.org/officeDocument/2006/relationships/notesSlide" Target="notesSlides/notesSlide1.xml"/><Relationship Id="rId27" Type="http://schemas.openxmlformats.org/officeDocument/2006/relationships/font" Target="fonts/font27.fntdata"/><Relationship Id="rId28" Type="http://schemas.openxmlformats.org/officeDocument/2006/relationships/font" Target="fonts/font28.fntdata"/><Relationship Id="rId29" Type="http://schemas.openxmlformats.org/officeDocument/2006/relationships/font" Target="fonts/font29.fntdata"/><Relationship Id="rId30" Type="http://schemas.openxmlformats.org/officeDocument/2006/relationships/notesSlide" Target="notesSlides/notesSlide2.xml"/><Relationship Id="rId31" Type="http://schemas.openxmlformats.org/officeDocument/2006/relationships/notesSlide" Target="notesSlides/notesSlide3.xml"/><Relationship Id="rId32" Type="http://schemas.openxmlformats.org/officeDocument/2006/relationships/notesSlide" Target="notesSlides/notesSlide4.xml"/><Relationship Id="rId33" Type="http://schemas.openxmlformats.org/officeDocument/2006/relationships/notesSlide" Target="notesSlides/notesSlide5.xml"/><Relationship Id="rId34" Type="http://schemas.openxmlformats.org/officeDocument/2006/relationships/notesSlide" Target="notesSlides/notesSlide6.xml"/><Relationship Id="rId35" Type="http://schemas.openxmlformats.org/officeDocument/2006/relationships/notesSlide" Target="notesSlides/notesSlide7.xml"/><Relationship Id="rId36" Type="http://schemas.openxmlformats.org/officeDocument/2006/relationships/notesSlide" Target="notesSlides/notesSlide8.xml"/><Relationship Id="rId37" Type="http://schemas.openxmlformats.org/officeDocument/2006/relationships/notesSlide" Target="notesSlides/notesSlide9.xml"/><Relationship Id="rId38" Type="http://schemas.openxmlformats.org/officeDocument/2006/relationships/font" Target="fonts/font38.fntdata"/><Relationship Id="rId39" Type="http://schemas.openxmlformats.org/officeDocument/2006/relationships/notesSlide" Target="notesSlides/notesSlide10.xml"/><Relationship Id="rId40" Type="http://schemas.openxmlformats.org/officeDocument/2006/relationships/notesSlide" Target="notesSlides/notesSlide11.xml"/><Relationship Id="rId41" Type="http://schemas.openxmlformats.org/officeDocument/2006/relationships/notesSlide" Target="notesSlides/notesSlide12.xml"/><Relationship Id="rId42" Type="http://schemas.openxmlformats.org/officeDocument/2006/relationships/notesSlide" Target="notesSlides/notesSlide13.xml"/><Relationship Id="rId43" Type="http://schemas.openxmlformats.org/officeDocument/2006/relationships/notesSlide" Target="notesSlides/notesSlide14.xml"/><Relationship Id="rId44" Type="http://schemas.openxmlformats.org/officeDocument/2006/relationships/notesSlide" Target="notesSlides/notesSlide15.xml"/><Relationship Id="rId45" Type="http://schemas.openxmlformats.org/officeDocument/2006/relationships/notesSlide" Target="notesSlides/notesSlide16.xml"/><Relationship Id="rId46" Type="http://schemas.openxmlformats.org/officeDocument/2006/relationships/notesSlide" Target="notesSlides/notesSlide17.xml"/><Relationship Id="rId47" Type="http://schemas.openxmlformats.org/officeDocument/2006/relationships/notesSlide" Target="notesSlides/notesSlide18.xml"/><Relationship Id="rId48" Type="http://schemas.openxmlformats.org/officeDocument/2006/relationships/slide" Target="slides/slide1.xml"/><Relationship Id="rId49" Type="http://schemas.openxmlformats.org/officeDocument/2006/relationships/slide" Target="slides/slide2.xml"/><Relationship Id="rId50" Type="http://schemas.openxmlformats.org/officeDocument/2006/relationships/slide" Target="slides/slide3.xml"/><Relationship Id="rId51" Type="http://schemas.openxmlformats.org/officeDocument/2006/relationships/slide" Target="slides/slide4.xml"/><Relationship Id="rId52" Type="http://schemas.openxmlformats.org/officeDocument/2006/relationships/slide" Target="slides/slide5.xml"/><Relationship Id="rId53" Type="http://schemas.openxmlformats.org/officeDocument/2006/relationships/slide" Target="slides/slide6.xml"/><Relationship Id="rId54" Type="http://schemas.openxmlformats.org/officeDocument/2006/relationships/slide" Target="slides/slide7.xml"/><Relationship Id="rId55" Type="http://schemas.openxmlformats.org/officeDocument/2006/relationships/slide" Target="slides/slide8.xml"/><Relationship Id="rId56" Type="http://schemas.openxmlformats.org/officeDocument/2006/relationships/slide" Target="slides/slide9.xml"/><Relationship Id="rId57" Type="http://schemas.openxmlformats.org/officeDocument/2006/relationships/slide" Target="slides/slide10.xml"/><Relationship Id="rId58" Type="http://schemas.openxmlformats.org/officeDocument/2006/relationships/slide" Target="slides/slide11.xml"/><Relationship Id="rId59" Type="http://schemas.openxmlformats.org/officeDocument/2006/relationships/slide" Target="slides/slide12.xml"/><Relationship Id="rId60" Type="http://schemas.openxmlformats.org/officeDocument/2006/relationships/slide" Target="slides/slide13.xml"/><Relationship Id="rId61" Type="http://schemas.openxmlformats.org/officeDocument/2006/relationships/slide" Target="slides/slide14.xml"/><Relationship Id="rId6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31.png"/><Relationship Id="rId5" Type="http://schemas.openxmlformats.org/officeDocument/2006/relationships/image" Target="../media/image32.jpeg"/><Relationship Id="rId6" Type="http://schemas.openxmlformats.org/officeDocument/2006/relationships/image" Target="../media/image33.jpeg"/><Relationship Id="rId7" Type="http://schemas.openxmlformats.org/officeDocument/2006/relationships/image" Target="../media/image34.jpeg"/><Relationship Id="rId8"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31.png"/><Relationship Id="rId5" Type="http://schemas.openxmlformats.org/officeDocument/2006/relationships/image" Target="../media/image35.png"/><Relationship Id="rId6" Type="http://schemas.openxmlformats.org/officeDocument/2006/relationships/image" Target="../media/image36.jpeg"/><Relationship Id="rId7" Type="http://schemas.openxmlformats.org/officeDocument/2006/relationships/image" Target="../media/image37.jpeg"/><Relationship Id="rId8"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457200"/>
            <a:ext cx="1371600" cy="1371600"/>
          </a:xfrm>
          <a:prstGeom prst="rect">
            <a:avLst/>
          </a:prstGeom>
          <a:solidFill>
            <a:srgbClr val="DCDCDC"/>
          </a:solidFill>
          <a:ln>
            <a:solidFill>
              <a:srgbClr val="96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646464"/>
                </a:solidFill>
              </a:defRPr>
            </a:pPr>
            <a:r>
              <a:t>[Logo Ma Chung]</a:t>
            </a:r>
          </a:p>
        </p:txBody>
      </p:sp>
      <p:sp>
        <p:nvSpPr>
          <p:cNvPr id="3" name="TextBox 2"/>
          <p:cNvSpPr txBox="1"/>
          <p:nvPr/>
        </p:nvSpPr>
        <p:spPr>
          <a:xfrm>
            <a:off x="914400" y="2286000"/>
            <a:ext cx="7315200" cy="1371600"/>
          </a:xfrm>
          <a:prstGeom prst="rect">
            <a:avLst/>
          </a:prstGeom>
          <a:noFill/>
        </p:spPr>
        <p:txBody>
          <a:bodyPr wrap="square">
            <a:spAutoFit/>
          </a:bodyPr>
          <a:lstStyle/>
          <a:p>
            <a:pPr algn="ctr">
              <a:defRPr sz="3200" b="1"/>
            </a:pPr>
            <a:r>
              <a:t>Rancang Bangun Sistem Informasi Inventory Omnichannel Alat Kesehatan dan Obat (Studi Kasus: ZenCare Medical)</a:t>
            </a:r>
          </a:p>
        </p:txBody>
      </p:sp>
      <p:sp>
        <p:nvSpPr>
          <p:cNvPr id="4" name="TextBox 3"/>
          <p:cNvSpPr txBox="1"/>
          <p:nvPr/>
        </p:nvSpPr>
        <p:spPr>
          <a:xfrm>
            <a:off x="914400" y="4114800"/>
            <a:ext cx="7315200" cy="1828800"/>
          </a:xfrm>
          <a:prstGeom prst="rect">
            <a:avLst/>
          </a:prstGeom>
          <a:noFill/>
        </p:spPr>
        <p:txBody>
          <a:bodyPr wrap="square">
            <a:spAutoFit/>
          </a:bodyPr>
          <a:lstStyle/>
          <a:p>
            <a:pPr algn="ctr">
              <a:defRPr sz="1600" b="0"/>
            </a:pPr>
            <a:r>
              <a:t>Penyusun: Marcell Chandra Kenchana (322310015)</a:t>
            </a:r>
            <a:br/>
            <a:r>
              <a:t>Ketua Penguji: [Nama Ketua Penguji]</a:t>
            </a:r>
            <a:br/>
            <a:r>
              <a:t>Dosen Penguji I: [Nama Dosen Penguji 1]</a:t>
            </a:r>
            <a:br/>
            <a:r>
              <a:t>Dosen Penguji II: Dr. Soetam Rizky Wicaksono, S.Kom., MM., MCP., MCTS., MOSM.</a:t>
            </a:r>
          </a:p>
        </p:txBody>
      </p:sp>
    </p:spTree>
  </p:cSld>
  <p:clrMapOvr>
    <a:masterClrMapping/>
  </p:clrMapOvr>
</p:sld>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457200"/>
            <a:ext cx="1371600" cy="1371600"/>
          </a:xfrm>
          <a:prstGeom prst="rect">
            <a:avLst/>
          </a:prstGeom>
          <a:solidFill>
            <a:srgbClr val="DCDCDC"/>
          </a:solidFill>
          <a:ln>
            <a:solidFill>
              <a:srgbClr val="96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646464"/>
                </a:solidFill>
              </a:defRPr>
            </a:pPr>
            <a:r>
              <a:t>[Logo Ma Chung]</a:t>
            </a:r>
          </a:p>
        </p:txBody>
      </p:sp>
      <p:sp>
        <p:nvSpPr>
          <p:cNvPr id="3" name="TextBox 2"/>
          <p:cNvSpPr txBox="1"/>
          <p:nvPr/>
        </p:nvSpPr>
        <p:spPr>
          <a:xfrm>
            <a:off x="914400" y="2286000"/>
            <a:ext cx="7315200" cy="1371600"/>
          </a:xfrm>
          <a:prstGeom prst="rect">
            <a:avLst/>
          </a:prstGeom>
          <a:noFill/>
        </p:spPr>
        <p:txBody>
          <a:bodyPr wrap="square">
            <a:spAutoFit/>
          </a:bodyPr>
          <a:lstStyle/>
          <a:p>
            <a:pPr algn="ctr">
              <a:defRPr sz="3200" b="1"/>
            </a:pPr>
            <a:r>
              <a:t>Rancang Bangun Sistem Informasi Inventory Omnichannel Alat Kesehatan dan Obat (Studi Kasus: ZenCare Medical)</a:t>
            </a:r>
          </a:p>
        </p:txBody>
      </p:sp>
      <p:sp>
        <p:nvSpPr>
          <p:cNvPr id="4" name="TextBox 3"/>
          <p:cNvSpPr txBox="1"/>
          <p:nvPr/>
        </p:nvSpPr>
        <p:spPr>
          <a:xfrm>
            <a:off x="914400" y="4114800"/>
            <a:ext cx="7315200" cy="1828800"/>
          </a:xfrm>
          <a:prstGeom prst="rect">
            <a:avLst/>
          </a:prstGeom>
          <a:noFill/>
        </p:spPr>
        <p:txBody>
          <a:bodyPr wrap="square">
            <a:spAutoFit/>
          </a:bodyPr>
          <a:lstStyle/>
          <a:p>
            <a:pPr algn="ctr">
              <a:defRPr sz="1600" b="0"/>
            </a:pPr>
            <a:r>
              <a:t>Penyusun: Marcell Chandra Kenchana (322310015)</a:t>
            </a:r>
            <a:br/>
            <a:r>
              <a:t>Ketua Penguji: [Nama Ketua Penguji]</a:t>
            </a:r>
            <a:br/>
            <a:r>
              <a:t>Dosen Penguji I: [Nama Dosen Penguji 1]</a:t>
            </a:r>
            <a:br/>
            <a:r>
              <a:t>Dosen Penguji II: Dr. Soetam Rizky Wicaksono, S.Kom., MM., MCP., MCTS., MOSM.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b="1" sz="2800">
                <a:solidFill>
                  <a:srgbClr val="003366"/>
                </a:solidFill>
              </a:defRPr>
            </a:pPr>
            <a:r>
              <a:t>DAFTAR ISI</a:t>
            </a:r>
          </a:p>
        </p:txBody>
      </p:sp>
      <p:sp>
        <p:nvSpPr>
          <p:cNvPr id="3" name="Rectangle 2"/>
          <p:cNvSpPr/>
          <p:nvPr/>
        </p:nvSpPr>
        <p:spPr>
          <a:xfrm>
            <a:off x="1828800" y="1371600"/>
            <a:ext cx="5486400" cy="731520"/>
          </a:xfrm>
          <a:prstGeom prst="rect">
            <a:avLst/>
          </a:prstGeom>
          <a:solidFill>
            <a:srgbClr val="F0F0F0"/>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defRPr sz="1800">
                <a:solidFill>
                  <a:srgbClr val="000000"/>
                </a:solidFill>
              </a:defRPr>
            </a:pPr>
            <a:r>
              <a:t>1. Latar Belakang &amp; Identifikasi Masalah</a:t>
            </a:r>
          </a:p>
        </p:txBody>
      </p:sp>
      <p:sp>
        <p:nvSpPr>
          <p:cNvPr id="4" name="Rectangle 3"/>
          <p:cNvSpPr/>
          <p:nvPr/>
        </p:nvSpPr>
        <p:spPr>
          <a:xfrm>
            <a:off x="1828800" y="2286000"/>
            <a:ext cx="5486400" cy="731520"/>
          </a:xfrm>
          <a:prstGeom prst="rect">
            <a:avLst/>
          </a:prstGeom>
          <a:solidFill>
            <a:srgbClr val="F0F0F0"/>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defRPr sz="1800">
                <a:solidFill>
                  <a:srgbClr val="000000"/>
                </a:solidFill>
              </a:defRPr>
            </a:pPr>
            <a:r>
              <a:t>2. Perbandingan Penelitian Terdahulu</a:t>
            </a:r>
          </a:p>
        </p:txBody>
      </p:sp>
      <p:sp>
        <p:nvSpPr>
          <p:cNvPr id="5" name="Rectangle 4"/>
          <p:cNvSpPr/>
          <p:nvPr/>
        </p:nvSpPr>
        <p:spPr>
          <a:xfrm>
            <a:off x="1828800" y="3200400"/>
            <a:ext cx="5486400" cy="731520"/>
          </a:xfrm>
          <a:prstGeom prst="rect">
            <a:avLst/>
          </a:prstGeom>
          <a:solidFill>
            <a:srgbClr val="F0F0F0"/>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defRPr sz="1800">
                <a:solidFill>
                  <a:srgbClr val="000000"/>
                </a:solidFill>
              </a:defRPr>
            </a:pPr>
            <a:r>
              <a:t>3. Workflow &amp; Antarmuka Sistem</a:t>
            </a:r>
          </a:p>
        </p:txBody>
      </p:sp>
      <p:sp>
        <p:nvSpPr>
          <p:cNvPr id="6" name="Rectangle 5"/>
          <p:cNvSpPr/>
          <p:nvPr/>
        </p:nvSpPr>
        <p:spPr>
          <a:xfrm>
            <a:off x="1828800" y="4114800"/>
            <a:ext cx="5486400" cy="731520"/>
          </a:xfrm>
          <a:prstGeom prst="rect">
            <a:avLst/>
          </a:prstGeom>
          <a:solidFill>
            <a:srgbClr val="F0F0F0"/>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defRPr sz="1800">
                <a:solidFill>
                  <a:srgbClr val="000000"/>
                </a:solidFill>
              </a:defRPr>
            </a:pPr>
            <a:r>
              <a:t>4. Arsitektur Teknis &amp; Database</a:t>
            </a:r>
          </a:p>
        </p:txBody>
      </p:sp>
      <p:sp>
        <p:nvSpPr>
          <p:cNvPr id="7" name="Rectangle 6"/>
          <p:cNvSpPr/>
          <p:nvPr/>
        </p:nvSpPr>
        <p:spPr>
          <a:xfrm>
            <a:off x="1828800" y="5029200"/>
            <a:ext cx="5486400" cy="731520"/>
          </a:xfrm>
          <a:prstGeom prst="rect">
            <a:avLst/>
          </a:prstGeom>
          <a:solidFill>
            <a:srgbClr val="F0F0F0"/>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defRPr sz="1800">
                <a:solidFill>
                  <a:srgbClr val="000000"/>
                </a:solidFill>
              </a:defRPr>
            </a:pPr>
            <a:r>
              <a:t>5. Dokumentasi Lapangan &amp; Kesimpulan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b="1" sz="2800">
                <a:solidFill>
                  <a:srgbClr val="003366"/>
                </a:solidFill>
              </a:defRPr>
            </a:pPr>
            <a:r>
              <a:t>DAFTAR ISI</a:t>
            </a:r>
          </a:p>
        </p:txBody>
      </p:sp>
      <p:sp>
        <p:nvSpPr>
          <p:cNvPr id="3" name="Rectangle 2"/>
          <p:cNvSpPr/>
          <p:nvPr/>
        </p:nvSpPr>
        <p:spPr>
          <a:xfrm>
            <a:off x="1828800" y="1371600"/>
            <a:ext cx="5486400" cy="731520"/>
          </a:xfrm>
          <a:prstGeom prst="rect">
            <a:avLst/>
          </a:prstGeom>
          <a:solidFill>
            <a:srgbClr val="F0F0F0"/>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defRPr sz="1800">
                <a:solidFill>
                  <a:srgbClr val="000000"/>
                </a:solidFill>
              </a:defRPr>
            </a:pPr>
            <a:r>
              <a:t>1. Latar Belakang &amp; Identifikasi Masalah</a:t>
            </a:r>
          </a:p>
        </p:txBody>
      </p:sp>
      <p:sp>
        <p:nvSpPr>
          <p:cNvPr id="4" name="Rectangle 3"/>
          <p:cNvSpPr/>
          <p:nvPr/>
        </p:nvSpPr>
        <p:spPr>
          <a:xfrm>
            <a:off x="1828800" y="2286000"/>
            <a:ext cx="5486400" cy="731520"/>
          </a:xfrm>
          <a:prstGeom prst="rect">
            <a:avLst/>
          </a:prstGeom>
          <a:solidFill>
            <a:srgbClr val="F0F0F0"/>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defRPr sz="1800">
                <a:solidFill>
                  <a:srgbClr val="000000"/>
                </a:solidFill>
              </a:defRPr>
            </a:pPr>
            <a:r>
              <a:t>2. Perbandingan Penelitian Terdahulu</a:t>
            </a:r>
          </a:p>
        </p:txBody>
      </p:sp>
      <p:sp>
        <p:nvSpPr>
          <p:cNvPr id="5" name="Rectangle 4"/>
          <p:cNvSpPr/>
          <p:nvPr/>
        </p:nvSpPr>
        <p:spPr>
          <a:xfrm>
            <a:off x="1828800" y="3200400"/>
            <a:ext cx="5486400" cy="731520"/>
          </a:xfrm>
          <a:prstGeom prst="rect">
            <a:avLst/>
          </a:prstGeom>
          <a:solidFill>
            <a:srgbClr val="F0F0F0"/>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defRPr sz="1800">
                <a:solidFill>
                  <a:srgbClr val="000000"/>
                </a:solidFill>
              </a:defRPr>
            </a:pPr>
            <a:r>
              <a:t>3. Workflow &amp; Antarmuka Sistem</a:t>
            </a:r>
          </a:p>
        </p:txBody>
      </p:sp>
      <p:sp>
        <p:nvSpPr>
          <p:cNvPr id="6" name="Rectangle 5"/>
          <p:cNvSpPr/>
          <p:nvPr/>
        </p:nvSpPr>
        <p:spPr>
          <a:xfrm>
            <a:off x="1828800" y="4114800"/>
            <a:ext cx="5486400" cy="731520"/>
          </a:xfrm>
          <a:prstGeom prst="rect">
            <a:avLst/>
          </a:prstGeom>
          <a:solidFill>
            <a:srgbClr val="F0F0F0"/>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defRPr sz="1800">
                <a:solidFill>
                  <a:srgbClr val="000000"/>
                </a:solidFill>
              </a:defRPr>
            </a:pPr>
            <a:r>
              <a:t>4. Arsitektur Teknis &amp; Database</a:t>
            </a:r>
          </a:p>
        </p:txBody>
      </p:sp>
      <p:sp>
        <p:nvSpPr>
          <p:cNvPr id="7" name="Rectangle 6"/>
          <p:cNvSpPr/>
          <p:nvPr/>
        </p:nvSpPr>
        <p:spPr>
          <a:xfrm>
            <a:off x="1828800" y="5029200"/>
            <a:ext cx="5486400" cy="731520"/>
          </a:xfrm>
          <a:prstGeom prst="rect">
            <a:avLst/>
          </a:prstGeom>
          <a:solidFill>
            <a:srgbClr val="F0F0F0"/>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defRPr sz="1800">
                <a:solidFill>
                  <a:srgbClr val="000000"/>
                </a:solidFill>
              </a:defRPr>
            </a:pPr>
            <a:r>
              <a:t>5. Dokumentasi Lapangan &amp; Kesimpulan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b="1" sz="2800">
                <a:solidFill>
                  <a:srgbClr val="003366"/>
                </a:solidFill>
              </a:defRPr>
            </a:pPr>
            <a:r>
              <a:t>LATAR BELAKANG &amp; IDENTIFIKASI MASALAH</a:t>
            </a:r>
          </a:p>
        </p:txBody>
      </p:sp>
      <p:sp>
        <p:nvSpPr>
          <p:cNvPr id="3" name="Rectangle 2"/>
          <p:cNvSpPr/>
          <p:nvPr/>
        </p:nvSpPr>
        <p:spPr>
          <a:xfrm>
            <a:off x="457200" y="1371600"/>
            <a:ext cx="914400" cy="914400"/>
          </a:xfrm>
          <a:prstGeom prst="rect">
            <a:avLst/>
          </a:prstGeom>
          <a:solidFill>
            <a:srgbClr val="DCDCDC"/>
          </a:solidFill>
          <a:ln>
            <a:solidFill>
              <a:srgbClr val="96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646464"/>
                </a:solidFill>
              </a:defRPr>
            </a:pPr>
            <a:r>
              <a:t>[Ikon 1]</a:t>
            </a:r>
          </a:p>
        </p:txBody>
      </p:sp>
      <p:sp>
        <p:nvSpPr>
          <p:cNvPr id="4" name="Rectangle 3"/>
          <p:cNvSpPr/>
          <p:nvPr/>
        </p:nvSpPr>
        <p:spPr>
          <a:xfrm>
            <a:off x="3474720" y="1371600"/>
            <a:ext cx="914400" cy="914400"/>
          </a:xfrm>
          <a:prstGeom prst="rect">
            <a:avLst/>
          </a:prstGeom>
          <a:solidFill>
            <a:srgbClr val="DCDCDC"/>
          </a:solidFill>
          <a:ln>
            <a:solidFill>
              <a:srgbClr val="96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646464"/>
                </a:solidFill>
              </a:defRPr>
            </a:pPr>
            <a:r>
              <a:t>[Ikon 2]</a:t>
            </a:r>
          </a:p>
        </p:txBody>
      </p:sp>
      <p:sp>
        <p:nvSpPr>
          <p:cNvPr id="5" name="Rectangle 4"/>
          <p:cNvSpPr/>
          <p:nvPr/>
        </p:nvSpPr>
        <p:spPr>
          <a:xfrm>
            <a:off x="6492240" y="1371600"/>
            <a:ext cx="914400" cy="914400"/>
          </a:xfrm>
          <a:prstGeom prst="rect">
            <a:avLst/>
          </a:prstGeom>
          <a:solidFill>
            <a:srgbClr val="DCDCDC"/>
          </a:solidFill>
          <a:ln>
            <a:solidFill>
              <a:srgbClr val="96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646464"/>
                </a:solidFill>
              </a:defRPr>
            </a:pPr>
            <a:r>
              <a:t>[Ikon 3]</a:t>
            </a:r>
          </a:p>
        </p:txBody>
      </p:sp>
      <p:sp>
        <p:nvSpPr>
          <p:cNvPr id="6" name="TextBox 5"/>
          <p:cNvSpPr txBox="1"/>
          <p:nvPr/>
        </p:nvSpPr>
        <p:spPr>
          <a:xfrm>
            <a:off x="457200" y="2377440"/>
            <a:ext cx="2560320" cy="3657600"/>
          </a:xfrm>
          <a:prstGeom prst="rect">
            <a:avLst/>
          </a:prstGeom>
          <a:noFill/>
        </p:spPr>
        <p:txBody>
          <a:bodyPr wrap="square">
            <a:spAutoFit/>
          </a:bodyPr>
          <a:lstStyle/>
          <a:p>
            <a:pPr algn="l">
              <a:defRPr sz="1400" b="0"/>
            </a:pPr>
            <a:r>
              <a:t>Kasir Luring &amp; Daring Terpisah:</a:t>
            </a:r>
            <a:br/>
            <a:r>
              <a:t>Penggunaan aplikasi POS fisik yang stand-alone memicu tingginya risiko pesanan ganda (overselling), karena ketersediaan fisik tidak tersinkronisasi otomatis dengan etalase e-commerce.</a:t>
            </a:r>
          </a:p>
        </p:txBody>
      </p:sp>
      <p:sp>
        <p:nvSpPr>
          <p:cNvPr id="7" name="TextBox 6"/>
          <p:cNvSpPr txBox="1"/>
          <p:nvPr/>
        </p:nvSpPr>
        <p:spPr>
          <a:xfrm>
            <a:off x="3474720" y="2377440"/>
            <a:ext cx="2560320" cy="3657600"/>
          </a:xfrm>
          <a:prstGeom prst="rect">
            <a:avLst/>
          </a:prstGeom>
          <a:noFill/>
        </p:spPr>
        <p:txBody>
          <a:bodyPr wrap="square">
            <a:spAutoFit/>
          </a:bodyPr>
          <a:lstStyle/>
          <a:p>
            <a:pPr algn="l">
              <a:defRPr sz="1400" b="0"/>
            </a:pPr>
            <a:r>
              <a:t>Konversi Multi-Satuan Manual:</a:t>
            </a:r>
            <a:br/>
            <a:r>
              <a:t>Ketiadaan fitur konversi satuan di sistem lama memaksa admin menghitung pecahan kemasan grosir (Box) ke eceran (Strip) secara manual sebelum memotong sisa persediaan.</a:t>
            </a:r>
          </a:p>
        </p:txBody>
      </p:sp>
      <p:sp>
        <p:nvSpPr>
          <p:cNvPr id="8" name="TextBox 7"/>
          <p:cNvSpPr txBox="1"/>
          <p:nvPr/>
        </p:nvSpPr>
        <p:spPr>
          <a:xfrm>
            <a:off x="6492240" y="2377440"/>
            <a:ext cx="2560320" cy="3657600"/>
          </a:xfrm>
          <a:prstGeom prst="rect">
            <a:avLst/>
          </a:prstGeom>
          <a:noFill/>
        </p:spPr>
        <p:txBody>
          <a:bodyPr wrap="square">
            <a:spAutoFit/>
          </a:bodyPr>
          <a:lstStyle/>
          <a:p>
            <a:pPr algn="l">
              <a:defRPr sz="1400" b="0"/>
            </a:pPr>
            <a:r>
              <a:t>Ketiadaan Kendali Logistik Medis:</a:t>
            </a:r>
            <a:br/>
            <a:r>
              <a:t>Sistem pencatatan saat ini belum mendata tanggal kedaluwarsa berbasis Batch (FEFO) untuk obat, maupun pelacakan Serial Number (SN) jaminan garansi alat kesehatan.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b="1" sz="2800">
                <a:solidFill>
                  <a:srgbClr val="003366"/>
                </a:solidFill>
              </a:defRPr>
            </a:pPr>
            <a:r>
              <a:t>LATAR BELAKANG &amp; IDENTIFIKASI MASALAH</a:t>
            </a:r>
          </a:p>
        </p:txBody>
      </p:sp>
      <p:sp>
        <p:nvSpPr>
          <p:cNvPr id="3" name="Rectangle 2"/>
          <p:cNvSpPr/>
          <p:nvPr/>
        </p:nvSpPr>
        <p:spPr>
          <a:xfrm>
            <a:off x="457200" y="1371600"/>
            <a:ext cx="914400" cy="914400"/>
          </a:xfrm>
          <a:prstGeom prst="rect">
            <a:avLst/>
          </a:prstGeom>
          <a:solidFill>
            <a:srgbClr val="DCDCDC"/>
          </a:solidFill>
          <a:ln>
            <a:solidFill>
              <a:srgbClr val="96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646464"/>
                </a:solidFill>
              </a:defRPr>
            </a:pPr>
            <a:r>
              <a:t>[Ikon 1]</a:t>
            </a:r>
          </a:p>
        </p:txBody>
      </p:sp>
      <p:sp>
        <p:nvSpPr>
          <p:cNvPr id="4" name="Rectangle 3"/>
          <p:cNvSpPr/>
          <p:nvPr/>
        </p:nvSpPr>
        <p:spPr>
          <a:xfrm>
            <a:off x="3474720" y="1371600"/>
            <a:ext cx="914400" cy="914400"/>
          </a:xfrm>
          <a:prstGeom prst="rect">
            <a:avLst/>
          </a:prstGeom>
          <a:solidFill>
            <a:srgbClr val="DCDCDC"/>
          </a:solidFill>
          <a:ln>
            <a:solidFill>
              <a:srgbClr val="96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646464"/>
                </a:solidFill>
              </a:defRPr>
            </a:pPr>
            <a:r>
              <a:t>[Ikon 2]</a:t>
            </a:r>
          </a:p>
        </p:txBody>
      </p:sp>
      <p:sp>
        <p:nvSpPr>
          <p:cNvPr id="5" name="Rectangle 4"/>
          <p:cNvSpPr/>
          <p:nvPr/>
        </p:nvSpPr>
        <p:spPr>
          <a:xfrm>
            <a:off x="6492240" y="1371600"/>
            <a:ext cx="914400" cy="914400"/>
          </a:xfrm>
          <a:prstGeom prst="rect">
            <a:avLst/>
          </a:prstGeom>
          <a:solidFill>
            <a:srgbClr val="DCDCDC"/>
          </a:solidFill>
          <a:ln>
            <a:solidFill>
              <a:srgbClr val="96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646464"/>
                </a:solidFill>
              </a:defRPr>
            </a:pPr>
            <a:r>
              <a:t>[Ikon 3]</a:t>
            </a:r>
          </a:p>
        </p:txBody>
      </p:sp>
      <p:sp>
        <p:nvSpPr>
          <p:cNvPr id="6" name="TextBox 5"/>
          <p:cNvSpPr txBox="1"/>
          <p:nvPr/>
        </p:nvSpPr>
        <p:spPr>
          <a:xfrm>
            <a:off x="457200" y="2377440"/>
            <a:ext cx="2560320" cy="3657600"/>
          </a:xfrm>
          <a:prstGeom prst="rect">
            <a:avLst/>
          </a:prstGeom>
          <a:noFill/>
        </p:spPr>
        <p:txBody>
          <a:bodyPr wrap="square">
            <a:spAutoFit/>
          </a:bodyPr>
          <a:lstStyle/>
          <a:p>
            <a:pPr algn="l">
              <a:defRPr sz="1400" b="0"/>
            </a:pPr>
            <a:r>
              <a:t>Kasir Luring &amp; Daring Terpisah:</a:t>
            </a:r>
            <a:br/>
            <a:r>
              <a:t>Penggunaan aplikasi POS fisik yang stand-alone memicu tingginya risiko pesanan ganda (overselling), karena ketersediaan fisik tidak tersinkronisasi otomatis dengan etalase e-commerce.</a:t>
            </a:r>
          </a:p>
        </p:txBody>
      </p:sp>
      <p:sp>
        <p:nvSpPr>
          <p:cNvPr id="7" name="TextBox 6"/>
          <p:cNvSpPr txBox="1"/>
          <p:nvPr/>
        </p:nvSpPr>
        <p:spPr>
          <a:xfrm>
            <a:off x="3474720" y="2377440"/>
            <a:ext cx="2560320" cy="3657600"/>
          </a:xfrm>
          <a:prstGeom prst="rect">
            <a:avLst/>
          </a:prstGeom>
          <a:noFill/>
        </p:spPr>
        <p:txBody>
          <a:bodyPr wrap="square">
            <a:spAutoFit/>
          </a:bodyPr>
          <a:lstStyle/>
          <a:p>
            <a:pPr algn="l">
              <a:defRPr sz="1400" b="0"/>
            </a:pPr>
            <a:r>
              <a:t>Konversi Multi-Satuan Manual:</a:t>
            </a:r>
            <a:br/>
            <a:r>
              <a:t>Ketiadaan fitur konversi satuan di sistem lama memaksa admin menghitung pecahan kemasan grosir (Box) ke eceran (Strip) secara manual sebelum memotong sisa persediaan.</a:t>
            </a:r>
          </a:p>
        </p:txBody>
      </p:sp>
      <p:sp>
        <p:nvSpPr>
          <p:cNvPr id="8" name="TextBox 7"/>
          <p:cNvSpPr txBox="1"/>
          <p:nvPr/>
        </p:nvSpPr>
        <p:spPr>
          <a:xfrm>
            <a:off x="6492240" y="2377440"/>
            <a:ext cx="2560320" cy="3657600"/>
          </a:xfrm>
          <a:prstGeom prst="rect">
            <a:avLst/>
          </a:prstGeom>
          <a:noFill/>
        </p:spPr>
        <p:txBody>
          <a:bodyPr wrap="square">
            <a:spAutoFit/>
          </a:bodyPr>
          <a:lstStyle/>
          <a:p>
            <a:pPr algn="l">
              <a:defRPr sz="1400" b="0"/>
            </a:pPr>
            <a:r>
              <a:t>Ketiadaan Kendali Logistik Medis:</a:t>
            </a:r>
            <a:br/>
            <a:r>
              <a:t>Sistem pencatatan saat ini belum mendata tanggal kedaluwarsa berbasis Batch (FEFO) untuk obat, maupun pelacakan Serial Number (SN) jaminan garansi alat kesehatan.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b="1" sz="2800">
                <a:solidFill>
                  <a:srgbClr val="003366"/>
                </a:solidFill>
              </a:defRPr>
            </a:pPr>
            <a:r>
              <a:t>BATASAN MASALAH</a:t>
            </a:r>
          </a:p>
        </p:txBody>
      </p:sp>
      <p:sp>
        <p:nvSpPr>
          <p:cNvPr id="3" name="TextBox 2"/>
          <p:cNvSpPr txBox="1"/>
          <p:nvPr/>
        </p:nvSpPr>
        <p:spPr>
          <a:xfrm>
            <a:off x="914400" y="1371600"/>
            <a:ext cx="7315200" cy="1097280"/>
          </a:xfrm>
          <a:prstGeom prst="rect">
            <a:avLst/>
          </a:prstGeom>
          <a:noFill/>
        </p:spPr>
        <p:txBody>
          <a:bodyPr wrap="square">
            <a:spAutoFit/>
          </a:bodyPr>
          <a:lstStyle/>
          <a:p>
            <a:pPr algn="l">
              <a:defRPr sz="1600" b="0"/>
            </a:pPr>
            <a:r>
              <a:t>• Fokus Operasional: Sistem murni menyinkronkan inventaris antara terminal POS dan E-Commerce mandiri, tanpa mencakup modul akuntansi keuangan atau laba rugi.</a:t>
            </a:r>
          </a:p>
        </p:txBody>
      </p:sp>
      <p:sp>
        <p:nvSpPr>
          <p:cNvPr id="4" name="TextBox 3"/>
          <p:cNvSpPr txBox="1"/>
          <p:nvPr/>
        </p:nvSpPr>
        <p:spPr>
          <a:xfrm>
            <a:off x="914400" y="2743200"/>
            <a:ext cx="7315200" cy="1097280"/>
          </a:xfrm>
          <a:prstGeom prst="rect">
            <a:avLst/>
          </a:prstGeom>
          <a:noFill/>
        </p:spPr>
        <p:txBody>
          <a:bodyPr wrap="square">
            <a:spAutoFit/>
          </a:bodyPr>
          <a:lstStyle/>
          <a:p>
            <a:pPr algn="l">
              <a:defRPr sz="1600" b="0"/>
            </a:pPr>
            <a:r>
              <a:t>• Logika Pengeluaran Logistik: Pengendalian persediaan menerapkan algoritma First Expired First Out (FEFO) berbasis Batch untuk obat, serta pendataan Serial Number untuk Alat Kesehatan.</a:t>
            </a:r>
          </a:p>
        </p:txBody>
      </p:sp>
      <p:sp>
        <p:nvSpPr>
          <p:cNvPr id="5" name="TextBox 4"/>
          <p:cNvSpPr txBox="1"/>
          <p:nvPr/>
        </p:nvSpPr>
        <p:spPr>
          <a:xfrm>
            <a:off x="914400" y="4114800"/>
            <a:ext cx="7315200" cy="1097280"/>
          </a:xfrm>
          <a:prstGeom prst="rect">
            <a:avLst/>
          </a:prstGeom>
          <a:noFill/>
        </p:spPr>
        <p:txBody>
          <a:bodyPr wrap="square">
            <a:spAutoFit/>
          </a:bodyPr>
          <a:lstStyle/>
          <a:p>
            <a:pPr algn="l">
              <a:defRPr sz="1600" b="0"/>
            </a:pPr>
            <a:r>
              <a:t>• Infrastruktur Pihak Ketiga: Integrasi layanan gerbang pembayaran (Midtrans API) dan kalkulasi ongkos kirim (RajaOngkir) dijalankan secara eksklusif pada lingkungan pengujian (Sandbox).</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b="1" sz="2800">
                <a:solidFill>
                  <a:srgbClr val="003366"/>
                </a:solidFill>
              </a:defRPr>
            </a:pPr>
            <a:r>
              <a:t>BATASAN MASALAH</a:t>
            </a:r>
          </a:p>
        </p:txBody>
      </p:sp>
      <p:sp>
        <p:nvSpPr>
          <p:cNvPr id="3" name="TextBox 2"/>
          <p:cNvSpPr txBox="1"/>
          <p:nvPr/>
        </p:nvSpPr>
        <p:spPr>
          <a:xfrm>
            <a:off x="914400" y="1371600"/>
            <a:ext cx="7315200" cy="1097280"/>
          </a:xfrm>
          <a:prstGeom prst="rect">
            <a:avLst/>
          </a:prstGeom>
          <a:noFill/>
        </p:spPr>
        <p:txBody>
          <a:bodyPr wrap="square">
            <a:spAutoFit/>
          </a:bodyPr>
          <a:lstStyle/>
          <a:p>
            <a:pPr algn="l">
              <a:defRPr sz="1600" b="0"/>
            </a:pPr>
            <a:r>
              <a:t>• Fokus Operasional: Sistem murni menyinkronkan inventaris antara terminal POS dan E-Commerce mandiri, tanpa mencakup modul akuntansi keuangan atau laba rugi.</a:t>
            </a:r>
          </a:p>
        </p:txBody>
      </p:sp>
      <p:sp>
        <p:nvSpPr>
          <p:cNvPr id="4" name="TextBox 3"/>
          <p:cNvSpPr txBox="1"/>
          <p:nvPr/>
        </p:nvSpPr>
        <p:spPr>
          <a:xfrm>
            <a:off x="914400" y="2743200"/>
            <a:ext cx="7315200" cy="1097280"/>
          </a:xfrm>
          <a:prstGeom prst="rect">
            <a:avLst/>
          </a:prstGeom>
          <a:noFill/>
        </p:spPr>
        <p:txBody>
          <a:bodyPr wrap="square">
            <a:spAutoFit/>
          </a:bodyPr>
          <a:lstStyle/>
          <a:p>
            <a:pPr algn="l">
              <a:defRPr sz="1600" b="0"/>
            </a:pPr>
            <a:r>
              <a:t>• Logika Pengeluaran Logistik: Pengendalian persediaan menerapkan algoritma First Expired First Out (FEFO) berbasis Batch untuk obat, serta pendataan Serial Number untuk Alat Kesehatan.</a:t>
            </a:r>
          </a:p>
        </p:txBody>
      </p:sp>
      <p:sp>
        <p:nvSpPr>
          <p:cNvPr id="5" name="TextBox 4"/>
          <p:cNvSpPr txBox="1"/>
          <p:nvPr/>
        </p:nvSpPr>
        <p:spPr>
          <a:xfrm>
            <a:off x="914400" y="4114800"/>
            <a:ext cx="7315200" cy="1097280"/>
          </a:xfrm>
          <a:prstGeom prst="rect">
            <a:avLst/>
          </a:prstGeom>
          <a:noFill/>
        </p:spPr>
        <p:txBody>
          <a:bodyPr wrap="square">
            <a:spAutoFit/>
          </a:bodyPr>
          <a:lstStyle/>
          <a:p>
            <a:pPr algn="l">
              <a:defRPr sz="1600" b="0"/>
            </a:pPr>
            <a:r>
              <a:t>• Infrastruktur Pihak Ketiga: Integrasi layanan gerbang pembayaran (Midtrans API) dan kalkulasi ongkos kirim (RajaOngkir) dijalankan secara eksklusif pada lingkungan pengujian (Sandbox).</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b="1" sz="2800">
                <a:solidFill>
                  <a:srgbClr val="003366"/>
                </a:solidFill>
              </a:defRPr>
            </a:pPr>
            <a:r>
              <a:t>RESEARCH GAP (PENELITIAN TERDAHULU)</a:t>
            </a:r>
          </a:p>
        </p:txBody>
      </p:sp>
      <p:graphicFrame>
        <p:nvGraphicFramePr>
          <p:cNvPr id="3" name="Table 2"/>
          <p:cNvGraphicFramePr>
            <a:graphicFrameLocks noGrp="1"/>
          </p:cNvGraphicFramePr>
          <p:nvPr/>
        </p:nvGraphicFramePr>
        <p:xfrm>
          <a:off x="457200" y="1371600"/>
          <a:ext cx="8229600" cy="3657600"/>
        </p:xfrm>
        <a:graphic>
          <a:graphicData uri="http://schemas.openxmlformats.org/drawingml/2006/table">
            <a:tbl>
              <a:tblPr firstRow="1" bandRow="1">
                <a:tableStyleId>{5C22544A-7EE6-4342-B048-85BDC9FD1C3A}</a:tableStyleId>
              </a:tblPr>
              <a:tblGrid>
                <a:gridCol w="2286000"/>
                <a:gridCol w="2971800"/>
                <a:gridCol w="2971800"/>
              </a:tblGrid>
              <a:tr h="1219200">
                <a:tc>
                  <a:txBody>
                    <a:bodyPr/>
                    <a:lstStyle/>
                    <a:p>
                      <a:pPr>
                        <a:defRPr sz="1200"/>
                      </a:pPr>
                      <a:r>
                        <a:t>Peneliti</a:t>
                      </a:r>
                    </a:p>
                  </a:txBody>
                  <a:tcPr/>
                </a:tc>
                <a:tc>
                  <a:txBody>
                    <a:bodyPr/>
                    <a:lstStyle/>
                    <a:p>
                      <a:pPr>
                        <a:defRPr sz="1200"/>
                      </a:pPr>
                      <a:r>
                        <a:t>Karakteristik</a:t>
                      </a:r>
                    </a:p>
                  </a:txBody>
                  <a:tcPr/>
                </a:tc>
                <a:tc>
                  <a:txBody>
                    <a:bodyPr/>
                    <a:lstStyle/>
                    <a:p>
                      <a:pPr>
                        <a:defRPr sz="1200"/>
                      </a:pPr>
                      <a:r>
                        <a:t>Kelemahan / Gap</a:t>
                      </a:r>
                    </a:p>
                  </a:txBody>
                  <a:tcPr/>
                </a:tc>
              </a:tr>
              <a:tr h="1219200">
                <a:tc>
                  <a:txBody>
                    <a:bodyPr/>
                    <a:lstStyle/>
                    <a:p>
                      <a:pPr>
                        <a:defRPr sz="1200"/>
                      </a:pPr>
                      <a:r>
                        <a:t>Rachman (2024) &amp; Nuralisa (2024)</a:t>
                      </a:r>
                    </a:p>
                  </a:txBody>
                  <a:tcPr/>
                </a:tc>
                <a:tc>
                  <a:txBody>
                    <a:bodyPr/>
                    <a:lstStyle/>
                    <a:p>
                      <a:pPr>
                        <a:defRPr sz="1200"/>
                      </a:pPr>
                      <a:r>
                        <a:t>Sistem informasi persediaan Single-channel (Luring).</a:t>
                      </a:r>
                    </a:p>
                  </a:txBody>
                  <a:tcPr/>
                </a:tc>
                <a:tc>
                  <a:txBody>
                    <a:bodyPr/>
                    <a:lstStyle/>
                    <a:p>
                      <a:pPr>
                        <a:defRPr sz="1200"/>
                      </a:pPr>
                      <a:r>
                        <a:t>Tidak memiliki konversi multi-satuan dan filter tanggal kedaluwarsa.</a:t>
                      </a:r>
                    </a:p>
                  </a:txBody>
                  <a:tcPr/>
                </a:tc>
              </a:tr>
              <a:tr h="1219200">
                <a:tc>
                  <a:txBody>
                    <a:bodyPr/>
                    <a:lstStyle/>
                    <a:p>
                      <a:pPr>
                        <a:defRPr sz="1200"/>
                      </a:pPr>
                      <a:r>
                        <a:t>Mattegunta (2025)</a:t>
                      </a:r>
                    </a:p>
                  </a:txBody>
                  <a:tcPr/>
                </a:tc>
                <a:tc>
                  <a:txBody>
                    <a:bodyPr/>
                    <a:lstStyle/>
                    <a:p>
                      <a:pPr>
                        <a:defRPr sz="1200"/>
                      </a:pPr>
                      <a:r>
                        <a:t>Arsitektur Omnichannel dengan visibilitas real-time.</a:t>
                      </a:r>
                    </a:p>
                  </a:txBody>
                  <a:tcPr/>
                </a:tc>
                <a:tc>
                  <a:txBody>
                    <a:bodyPr/>
                    <a:lstStyle/>
                    <a:p>
                      <a:pPr>
                        <a:defRPr sz="1200"/>
                      </a:pPr>
                      <a:r>
                        <a:t>Fokus ritel umum tanpa pertimbangan logistik medis.</a:t>
                      </a:r>
                    </a:p>
                  </a:txBody>
                  <a:tcPr/>
                </a:tc>
              </a:tr>
            </a:tbl>
          </a:graphicData>
        </a:graphic>
      </p:graphicFrame>
      <p:sp>
        <p:nvSpPr>
          <p:cNvPr id="4" name="TextBox 3"/>
          <p:cNvSpPr txBox="1"/>
          <p:nvPr/>
        </p:nvSpPr>
        <p:spPr>
          <a:xfrm>
            <a:off x="457200" y="5303520"/>
            <a:ext cx="8229600" cy="1371600"/>
          </a:xfrm>
          <a:prstGeom prst="rect">
            <a:avLst/>
          </a:prstGeom>
          <a:noFill/>
        </p:spPr>
        <p:txBody>
          <a:bodyPr wrap="square">
            <a:spAutoFit/>
          </a:bodyPr>
          <a:lstStyle/>
          <a:p>
            <a:pPr algn="l">
              <a:defRPr sz="1400" b="1"/>
            </a:pPr>
            <a:r>
              <a:t>Sistem Usulan (ZenCare Medical): Membangun ekosistem Omnichannel mandiri yang dilengkapi otomatisasi konversi Dual-UOM, serta menerapkan pelacakan kedaluwarsa Batch (FEFO) dan Serial Number pada basis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b="1" sz="2800">
                <a:solidFill>
                  <a:srgbClr val="003366"/>
                </a:solidFill>
              </a:defRPr>
            </a:pPr>
            <a:r>
              <a:t>RESEARCH GAP (PENELITIAN TERDAHULU)</a:t>
            </a:r>
          </a:p>
        </p:txBody>
      </p:sp>
      <p:graphicFrame>
        <p:nvGraphicFramePr>
          <p:cNvPr id="3" name="Table 2"/>
          <p:cNvGraphicFramePr>
            <a:graphicFrameLocks noGrp="1"/>
          </p:cNvGraphicFramePr>
          <p:nvPr/>
        </p:nvGraphicFramePr>
        <p:xfrm>
          <a:off x="457200" y="1371600"/>
          <a:ext cx="8229600" cy="3657600"/>
        </p:xfrm>
        <a:graphic>
          <a:graphicData uri="http://schemas.openxmlformats.org/drawingml/2006/table">
            <a:tbl>
              <a:tblPr firstRow="1" bandRow="1">
                <a:tableStyleId>{5C22544A-7EE6-4342-B048-85BDC9FD1C3A}</a:tableStyleId>
              </a:tblPr>
              <a:tblGrid>
                <a:gridCol w="2286000"/>
                <a:gridCol w="2971800"/>
                <a:gridCol w="2971800"/>
              </a:tblGrid>
              <a:tr h="1219200">
                <a:tc>
                  <a:txBody>
                    <a:bodyPr/>
                    <a:lstStyle/>
                    <a:p>
                      <a:pPr>
                        <a:defRPr sz="1200"/>
                      </a:pPr>
                      <a:r>
                        <a:t>Peneliti</a:t>
                      </a:r>
                    </a:p>
                  </a:txBody>
                  <a:tcPr/>
                </a:tc>
                <a:tc>
                  <a:txBody>
                    <a:bodyPr/>
                    <a:lstStyle/>
                    <a:p>
                      <a:pPr>
                        <a:defRPr sz="1200"/>
                      </a:pPr>
                      <a:r>
                        <a:t>Karakteristik</a:t>
                      </a:r>
                    </a:p>
                  </a:txBody>
                  <a:tcPr/>
                </a:tc>
                <a:tc>
                  <a:txBody>
                    <a:bodyPr/>
                    <a:lstStyle/>
                    <a:p>
                      <a:pPr>
                        <a:defRPr sz="1200"/>
                      </a:pPr>
                      <a:r>
                        <a:t>Kelemahan / Gap</a:t>
                      </a:r>
                    </a:p>
                  </a:txBody>
                  <a:tcPr/>
                </a:tc>
              </a:tr>
              <a:tr h="1219200">
                <a:tc>
                  <a:txBody>
                    <a:bodyPr/>
                    <a:lstStyle/>
                    <a:p>
                      <a:pPr>
                        <a:defRPr sz="1200"/>
                      </a:pPr>
                      <a:r>
                        <a:t>Rachman (2024) &amp; Nuralisa (2024)</a:t>
                      </a:r>
                    </a:p>
                  </a:txBody>
                  <a:tcPr/>
                </a:tc>
                <a:tc>
                  <a:txBody>
                    <a:bodyPr/>
                    <a:lstStyle/>
                    <a:p>
                      <a:pPr>
                        <a:defRPr sz="1200"/>
                      </a:pPr>
                      <a:r>
                        <a:t>Sistem informasi persediaan Single-channel (Luring).</a:t>
                      </a:r>
                    </a:p>
                  </a:txBody>
                  <a:tcPr/>
                </a:tc>
                <a:tc>
                  <a:txBody>
                    <a:bodyPr/>
                    <a:lstStyle/>
                    <a:p>
                      <a:pPr>
                        <a:defRPr sz="1200"/>
                      </a:pPr>
                      <a:r>
                        <a:t>Tidak memiliki konversi multi-satuan dan filter tanggal kedaluwarsa.</a:t>
                      </a:r>
                    </a:p>
                  </a:txBody>
                  <a:tcPr/>
                </a:tc>
              </a:tr>
              <a:tr h="1219200">
                <a:tc>
                  <a:txBody>
                    <a:bodyPr/>
                    <a:lstStyle/>
                    <a:p>
                      <a:pPr>
                        <a:defRPr sz="1200"/>
                      </a:pPr>
                      <a:r>
                        <a:t>Mattegunta (2025)</a:t>
                      </a:r>
                    </a:p>
                  </a:txBody>
                  <a:tcPr/>
                </a:tc>
                <a:tc>
                  <a:txBody>
                    <a:bodyPr/>
                    <a:lstStyle/>
                    <a:p>
                      <a:pPr>
                        <a:defRPr sz="1200"/>
                      </a:pPr>
                      <a:r>
                        <a:t>Arsitektur Omnichannel dengan visibilitas real-time.</a:t>
                      </a:r>
                    </a:p>
                  </a:txBody>
                  <a:tcPr/>
                </a:tc>
                <a:tc>
                  <a:txBody>
                    <a:bodyPr/>
                    <a:lstStyle/>
                    <a:p>
                      <a:pPr>
                        <a:defRPr sz="1200"/>
                      </a:pPr>
                      <a:r>
                        <a:t>Fokus ritel umum tanpa pertimbangan logistik medis.</a:t>
                      </a:r>
                    </a:p>
                  </a:txBody>
                  <a:tcPr/>
                </a:tc>
              </a:tr>
            </a:tbl>
          </a:graphicData>
        </a:graphic>
      </p:graphicFrame>
      <p:sp>
        <p:nvSpPr>
          <p:cNvPr id="4" name="TextBox 3"/>
          <p:cNvSpPr txBox="1"/>
          <p:nvPr/>
        </p:nvSpPr>
        <p:spPr>
          <a:xfrm>
            <a:off x="457200" y="5303520"/>
            <a:ext cx="8229600" cy="1371600"/>
          </a:xfrm>
          <a:prstGeom prst="rect">
            <a:avLst/>
          </a:prstGeom>
          <a:noFill/>
        </p:spPr>
        <p:txBody>
          <a:bodyPr wrap="square">
            <a:spAutoFit/>
          </a:bodyPr>
          <a:lstStyle/>
          <a:p>
            <a:pPr algn="l">
              <a:defRPr sz="1400" b="1"/>
            </a:pPr>
            <a:r>
              <a:t>Sistem Usulan (ZenCare Medical): Membangun ekosistem Omnichannel mandiri yang dilengkapi otomatisasi konversi Dual-UOM, serta menerapkan pelacakan kedaluwarsa Batch (FEFO) dan Serial Number pada basis data.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b="1" sz="2800">
                <a:solidFill>
                  <a:srgbClr val="003366"/>
                </a:solidFill>
              </a:defRPr>
            </a:pPr>
            <a:r>
              <a:t>PEMBARUAN SISTEM (NOVELTY)</a:t>
            </a:r>
          </a:p>
        </p:txBody>
      </p:sp>
      <p:sp>
        <p:nvSpPr>
          <p:cNvPr id="3" name="TextBox 2"/>
          <p:cNvSpPr txBox="1"/>
          <p:nvPr/>
        </p:nvSpPr>
        <p:spPr>
          <a:xfrm>
            <a:off x="457200" y="1371600"/>
            <a:ext cx="3840480" cy="731520"/>
          </a:xfrm>
          <a:prstGeom prst="rect">
            <a:avLst/>
          </a:prstGeom>
          <a:noFill/>
        </p:spPr>
        <p:txBody>
          <a:bodyPr wrap="square">
            <a:spAutoFit/>
          </a:bodyPr>
          <a:lstStyle/>
          <a:p>
            <a:pPr algn="ctr">
              <a:defRPr sz="1800" b="1">
                <a:solidFill>
                  <a:srgbClr val="C80000"/>
                </a:solidFill>
              </a:defRPr>
            </a:pPr>
            <a:r>
              <a:t>(X) KENDALA SISTEM BERJALAN</a:t>
            </a:r>
          </a:p>
        </p:txBody>
      </p:sp>
      <p:sp>
        <p:nvSpPr>
          <p:cNvPr id="4" name="TextBox 3"/>
          <p:cNvSpPr txBox="1"/>
          <p:nvPr/>
        </p:nvSpPr>
        <p:spPr>
          <a:xfrm>
            <a:off x="4846320" y="1371600"/>
            <a:ext cx="3840480" cy="731520"/>
          </a:xfrm>
          <a:prstGeom prst="rect">
            <a:avLst/>
          </a:prstGeom>
          <a:noFill/>
        </p:spPr>
        <p:txBody>
          <a:bodyPr wrap="square">
            <a:spAutoFit/>
          </a:bodyPr>
          <a:lstStyle/>
          <a:p>
            <a:pPr algn="ctr">
              <a:defRPr sz="1800" b="1">
                <a:solidFill>
                  <a:srgbClr val="009600"/>
                </a:solidFill>
              </a:defRPr>
            </a:pPr>
            <a:r>
              <a:t>(V) SISTEM USULAN</a:t>
            </a:r>
          </a:p>
        </p:txBody>
      </p:sp>
      <p:sp>
        <p:nvSpPr>
          <p:cNvPr id="5" name="TextBox 4"/>
          <p:cNvSpPr txBox="1"/>
          <p:nvPr/>
        </p:nvSpPr>
        <p:spPr>
          <a:xfrm>
            <a:off x="457200" y="2286000"/>
            <a:ext cx="3840480" cy="3657600"/>
          </a:xfrm>
          <a:prstGeom prst="rect">
            <a:avLst/>
          </a:prstGeom>
          <a:noFill/>
        </p:spPr>
        <p:txBody>
          <a:bodyPr wrap="square">
            <a:spAutoFit/>
          </a:bodyPr>
          <a:lstStyle/>
          <a:p>
            <a:pPr algn="l">
              <a:defRPr sz="1600" b="0"/>
            </a:pPr>
            <a:r>
              <a:t>Risiko overselling akibat aplikasi kasir yang terisolasi, tingginya beban kerja akibat konversi multi-UOM manual, serta penumpukan obat rusak di rak.</a:t>
            </a:r>
          </a:p>
        </p:txBody>
      </p:sp>
      <p:sp>
        <p:nvSpPr>
          <p:cNvPr id="6" name="TextBox 5"/>
          <p:cNvSpPr txBox="1"/>
          <p:nvPr/>
        </p:nvSpPr>
        <p:spPr>
          <a:xfrm>
            <a:off x="4846320" y="2286000"/>
            <a:ext cx="3840480" cy="3657600"/>
          </a:xfrm>
          <a:prstGeom prst="rect">
            <a:avLst/>
          </a:prstGeom>
          <a:noFill/>
        </p:spPr>
        <p:txBody>
          <a:bodyPr wrap="square">
            <a:spAutoFit/>
          </a:bodyPr>
          <a:lstStyle/>
          <a:p>
            <a:pPr algn="l">
              <a:defRPr sz="1600" b="0"/>
            </a:pPr>
            <a:r>
              <a:t>Sinkronisasi basis data tunggal Omnichannel (POS &amp; Web) yang mengunci stok seketika, algoritma konversi dinamis, serta sistem Gatekeeper yang memaksa validasi FEFO pada setiap barang masuk.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b="1" sz="2800">
                <a:solidFill>
                  <a:srgbClr val="003366"/>
                </a:solidFill>
              </a:defRPr>
            </a:pPr>
            <a:r>
              <a:t>PEMBARUAN SISTEM (NOVELTY)</a:t>
            </a:r>
          </a:p>
        </p:txBody>
      </p:sp>
      <p:sp>
        <p:nvSpPr>
          <p:cNvPr id="3" name="TextBox 2"/>
          <p:cNvSpPr txBox="1"/>
          <p:nvPr/>
        </p:nvSpPr>
        <p:spPr>
          <a:xfrm>
            <a:off x="457200" y="1371600"/>
            <a:ext cx="3840480" cy="731520"/>
          </a:xfrm>
          <a:prstGeom prst="rect">
            <a:avLst/>
          </a:prstGeom>
          <a:noFill/>
        </p:spPr>
        <p:txBody>
          <a:bodyPr wrap="square">
            <a:spAutoFit/>
          </a:bodyPr>
          <a:lstStyle/>
          <a:p>
            <a:pPr algn="ctr">
              <a:defRPr sz="1800" b="1">
                <a:solidFill>
                  <a:srgbClr val="C80000"/>
                </a:solidFill>
              </a:defRPr>
            </a:pPr>
            <a:r>
              <a:t>(X) KENDALA SISTEM BERJALAN</a:t>
            </a:r>
          </a:p>
        </p:txBody>
      </p:sp>
      <p:sp>
        <p:nvSpPr>
          <p:cNvPr id="4" name="TextBox 3"/>
          <p:cNvSpPr txBox="1"/>
          <p:nvPr/>
        </p:nvSpPr>
        <p:spPr>
          <a:xfrm>
            <a:off x="4846320" y="1371600"/>
            <a:ext cx="3840480" cy="731520"/>
          </a:xfrm>
          <a:prstGeom prst="rect">
            <a:avLst/>
          </a:prstGeom>
          <a:noFill/>
        </p:spPr>
        <p:txBody>
          <a:bodyPr wrap="square">
            <a:spAutoFit/>
          </a:bodyPr>
          <a:lstStyle/>
          <a:p>
            <a:pPr algn="ctr">
              <a:defRPr sz="1800" b="1">
                <a:solidFill>
                  <a:srgbClr val="009600"/>
                </a:solidFill>
              </a:defRPr>
            </a:pPr>
            <a:r>
              <a:t>(V) SISTEM USULAN</a:t>
            </a:r>
          </a:p>
        </p:txBody>
      </p:sp>
      <p:sp>
        <p:nvSpPr>
          <p:cNvPr id="5" name="TextBox 4"/>
          <p:cNvSpPr txBox="1"/>
          <p:nvPr/>
        </p:nvSpPr>
        <p:spPr>
          <a:xfrm>
            <a:off x="457200" y="2286000"/>
            <a:ext cx="3840480" cy="3657600"/>
          </a:xfrm>
          <a:prstGeom prst="rect">
            <a:avLst/>
          </a:prstGeom>
          <a:noFill/>
        </p:spPr>
        <p:txBody>
          <a:bodyPr wrap="square">
            <a:spAutoFit/>
          </a:bodyPr>
          <a:lstStyle/>
          <a:p>
            <a:pPr algn="l">
              <a:defRPr sz="1600" b="0"/>
            </a:pPr>
            <a:r>
              <a:t>Risiko overselling akibat aplikasi kasir yang terisolasi, tingginya beban kerja akibat konversi multi-UOM manual, serta penumpukan obat rusak di rak.</a:t>
            </a:r>
          </a:p>
        </p:txBody>
      </p:sp>
      <p:sp>
        <p:nvSpPr>
          <p:cNvPr id="6" name="TextBox 5"/>
          <p:cNvSpPr txBox="1"/>
          <p:nvPr/>
        </p:nvSpPr>
        <p:spPr>
          <a:xfrm>
            <a:off x="4846320" y="2286000"/>
            <a:ext cx="3840480" cy="3657600"/>
          </a:xfrm>
          <a:prstGeom prst="rect">
            <a:avLst/>
          </a:prstGeom>
          <a:noFill/>
        </p:spPr>
        <p:txBody>
          <a:bodyPr wrap="square">
            <a:spAutoFit/>
          </a:bodyPr>
          <a:lstStyle/>
          <a:p>
            <a:pPr algn="l">
              <a:defRPr sz="1600" b="0"/>
            </a:pPr>
            <a:r>
              <a:t>Sinkronisasi basis data tunggal Omnichannel (POS &amp; Web) yang mengunci stok seketika, algoritma konversi dinamis, serta sistem Gatekeeper yang memaksa validasi FEFO pada setiap barang masuk.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b="1" sz="2800">
                <a:solidFill>
                  <a:srgbClr val="003366"/>
                </a:solidFill>
              </a:defRPr>
            </a:pPr>
            <a:r>
              <a:t>SITEMAP ARSITEKTUR NAVIGASI</a:t>
            </a:r>
          </a:p>
        </p:txBody>
      </p:sp>
      <p:sp>
        <p:nvSpPr>
          <p:cNvPr id="3" name="Rectangle 2"/>
          <p:cNvSpPr/>
          <p:nvPr/>
        </p:nvSpPr>
        <p:spPr>
          <a:xfrm>
            <a:off x="1371600" y="1097280"/>
            <a:ext cx="6400800" cy="4114800"/>
          </a:xfrm>
          <a:prstGeom prst="rect">
            <a:avLst/>
          </a:prstGeom>
          <a:solidFill>
            <a:srgbClr val="DCDCDC"/>
          </a:solidFill>
          <a:ln>
            <a:solidFill>
              <a:srgbClr val="96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646464"/>
                </a:solidFill>
              </a:defRPr>
            </a:pPr>
            <a:r>
              <a:t>[PLACEHOLDER GAMBAR: SITEMAP 3 AKTOR]</a:t>
            </a:r>
          </a:p>
        </p:txBody>
      </p:sp>
      <p:sp>
        <p:nvSpPr>
          <p:cNvPr id="4" name="TextBox 3"/>
          <p:cNvSpPr txBox="1"/>
          <p:nvPr/>
        </p:nvSpPr>
        <p:spPr>
          <a:xfrm>
            <a:off x="457200" y="5486400"/>
            <a:ext cx="8229600" cy="1371600"/>
          </a:xfrm>
          <a:prstGeom prst="rect">
            <a:avLst/>
          </a:prstGeom>
          <a:noFill/>
        </p:spPr>
        <p:txBody>
          <a:bodyPr wrap="square">
            <a:spAutoFit/>
          </a:bodyPr>
          <a:lstStyle/>
          <a:p>
            <a:pPr algn="ctr">
              <a:defRPr sz="1400" b="0"/>
            </a:pPr>
            <a:r>
              <a:t>Pemetaan antarmuka memisahkan hak akses secara tegas: Pelanggan mengeksplorasi E-Commerce, Admin mengelola POS dan mencatat Harga Beli logistik, sedangkan Superadmin mengontrol Master Produk dan memantau riwayat pengadaan langsung via Dashboard.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b="1" sz="2800">
                <a:solidFill>
                  <a:srgbClr val="003366"/>
                </a:solidFill>
              </a:defRPr>
            </a:pPr>
            <a:r>
              <a:t>SITEMAP ARSITEKTUR NAVIGASI</a:t>
            </a:r>
          </a:p>
        </p:txBody>
      </p:sp>
      <p:sp>
        <p:nvSpPr>
          <p:cNvPr id="3" name="Rectangle 2"/>
          <p:cNvSpPr/>
          <p:nvPr/>
        </p:nvSpPr>
        <p:spPr>
          <a:xfrm>
            <a:off x="1371600" y="1097280"/>
            <a:ext cx="6400800" cy="4114800"/>
          </a:xfrm>
          <a:prstGeom prst="rect">
            <a:avLst/>
          </a:prstGeom>
          <a:solidFill>
            <a:srgbClr val="DCDCDC"/>
          </a:solidFill>
          <a:ln>
            <a:solidFill>
              <a:srgbClr val="96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646464"/>
                </a:solidFill>
              </a:defRPr>
            </a:pPr>
            <a:r>
              <a:t>[PLACEHOLDER GAMBAR: SITEMAP 3 AKTOR]</a:t>
            </a:r>
          </a:p>
        </p:txBody>
      </p:sp>
      <p:sp>
        <p:nvSpPr>
          <p:cNvPr id="4" name="TextBox 3"/>
          <p:cNvSpPr txBox="1"/>
          <p:nvPr/>
        </p:nvSpPr>
        <p:spPr>
          <a:xfrm>
            <a:off x="457200" y="5486400"/>
            <a:ext cx="8229600" cy="1371600"/>
          </a:xfrm>
          <a:prstGeom prst="rect">
            <a:avLst/>
          </a:prstGeom>
          <a:noFill/>
        </p:spPr>
        <p:txBody>
          <a:bodyPr wrap="square">
            <a:spAutoFit/>
          </a:bodyPr>
          <a:lstStyle/>
          <a:p>
            <a:pPr algn="ctr">
              <a:defRPr sz="1400" b="0"/>
            </a:pPr>
            <a:r>
              <a:t>Pemetaan antarmuka memisahkan hak akses secara tegas: Pelanggan mengeksplorasi E-Commerce, Admin mengelola POS dan mencatat Harga Beli logistik, sedangkan Superadmin mengontrol Master Produk dan memantau riwayat pengadaan langsung via Dashboard.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b="1" sz="2800">
                <a:solidFill>
                  <a:srgbClr val="003366"/>
                </a:solidFill>
              </a:defRPr>
            </a:pPr>
            <a:r>
              <a:t>WORKFLOW BARANG KELUAR (OMNICHANNEL)</a:t>
            </a:r>
          </a:p>
        </p:txBody>
      </p:sp>
      <p:sp>
        <p:nvSpPr>
          <p:cNvPr id="3" name="Rectangle 2"/>
          <p:cNvSpPr/>
          <p:nvPr/>
        </p:nvSpPr>
        <p:spPr>
          <a:xfrm>
            <a:off x="2286000" y="1097280"/>
            <a:ext cx="4572000" cy="1828800"/>
          </a:xfrm>
          <a:prstGeom prst="rect">
            <a:avLst/>
          </a:prstGeom>
          <a:solidFill>
            <a:srgbClr val="DCDCDC"/>
          </a:solidFill>
          <a:ln>
            <a:solidFill>
              <a:srgbClr val="96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646464"/>
                </a:solidFill>
              </a:defRPr>
            </a:pPr>
            <a:r>
              <a:t>[PLACEHOLDER: CLIPART WORKFLOW]</a:t>
            </a:r>
          </a:p>
        </p:txBody>
      </p:sp>
      <p:sp>
        <p:nvSpPr>
          <p:cNvPr id="4" name="Rectangle 3"/>
          <p:cNvSpPr/>
          <p:nvPr/>
        </p:nvSpPr>
        <p:spPr>
          <a:xfrm>
            <a:off x="2286000" y="3200400"/>
            <a:ext cx="4572000" cy="2286000"/>
          </a:xfrm>
          <a:prstGeom prst="rect">
            <a:avLst/>
          </a:prstGeom>
          <a:solidFill>
            <a:srgbClr val="DCDCDC"/>
          </a:solidFill>
          <a:ln>
            <a:solidFill>
              <a:srgbClr val="96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646464"/>
                </a:solidFill>
              </a:defRPr>
            </a:pPr>
            <a:r>
              <a:t>[PLACEHOLDER: WIREFRAME POS &amp; CHECKOUT]</a:t>
            </a:r>
          </a:p>
        </p:txBody>
      </p:sp>
      <p:sp>
        <p:nvSpPr>
          <p:cNvPr id="5" name="TextBox 4"/>
          <p:cNvSpPr txBox="1"/>
          <p:nvPr/>
        </p:nvSpPr>
        <p:spPr>
          <a:xfrm>
            <a:off x="457200" y="5669280"/>
            <a:ext cx="8229600" cy="1371600"/>
          </a:xfrm>
          <a:prstGeom prst="rect">
            <a:avLst/>
          </a:prstGeom>
          <a:noFill/>
        </p:spPr>
        <p:txBody>
          <a:bodyPr wrap="square">
            <a:spAutoFit/>
          </a:bodyPr>
          <a:lstStyle/>
          <a:p>
            <a:pPr algn="ctr">
              <a:defRPr sz="1400" b="0"/>
            </a:pPr>
            <a:r>
              <a:t>Otomatisasi Lintas Saluran: Sistem ZenCare memproses transaksi luring (POS) dan pesanan daring (E-Commerce) secara bersamaan. Sistem mengonversi satuan otomatis dan mengunci stok sementara (Reserved) untuk mencegah overselling.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b="1" sz="2800">
                <a:solidFill>
                  <a:srgbClr val="003366"/>
                </a:solidFill>
              </a:defRPr>
            </a:pPr>
            <a:r>
              <a:t>WORKFLOW BARANG KELUAR (OMNICHANNEL)</a:t>
            </a:r>
          </a:p>
        </p:txBody>
      </p:sp>
      <p:sp>
        <p:nvSpPr>
          <p:cNvPr id="3" name="Rectangle 2"/>
          <p:cNvSpPr/>
          <p:nvPr/>
        </p:nvSpPr>
        <p:spPr>
          <a:xfrm>
            <a:off x="2286000" y="1097280"/>
            <a:ext cx="4572000" cy="1828800"/>
          </a:xfrm>
          <a:prstGeom prst="rect">
            <a:avLst/>
          </a:prstGeom>
          <a:solidFill>
            <a:srgbClr val="DCDCDC"/>
          </a:solidFill>
          <a:ln>
            <a:solidFill>
              <a:srgbClr val="96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646464"/>
                </a:solidFill>
              </a:defRPr>
            </a:pPr>
            <a:r>
              <a:t>[PLACEHOLDER: CLIPART WORKFLOW]</a:t>
            </a:r>
          </a:p>
        </p:txBody>
      </p:sp>
      <p:sp>
        <p:nvSpPr>
          <p:cNvPr id="4" name="Rectangle 3"/>
          <p:cNvSpPr/>
          <p:nvPr/>
        </p:nvSpPr>
        <p:spPr>
          <a:xfrm>
            <a:off x="2286000" y="3200400"/>
            <a:ext cx="4572000" cy="2286000"/>
          </a:xfrm>
          <a:prstGeom prst="rect">
            <a:avLst/>
          </a:prstGeom>
          <a:solidFill>
            <a:srgbClr val="DCDCDC"/>
          </a:solidFill>
          <a:ln>
            <a:solidFill>
              <a:srgbClr val="96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646464"/>
                </a:solidFill>
              </a:defRPr>
            </a:pPr>
            <a:r>
              <a:t>[PLACEHOLDER: WIREFRAME POS &amp; CHECKOUT]</a:t>
            </a:r>
          </a:p>
        </p:txBody>
      </p:sp>
      <p:sp>
        <p:nvSpPr>
          <p:cNvPr id="5" name="TextBox 4"/>
          <p:cNvSpPr txBox="1"/>
          <p:nvPr/>
        </p:nvSpPr>
        <p:spPr>
          <a:xfrm>
            <a:off x="457200" y="5669280"/>
            <a:ext cx="8229600" cy="1371600"/>
          </a:xfrm>
          <a:prstGeom prst="rect">
            <a:avLst/>
          </a:prstGeom>
          <a:noFill/>
        </p:spPr>
        <p:txBody>
          <a:bodyPr wrap="square">
            <a:spAutoFit/>
          </a:bodyPr>
          <a:lstStyle/>
          <a:p>
            <a:pPr algn="ctr">
              <a:defRPr sz="1400" b="0"/>
            </a:pPr>
            <a:r>
              <a:t>Otomatisasi Lintas Saluran: Sistem ZenCare memproses transaksi luring (POS) dan pesanan daring (E-Commerce) secara bersamaan. Sistem mengonversi satuan otomatis dan mengunci stok sementara (Reserved) untuk mencegah overselling.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b="1" sz="2800">
                <a:solidFill>
                  <a:srgbClr val="003366"/>
                </a:solidFill>
              </a:defRPr>
            </a:pPr>
            <a:r>
              <a:t>WORKFLOW PENERIMAAN BARANG &amp; LOGISTIK</a:t>
            </a:r>
          </a:p>
        </p:txBody>
      </p:sp>
      <p:sp>
        <p:nvSpPr>
          <p:cNvPr id="3" name="Rectangle 2"/>
          <p:cNvSpPr/>
          <p:nvPr/>
        </p:nvSpPr>
        <p:spPr>
          <a:xfrm>
            <a:off x="2286000" y="1097280"/>
            <a:ext cx="4572000" cy="1828800"/>
          </a:xfrm>
          <a:prstGeom prst="rect">
            <a:avLst/>
          </a:prstGeom>
          <a:solidFill>
            <a:srgbClr val="DCDCDC"/>
          </a:solidFill>
          <a:ln>
            <a:solidFill>
              <a:srgbClr val="96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646464"/>
                </a:solidFill>
              </a:defRPr>
            </a:pPr>
            <a:r>
              <a:t>[PLACEHOLDER: CLIPART WORKFLOW]</a:t>
            </a:r>
          </a:p>
        </p:txBody>
      </p:sp>
      <p:sp>
        <p:nvSpPr>
          <p:cNvPr id="4" name="Rectangle 3"/>
          <p:cNvSpPr/>
          <p:nvPr/>
        </p:nvSpPr>
        <p:spPr>
          <a:xfrm>
            <a:off x="2286000" y="3200400"/>
            <a:ext cx="4572000" cy="2286000"/>
          </a:xfrm>
          <a:prstGeom prst="rect">
            <a:avLst/>
          </a:prstGeom>
          <a:solidFill>
            <a:srgbClr val="DCDCDC"/>
          </a:solidFill>
          <a:ln>
            <a:solidFill>
              <a:srgbClr val="96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646464"/>
                </a:solidFill>
              </a:defRPr>
            </a:pPr>
            <a:r>
              <a:t>[PLACEHOLDER: WIREFRAME FORM PENERIMAAN]</a:t>
            </a:r>
          </a:p>
        </p:txBody>
      </p:sp>
      <p:sp>
        <p:nvSpPr>
          <p:cNvPr id="5" name="TextBox 4"/>
          <p:cNvSpPr txBox="1"/>
          <p:nvPr/>
        </p:nvSpPr>
        <p:spPr>
          <a:xfrm>
            <a:off x="457200" y="5669280"/>
            <a:ext cx="8229600" cy="1371600"/>
          </a:xfrm>
          <a:prstGeom prst="rect">
            <a:avLst/>
          </a:prstGeom>
          <a:noFill/>
        </p:spPr>
        <p:txBody>
          <a:bodyPr wrap="square">
            <a:spAutoFit/>
          </a:bodyPr>
          <a:lstStyle/>
          <a:p>
            <a:pPr algn="ctr">
              <a:defRPr sz="1400" b="0"/>
            </a:pPr>
            <a:r>
              <a:t>Sistem Sebagai Gatekeeper Logistik: Admin diwajibkan menginput Identitas Logistik (Batch/EXP/SN) serta Harga Beli (Modal) dari faktur supplier. Data ini masuk ke Kartu Stok dan menjadi bahan pantauan Superadmin di Dashboard.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b="1" sz="2800">
                <a:solidFill>
                  <a:srgbClr val="003366"/>
                </a:solidFill>
              </a:defRPr>
            </a:pPr>
            <a:r>
              <a:t>WORKFLOW PENERIMAAN BARANG &amp; LOGISTIK</a:t>
            </a:r>
          </a:p>
        </p:txBody>
      </p:sp>
      <p:sp>
        <p:nvSpPr>
          <p:cNvPr id="3" name="Rectangle 2"/>
          <p:cNvSpPr/>
          <p:nvPr/>
        </p:nvSpPr>
        <p:spPr>
          <a:xfrm>
            <a:off x="2286000" y="1097280"/>
            <a:ext cx="4572000" cy="1828800"/>
          </a:xfrm>
          <a:prstGeom prst="rect">
            <a:avLst/>
          </a:prstGeom>
          <a:solidFill>
            <a:srgbClr val="DCDCDC"/>
          </a:solidFill>
          <a:ln>
            <a:solidFill>
              <a:srgbClr val="96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646464"/>
                </a:solidFill>
              </a:defRPr>
            </a:pPr>
            <a:r>
              <a:t>[PLACEHOLDER: CLIPART WORKFLOW]</a:t>
            </a:r>
          </a:p>
        </p:txBody>
      </p:sp>
      <p:sp>
        <p:nvSpPr>
          <p:cNvPr id="4" name="Rectangle 3"/>
          <p:cNvSpPr/>
          <p:nvPr/>
        </p:nvSpPr>
        <p:spPr>
          <a:xfrm>
            <a:off x="2286000" y="3200400"/>
            <a:ext cx="4572000" cy="2286000"/>
          </a:xfrm>
          <a:prstGeom prst="rect">
            <a:avLst/>
          </a:prstGeom>
          <a:solidFill>
            <a:srgbClr val="DCDCDC"/>
          </a:solidFill>
          <a:ln>
            <a:solidFill>
              <a:srgbClr val="96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646464"/>
                </a:solidFill>
              </a:defRPr>
            </a:pPr>
            <a:r>
              <a:t>[PLACEHOLDER: WIREFRAME FORM PENERIMAAN]</a:t>
            </a:r>
          </a:p>
        </p:txBody>
      </p:sp>
      <p:sp>
        <p:nvSpPr>
          <p:cNvPr id="5" name="TextBox 4"/>
          <p:cNvSpPr txBox="1"/>
          <p:nvPr/>
        </p:nvSpPr>
        <p:spPr>
          <a:xfrm>
            <a:off x="457200" y="5669280"/>
            <a:ext cx="8229600" cy="1371600"/>
          </a:xfrm>
          <a:prstGeom prst="rect">
            <a:avLst/>
          </a:prstGeom>
          <a:noFill/>
        </p:spPr>
        <p:txBody>
          <a:bodyPr wrap="square">
            <a:spAutoFit/>
          </a:bodyPr>
          <a:lstStyle/>
          <a:p>
            <a:pPr algn="ctr">
              <a:defRPr sz="1400" b="0"/>
            </a:pPr>
            <a:r>
              <a:t>Sistem Sebagai Gatekeeper Logistik: Admin diwajibkan menginput Identitas Logistik (Batch/EXP/SN) serta Harga Beli (Modal) dari faktur supplier. Data ini masuk ke Kartu Stok dan menjadi bahan pantauan Superadmin di Dashboard.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b="1" sz="2800">
                <a:solidFill>
                  <a:srgbClr val="003366"/>
                </a:solidFill>
              </a:defRPr>
            </a:pPr>
            <a:r>
              <a:t>ACTIVITY DIAGRAM (VALIDASI SISTEM)</a:t>
            </a:r>
          </a:p>
        </p:txBody>
      </p:sp>
      <p:sp>
        <p:nvSpPr>
          <p:cNvPr id="3" name="Rectangle 2"/>
          <p:cNvSpPr/>
          <p:nvPr/>
        </p:nvSpPr>
        <p:spPr>
          <a:xfrm>
            <a:off x="457200" y="1371600"/>
            <a:ext cx="4572000" cy="4572000"/>
          </a:xfrm>
          <a:prstGeom prst="rect">
            <a:avLst/>
          </a:prstGeom>
          <a:solidFill>
            <a:srgbClr val="DCDCDC"/>
          </a:solidFill>
          <a:ln>
            <a:solidFill>
              <a:srgbClr val="96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646464"/>
                </a:solidFill>
              </a:defRPr>
            </a:pPr>
            <a:r>
              <a:t>[PLACEHOLDER: ACTIVITY DIAGRAM]</a:t>
            </a:r>
          </a:p>
        </p:txBody>
      </p:sp>
      <p:sp>
        <p:nvSpPr>
          <p:cNvPr id="4" name="TextBox 3"/>
          <p:cNvSpPr txBox="1"/>
          <p:nvPr/>
        </p:nvSpPr>
        <p:spPr>
          <a:xfrm>
            <a:off x="5486400" y="2286000"/>
            <a:ext cx="3200400" cy="3657600"/>
          </a:xfrm>
          <a:prstGeom prst="rect">
            <a:avLst/>
          </a:prstGeom>
          <a:noFill/>
        </p:spPr>
        <p:txBody>
          <a:bodyPr wrap="square">
            <a:spAutoFit/>
          </a:bodyPr>
          <a:lstStyle/>
          <a:p>
            <a:pPr algn="l">
              <a:defRPr sz="1600" b="0"/>
            </a:pPr>
            <a:r>
              <a:t>Pemodelan Logika Pengamanan Data:</a:t>
            </a:r>
            <a:br/>
            <a:br/>
            <a:r>
              <a:t>Alur sistem penerimaan barang menonjolkan percabangan logika (if/else). Sistem otomatis menolak pemrosesan data (mengembalikan admin ke form input) apabila identitas logistik medis terdeteksi kosong atau tidak lengkap.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b="1" sz="2800">
                <a:solidFill>
                  <a:srgbClr val="003366"/>
                </a:solidFill>
              </a:defRPr>
            </a:pPr>
            <a:r>
              <a:t>ACTIVITY DIAGRAM (VALIDASI SISTEM)</a:t>
            </a:r>
          </a:p>
        </p:txBody>
      </p:sp>
      <p:sp>
        <p:nvSpPr>
          <p:cNvPr id="3" name="Rectangle 2"/>
          <p:cNvSpPr/>
          <p:nvPr/>
        </p:nvSpPr>
        <p:spPr>
          <a:xfrm>
            <a:off x="457200" y="1371600"/>
            <a:ext cx="4572000" cy="4572000"/>
          </a:xfrm>
          <a:prstGeom prst="rect">
            <a:avLst/>
          </a:prstGeom>
          <a:solidFill>
            <a:srgbClr val="DCDCDC"/>
          </a:solidFill>
          <a:ln>
            <a:solidFill>
              <a:srgbClr val="96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646464"/>
                </a:solidFill>
              </a:defRPr>
            </a:pPr>
            <a:r>
              <a:t>[PLACEHOLDER: ACTIVITY DIAGRAM]</a:t>
            </a:r>
          </a:p>
        </p:txBody>
      </p:sp>
      <p:sp>
        <p:nvSpPr>
          <p:cNvPr id="4" name="TextBox 3"/>
          <p:cNvSpPr txBox="1"/>
          <p:nvPr/>
        </p:nvSpPr>
        <p:spPr>
          <a:xfrm>
            <a:off x="5486400" y="2286000"/>
            <a:ext cx="3200400" cy="3657600"/>
          </a:xfrm>
          <a:prstGeom prst="rect">
            <a:avLst/>
          </a:prstGeom>
          <a:noFill/>
        </p:spPr>
        <p:txBody>
          <a:bodyPr wrap="square">
            <a:spAutoFit/>
          </a:bodyPr>
          <a:lstStyle/>
          <a:p>
            <a:pPr algn="l">
              <a:defRPr sz="1600" b="0"/>
            </a:pPr>
            <a:r>
              <a:t>Pemodelan Logika Pengamanan Data:</a:t>
            </a:r>
            <a:br/>
            <a:br/>
            <a:r>
              <a:t>Alur sistem penerimaan barang menonjolkan percabangan logika (if/else). Sistem otomatis menolak pemrosesan data (mengembalikan admin ke form input) apabila identitas logistik medis terdeteksi kosong atau tidak lengkap.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b="1" sz="2800">
                <a:solidFill>
                  <a:srgbClr val="003366"/>
                </a:solidFill>
              </a:defRPr>
            </a:pPr>
            <a:r>
              <a:t>LOGICAL DATABASE (ERD)</a:t>
            </a:r>
          </a:p>
        </p:txBody>
      </p:sp>
      <p:sp>
        <p:nvSpPr>
          <p:cNvPr id="3" name="Rectangle 2"/>
          <p:cNvSpPr/>
          <p:nvPr/>
        </p:nvSpPr>
        <p:spPr>
          <a:xfrm>
            <a:off x="914400" y="1097280"/>
            <a:ext cx="7315200" cy="4572000"/>
          </a:xfrm>
          <a:prstGeom prst="rect">
            <a:avLst/>
          </a:prstGeom>
          <a:solidFill>
            <a:srgbClr val="DCDCDC"/>
          </a:solidFill>
          <a:ln>
            <a:solidFill>
              <a:srgbClr val="96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646464"/>
                </a:solidFill>
              </a:defRPr>
            </a:pPr>
            <a:r>
              <a:t>[PLACEHOLDER: GAMBAR RELASI 13 TABEL ERD]</a:t>
            </a:r>
          </a:p>
        </p:txBody>
      </p:sp>
      <p:sp>
        <p:nvSpPr>
          <p:cNvPr id="4" name="TextBox 3"/>
          <p:cNvSpPr txBox="1"/>
          <p:nvPr/>
        </p:nvSpPr>
        <p:spPr>
          <a:xfrm>
            <a:off x="457200" y="5852160"/>
            <a:ext cx="8229600" cy="1097280"/>
          </a:xfrm>
          <a:prstGeom prst="rect">
            <a:avLst/>
          </a:prstGeom>
          <a:noFill/>
        </p:spPr>
        <p:txBody>
          <a:bodyPr wrap="square">
            <a:spAutoFit/>
          </a:bodyPr>
          <a:lstStyle/>
          <a:p>
            <a:pPr algn="ctr">
              <a:defRPr sz="1400" b="0"/>
            </a:pPr>
            <a:r>
              <a:t>Arsitektur Relasional 4 Klaster Utama: Pangkalan data terdiri dari 13 tabel yang terbagi menjadi Klaster Aktor (Hak Akses RBAC), Klaster Konversi Multi-UOM, Klaster Logistik Medis (Stok &amp; Batch), dan Klaster Transaksi &amp; Riwayat Mutasi.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b="1" sz="2800">
                <a:solidFill>
                  <a:srgbClr val="003366"/>
                </a:solidFill>
              </a:defRPr>
            </a:pPr>
            <a:r>
              <a:t>LOGICAL DATABASE (ERD)</a:t>
            </a:r>
          </a:p>
        </p:txBody>
      </p:sp>
      <p:sp>
        <p:nvSpPr>
          <p:cNvPr id="3" name="Rectangle 2"/>
          <p:cNvSpPr/>
          <p:nvPr/>
        </p:nvSpPr>
        <p:spPr>
          <a:xfrm>
            <a:off x="914400" y="1097280"/>
            <a:ext cx="7315200" cy="4572000"/>
          </a:xfrm>
          <a:prstGeom prst="rect">
            <a:avLst/>
          </a:prstGeom>
          <a:solidFill>
            <a:srgbClr val="DCDCDC"/>
          </a:solidFill>
          <a:ln>
            <a:solidFill>
              <a:srgbClr val="96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646464"/>
                </a:solidFill>
              </a:defRPr>
            </a:pPr>
            <a:r>
              <a:t>[PLACEHOLDER: GAMBAR RELASI 13 TABEL ERD]</a:t>
            </a:r>
          </a:p>
        </p:txBody>
      </p:sp>
      <p:sp>
        <p:nvSpPr>
          <p:cNvPr id="4" name="TextBox 3"/>
          <p:cNvSpPr txBox="1"/>
          <p:nvPr/>
        </p:nvSpPr>
        <p:spPr>
          <a:xfrm>
            <a:off x="457200" y="5852160"/>
            <a:ext cx="8229600" cy="1097280"/>
          </a:xfrm>
          <a:prstGeom prst="rect">
            <a:avLst/>
          </a:prstGeom>
          <a:noFill/>
        </p:spPr>
        <p:txBody>
          <a:bodyPr wrap="square">
            <a:spAutoFit/>
          </a:bodyPr>
          <a:lstStyle/>
          <a:p>
            <a:pPr algn="ctr">
              <a:defRPr sz="1400" b="0"/>
            </a:pPr>
            <a:r>
              <a:t>Arsitektur Relasional 4 Klaster Utama: Pangkalan data terdiri dari 13 tabel yang terbagi menjadi Klaster Aktor (Hak Akses RBAC), Klaster Konversi Multi-UOM, Klaster Logistik Medis (Stok &amp; Batch), dan Klaster Transaksi &amp; Riwayat Mutasi.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b="1" sz="2800">
                <a:solidFill>
                  <a:srgbClr val="003366"/>
                </a:solidFill>
              </a:defRPr>
            </a:pPr>
            <a:r>
              <a:t>STRUKTUR TABEL ESENSIAL</a:t>
            </a:r>
          </a:p>
        </p:txBody>
      </p:sp>
      <p:sp>
        <p:nvSpPr>
          <p:cNvPr id="3" name="Rectangle 2"/>
          <p:cNvSpPr/>
          <p:nvPr/>
        </p:nvSpPr>
        <p:spPr>
          <a:xfrm>
            <a:off x="457200" y="1828800"/>
            <a:ext cx="3840480" cy="32004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920240"/>
            <a:ext cx="3657600" cy="3017520"/>
          </a:xfrm>
          <a:prstGeom prst="rect">
            <a:avLst/>
          </a:prstGeom>
          <a:noFill/>
        </p:spPr>
        <p:txBody>
          <a:bodyPr wrap="square">
            <a:spAutoFit/>
          </a:bodyPr>
          <a:lstStyle/>
          <a:p>
            <a:pPr algn="l">
              <a:defRPr sz="1600" b="0"/>
            </a:pPr>
            <a:r>
              <a:t>Tabel produk_variasi (Konversi Multi-UOM):</a:t>
            </a:r>
            <a:br/>
            <a:br/>
            <a:r>
              <a:t>Menyimpan field rasio_konversi pengunci perkalian matematis untuk mengubah kemasan grosir (Box) ke eceran (Strip) secara dinamis, serta mengunci Harga Jual statis.</a:t>
            </a:r>
          </a:p>
        </p:txBody>
      </p:sp>
      <p:sp>
        <p:nvSpPr>
          <p:cNvPr id="5" name="Rectangle 4"/>
          <p:cNvSpPr/>
          <p:nvPr/>
        </p:nvSpPr>
        <p:spPr>
          <a:xfrm>
            <a:off x="4846320" y="1828800"/>
            <a:ext cx="3840480" cy="32004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937760" y="1920240"/>
            <a:ext cx="3657600" cy="3017520"/>
          </a:xfrm>
          <a:prstGeom prst="rect">
            <a:avLst/>
          </a:prstGeom>
          <a:noFill/>
        </p:spPr>
        <p:txBody>
          <a:bodyPr wrap="square">
            <a:spAutoFit/>
          </a:bodyPr>
          <a:lstStyle/>
          <a:p>
            <a:pPr algn="l">
              <a:defRPr sz="1600" b="0"/>
            </a:pPr>
            <a:r>
              <a:t>Tabel stok_batch (Logika FEFO Obat):</a:t>
            </a:r>
            <a:br/>
            <a:br/>
            <a:r>
              <a:t>Menyimpan field no_batch dan tgl_exp. Sistem memotong stok fisik spesifik menggunakan perintah pengurutan masa kedaluwarsa terdekat (ORDER BY tgl_exp ASC).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b="1" sz="2800">
                <a:solidFill>
                  <a:srgbClr val="003366"/>
                </a:solidFill>
              </a:defRPr>
            </a:pPr>
            <a:r>
              <a:t>STRUKTUR TABEL ESENSIAL</a:t>
            </a:r>
          </a:p>
        </p:txBody>
      </p:sp>
      <p:sp>
        <p:nvSpPr>
          <p:cNvPr id="3" name="Rectangle 2"/>
          <p:cNvSpPr/>
          <p:nvPr/>
        </p:nvSpPr>
        <p:spPr>
          <a:xfrm>
            <a:off x="457200" y="1828800"/>
            <a:ext cx="3840480" cy="32004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920240"/>
            <a:ext cx="3657600" cy="3017520"/>
          </a:xfrm>
          <a:prstGeom prst="rect">
            <a:avLst/>
          </a:prstGeom>
          <a:noFill/>
        </p:spPr>
        <p:txBody>
          <a:bodyPr wrap="square">
            <a:spAutoFit/>
          </a:bodyPr>
          <a:lstStyle/>
          <a:p>
            <a:pPr algn="l">
              <a:defRPr sz="1600" b="0"/>
            </a:pPr>
            <a:r>
              <a:t>Tabel produk_variasi (Konversi Multi-UOM):</a:t>
            </a:r>
            <a:br/>
            <a:br/>
            <a:r>
              <a:t>Menyimpan field rasio_konversi pengunci perkalian matematis untuk mengubah kemasan grosir (Box) ke eceran (Strip) secara dinamis, serta mengunci Harga Jual statis.</a:t>
            </a:r>
          </a:p>
        </p:txBody>
      </p:sp>
      <p:sp>
        <p:nvSpPr>
          <p:cNvPr id="5" name="Rectangle 4"/>
          <p:cNvSpPr/>
          <p:nvPr/>
        </p:nvSpPr>
        <p:spPr>
          <a:xfrm>
            <a:off x="4846320" y="1828800"/>
            <a:ext cx="3840480" cy="32004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937760" y="1920240"/>
            <a:ext cx="3657600" cy="3017520"/>
          </a:xfrm>
          <a:prstGeom prst="rect">
            <a:avLst/>
          </a:prstGeom>
          <a:noFill/>
        </p:spPr>
        <p:txBody>
          <a:bodyPr wrap="square">
            <a:spAutoFit/>
          </a:bodyPr>
          <a:lstStyle/>
          <a:p>
            <a:pPr algn="l">
              <a:defRPr sz="1600" b="0"/>
            </a:pPr>
            <a:r>
              <a:t>Tabel stok_batch (Logika FEFO Obat):</a:t>
            </a:r>
            <a:br/>
            <a:br/>
            <a:r>
              <a:t>Menyimpan field no_batch dan tgl_exp. Sistem memotong stok fisik spesifik menggunakan perintah pengurutan masa kedaluwarsa terdekat (ORDER BY tgl_exp ASC).</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b="1" sz="2800">
                <a:solidFill>
                  <a:srgbClr val="003366"/>
                </a:solidFill>
              </a:defRPr>
            </a:pPr>
            <a:r>
              <a:t>DOKUMENTASI LAPANGAN</a:t>
            </a:r>
          </a:p>
        </p:txBody>
      </p:sp>
      <p:sp>
        <p:nvSpPr>
          <p:cNvPr id="3" name="Rectangle 2"/>
          <p:cNvSpPr/>
          <p:nvPr/>
        </p:nvSpPr>
        <p:spPr>
          <a:xfrm>
            <a:off x="1828800" y="1371600"/>
            <a:ext cx="2743200" cy="3657600"/>
          </a:xfrm>
          <a:prstGeom prst="rect">
            <a:avLst/>
          </a:prstGeom>
          <a:solidFill>
            <a:srgbClr val="DCDCDC"/>
          </a:solidFill>
          <a:ln>
            <a:solidFill>
              <a:srgbClr val="96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646464"/>
                </a:solidFill>
              </a:defRPr>
            </a:pPr>
            <a:r>
              <a:t>[FOTO APOTEK]</a:t>
            </a:r>
          </a:p>
        </p:txBody>
      </p:sp>
      <p:sp>
        <p:nvSpPr>
          <p:cNvPr id="4" name="Rectangle 3"/>
          <p:cNvSpPr/>
          <p:nvPr/>
        </p:nvSpPr>
        <p:spPr>
          <a:xfrm>
            <a:off x="5029200" y="1371600"/>
            <a:ext cx="2743200" cy="3657600"/>
          </a:xfrm>
          <a:prstGeom prst="rect">
            <a:avLst/>
          </a:prstGeom>
          <a:solidFill>
            <a:srgbClr val="DCDCDC"/>
          </a:solidFill>
          <a:ln>
            <a:solidFill>
              <a:srgbClr val="96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646464"/>
                </a:solidFill>
              </a:defRPr>
            </a:pPr>
            <a:r>
              <a:t>[FOTO DENGAN PEMILIK]</a:t>
            </a:r>
          </a:p>
        </p:txBody>
      </p:sp>
      <p:sp>
        <p:nvSpPr>
          <p:cNvPr id="5" name="TextBox 4"/>
          <p:cNvSpPr txBox="1"/>
          <p:nvPr/>
        </p:nvSpPr>
        <p:spPr>
          <a:xfrm>
            <a:off x="457200" y="5486400"/>
            <a:ext cx="8229600" cy="1371600"/>
          </a:xfrm>
          <a:prstGeom prst="rect">
            <a:avLst/>
          </a:prstGeom>
          <a:noFill/>
        </p:spPr>
        <p:txBody>
          <a:bodyPr wrap="square">
            <a:spAutoFit/>
          </a:bodyPr>
          <a:lstStyle/>
          <a:p>
            <a:pPr algn="ctr">
              <a:defRPr sz="1400" b="0"/>
            </a:pPr>
            <a:r>
              <a:t>Validasi Observasi Lapangan: Seluruh perancangan sistem informasi inventori dan analisis permasalahannya dibangun secara faktual berdasarkan hasil observasi langsung dan wawancara di ZenCare Medical.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b="1" sz="2800">
                <a:solidFill>
                  <a:srgbClr val="003366"/>
                </a:solidFill>
              </a:defRPr>
            </a:pPr>
            <a:r>
              <a:t>DOKUMENTASI LAPANGAN</a:t>
            </a:r>
          </a:p>
        </p:txBody>
      </p:sp>
      <p:sp>
        <p:nvSpPr>
          <p:cNvPr id="3" name="Rectangle 2"/>
          <p:cNvSpPr/>
          <p:nvPr/>
        </p:nvSpPr>
        <p:spPr>
          <a:xfrm>
            <a:off x="1828800" y="1371600"/>
            <a:ext cx="2743200" cy="3657600"/>
          </a:xfrm>
          <a:prstGeom prst="rect">
            <a:avLst/>
          </a:prstGeom>
          <a:solidFill>
            <a:srgbClr val="DCDCDC"/>
          </a:solidFill>
          <a:ln>
            <a:solidFill>
              <a:srgbClr val="96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646464"/>
                </a:solidFill>
              </a:defRPr>
            </a:pPr>
            <a:r>
              <a:t>[FOTO APOTEK]</a:t>
            </a:r>
          </a:p>
        </p:txBody>
      </p:sp>
      <p:sp>
        <p:nvSpPr>
          <p:cNvPr id="4" name="Rectangle 3"/>
          <p:cNvSpPr/>
          <p:nvPr/>
        </p:nvSpPr>
        <p:spPr>
          <a:xfrm>
            <a:off x="5029200" y="1371600"/>
            <a:ext cx="2743200" cy="3657600"/>
          </a:xfrm>
          <a:prstGeom prst="rect">
            <a:avLst/>
          </a:prstGeom>
          <a:solidFill>
            <a:srgbClr val="DCDCDC"/>
          </a:solidFill>
          <a:ln>
            <a:solidFill>
              <a:srgbClr val="96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646464"/>
                </a:solidFill>
              </a:defRPr>
            </a:pPr>
            <a:r>
              <a:t>[FOTO DENGAN PEMILIK]</a:t>
            </a:r>
          </a:p>
        </p:txBody>
      </p:sp>
      <p:sp>
        <p:nvSpPr>
          <p:cNvPr id="5" name="TextBox 4"/>
          <p:cNvSpPr txBox="1"/>
          <p:nvPr/>
        </p:nvSpPr>
        <p:spPr>
          <a:xfrm>
            <a:off x="457200" y="5486400"/>
            <a:ext cx="8229600" cy="1371600"/>
          </a:xfrm>
          <a:prstGeom prst="rect">
            <a:avLst/>
          </a:prstGeom>
          <a:noFill/>
        </p:spPr>
        <p:txBody>
          <a:bodyPr wrap="square">
            <a:spAutoFit/>
          </a:bodyPr>
          <a:lstStyle/>
          <a:p>
            <a:pPr algn="ctr">
              <a:defRPr sz="1400" b="0"/>
            </a:pPr>
            <a:r>
              <a:t>Validasi Observasi Lapangan: Seluruh perancangan sistem informasi inventori dan analisis permasalahannya dibangun secara faktual berdasarkan hasil observasi langsung dan wawancara di ZenCare Medical.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b="1" sz="2800">
                <a:solidFill>
                  <a:srgbClr val="003366"/>
                </a:solidFill>
              </a:defRPr>
            </a:pPr>
            <a:r>
              <a:t>KESIMPULAN</a:t>
            </a:r>
          </a:p>
        </p:txBody>
      </p:sp>
      <p:sp>
        <p:nvSpPr>
          <p:cNvPr id="3" name="TextBox 2"/>
          <p:cNvSpPr txBox="1"/>
          <p:nvPr/>
        </p:nvSpPr>
        <p:spPr>
          <a:xfrm>
            <a:off x="914400" y="1828800"/>
            <a:ext cx="7315200" cy="3657600"/>
          </a:xfrm>
          <a:prstGeom prst="rect">
            <a:avLst/>
          </a:prstGeom>
          <a:noFill/>
        </p:spPr>
        <p:txBody>
          <a:bodyPr wrap="square">
            <a:spAutoFit/>
          </a:bodyPr>
          <a:lstStyle/>
          <a:p>
            <a:pPr algn="ctr">
              <a:defRPr sz="1800" b="0"/>
            </a:pPr>
            <a:r>
              <a:t>Melalui penelitian ini, dirancang sebuah sistem informasi inventori omnichannel berbasis web yang bertujuan untuk menjembatani kesenjangan antara transaksi kasir fisik (POS) dan penjualan daring di ZenCare Medical. Dengan menerapkan metode pengembangan Rapid Application Development (RAD), sistem ini diharapkan dapat menjadi solusi atas permasalahan overselling dan inefisiensi konversi multi-satuan. Ke depannya, implementasi basis data terpusat dan fitur gatekeeper berlogika First Expired First Out (FEFO) pada sistem ini diproyeksikan mampu menciptakan tata kelola logistik medis yang jauh lebih akurat, aman, dan transparan.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b="1" sz="2800">
                <a:solidFill>
                  <a:srgbClr val="003366"/>
                </a:solidFill>
              </a:defRPr>
            </a:pPr>
            <a:r>
              <a:t>KESIMPULAN</a:t>
            </a:r>
          </a:p>
        </p:txBody>
      </p:sp>
      <p:sp>
        <p:nvSpPr>
          <p:cNvPr id="3" name="TextBox 2"/>
          <p:cNvSpPr txBox="1"/>
          <p:nvPr/>
        </p:nvSpPr>
        <p:spPr>
          <a:xfrm>
            <a:off x="914400" y="1828800"/>
            <a:ext cx="7315200" cy="3657600"/>
          </a:xfrm>
          <a:prstGeom prst="rect">
            <a:avLst/>
          </a:prstGeom>
          <a:noFill/>
        </p:spPr>
        <p:txBody>
          <a:bodyPr wrap="square">
            <a:spAutoFit/>
          </a:bodyPr>
          <a:lstStyle/>
          <a:p>
            <a:pPr algn="ctr">
              <a:defRPr sz="1800" b="0"/>
            </a:pPr>
            <a:r>
              <a:t>Melalui penelitian ini, dirancang sebuah sistem informasi inventori omnichannel berbasis web yang bertujuan untuk menjembatani kesenjangan antara transaksi kasir fisik (POS) dan penjualan daring di ZenCare Medical. Dengan menerapkan metode pengembangan Rapid Application Development (RAD), sistem ini diharapkan dapat menjadi solusi atas permasalahan overselling dan inefisiensi konversi multi-satuan. Ke depannya, implementasi basis data terpusat dan fitur gatekeeper berlogika First Expired First Out (FEFO) pada sistem ini diproyeksikan mampu menciptakan tata kelola logistik medis yang jauh lebih akurat, aman, dan transparan.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0" y="1828800"/>
            <a:ext cx="914400" cy="914400"/>
          </a:xfrm>
          <a:prstGeom prst="rect">
            <a:avLst/>
          </a:prstGeom>
          <a:solidFill>
            <a:srgbClr val="DCDCDC"/>
          </a:solidFill>
          <a:ln>
            <a:solidFill>
              <a:srgbClr val="96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646464"/>
                </a:solidFill>
              </a:defRPr>
            </a:pPr>
            <a:r>
              <a:t>[Logo]</a:t>
            </a:r>
          </a:p>
        </p:txBody>
      </p:sp>
      <p:sp>
        <p:nvSpPr>
          <p:cNvPr id="3" name="TextBox 2"/>
          <p:cNvSpPr txBox="1"/>
          <p:nvPr/>
        </p:nvSpPr>
        <p:spPr>
          <a:xfrm>
            <a:off x="914400" y="3200400"/>
            <a:ext cx="7315200" cy="1371600"/>
          </a:xfrm>
          <a:prstGeom prst="rect">
            <a:avLst/>
          </a:prstGeom>
          <a:noFill/>
        </p:spPr>
        <p:txBody>
          <a:bodyPr wrap="square">
            <a:spAutoFit/>
          </a:bodyPr>
          <a:lstStyle/>
          <a:p>
            <a:pPr algn="ctr">
              <a:defRPr sz="4000" b="1"/>
            </a:pPr>
            <a:r>
              <a:t>TERIMA KASIH</a:t>
            </a:r>
          </a:p>
        </p:txBody>
      </p:sp>
      <p:sp>
        <p:nvSpPr>
          <p:cNvPr id="4" name="TextBox 3"/>
          <p:cNvSpPr txBox="1"/>
          <p:nvPr/>
        </p:nvSpPr>
        <p:spPr>
          <a:xfrm>
            <a:off x="914400" y="4572000"/>
            <a:ext cx="7315200" cy="914400"/>
          </a:xfrm>
          <a:prstGeom prst="rect">
            <a:avLst/>
          </a:prstGeom>
          <a:noFill/>
        </p:spPr>
        <p:txBody>
          <a:bodyPr wrap="square">
            <a:spAutoFit/>
          </a:bodyPr>
          <a:lstStyle/>
          <a:p>
            <a:pPr algn="ctr">
              <a:defRPr sz="2400" b="0"/>
            </a:pPr>
            <a:r>
              <a:t>Sesi Tanya Jawab (Q&amp;A)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0" y="1828800"/>
            <a:ext cx="914400" cy="914400"/>
          </a:xfrm>
          <a:prstGeom prst="rect">
            <a:avLst/>
          </a:prstGeom>
          <a:solidFill>
            <a:srgbClr val="DCDCDC"/>
          </a:solidFill>
          <a:ln>
            <a:solidFill>
              <a:srgbClr val="96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646464"/>
                </a:solidFill>
              </a:defRPr>
            </a:pPr>
            <a:r>
              <a:t>[Logo]</a:t>
            </a:r>
          </a:p>
        </p:txBody>
      </p:sp>
      <p:sp>
        <p:nvSpPr>
          <p:cNvPr id="3" name="TextBox 2"/>
          <p:cNvSpPr txBox="1"/>
          <p:nvPr/>
        </p:nvSpPr>
        <p:spPr>
          <a:xfrm>
            <a:off x="914400" y="3200400"/>
            <a:ext cx="7315200" cy="1371600"/>
          </a:xfrm>
          <a:prstGeom prst="rect">
            <a:avLst/>
          </a:prstGeom>
          <a:noFill/>
        </p:spPr>
        <p:txBody>
          <a:bodyPr wrap="square">
            <a:spAutoFit/>
          </a:bodyPr>
          <a:lstStyle/>
          <a:p>
            <a:pPr algn="ctr">
              <a:defRPr sz="4000" b="1"/>
            </a:pPr>
            <a:r>
              <a:t>TERIMA KASIH</a:t>
            </a:r>
          </a:p>
        </p:txBody>
      </p:sp>
      <p:sp>
        <p:nvSpPr>
          <p:cNvPr id="4" name="TextBox 3"/>
          <p:cNvSpPr txBox="1"/>
          <p:nvPr/>
        </p:nvSpPr>
        <p:spPr>
          <a:xfrm>
            <a:off x="914400" y="4572000"/>
            <a:ext cx="7315200" cy="914400"/>
          </a:xfrm>
          <a:prstGeom prst="rect">
            <a:avLst/>
          </a:prstGeom>
          <a:noFill/>
        </p:spPr>
        <p:txBody>
          <a:bodyPr wrap="square">
            <a:spAutoFit/>
          </a:bodyPr>
          <a:lstStyle/>
          <a:p>
            <a:pPr algn="ctr">
              <a:defRPr sz="2400" b="0"/>
            </a:pPr>
            <a:r>
              <a:t>Sesi Tanya Jawab (Q&amp;A)</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1143000" y="3118914"/>
            <a:ext cx="16002000" cy="28575"/>
            <a:chOff x="0" y="0"/>
            <a:chExt cx="21336000" cy="38100"/>
          </a:xfrm>
        </p:grpSpPr>
        <p:sp>
          <p:nvSpPr>
            <p:cNvPr name="Freeform 5" id="5"/>
            <p:cNvSpPr/>
            <p:nvPr/>
          </p:nvSpPr>
          <p:spPr>
            <a:xfrm flipH="false" flipV="false" rot="0">
              <a:off x="0" y="0"/>
              <a:ext cx="21336000" cy="38100"/>
            </a:xfrm>
            <a:custGeom>
              <a:avLst/>
              <a:gdLst/>
              <a:ahLst/>
              <a:cxnLst/>
              <a:rect r="r" b="b" t="t" l="l"/>
              <a:pathLst>
                <a:path h="38100" w="21336000">
                  <a:moveTo>
                    <a:pt x="0" y="0"/>
                  </a:moveTo>
                  <a:lnTo>
                    <a:pt x="21336000" y="0"/>
                  </a:lnTo>
                  <a:lnTo>
                    <a:pt x="21336000" y="38100"/>
                  </a:lnTo>
                  <a:lnTo>
                    <a:pt x="0" y="38100"/>
                  </a:lnTo>
                  <a:close/>
                </a:path>
              </a:pathLst>
            </a:custGeom>
            <a:solidFill>
              <a:srgbClr val="E2E8F0"/>
            </a:solidFill>
          </p:spPr>
        </p:sp>
      </p:grpSp>
      <p:grpSp>
        <p:nvGrpSpPr>
          <p:cNvPr name="Group 6" id="6"/>
          <p:cNvGrpSpPr/>
          <p:nvPr/>
        </p:nvGrpSpPr>
        <p:grpSpPr>
          <a:xfrm rot="0">
            <a:off x="2312900" y="3287178"/>
            <a:ext cx="4129280" cy="6485087"/>
            <a:chOff x="0" y="0"/>
            <a:chExt cx="5505706" cy="8646782"/>
          </a:xfrm>
        </p:grpSpPr>
        <p:sp>
          <p:nvSpPr>
            <p:cNvPr name="Freeform 7" id="7" descr="image.png"/>
            <p:cNvSpPr/>
            <p:nvPr/>
          </p:nvSpPr>
          <p:spPr>
            <a:xfrm flipH="false" flipV="false" rot="0">
              <a:off x="0" y="0"/>
              <a:ext cx="5505706" cy="8646833"/>
            </a:xfrm>
            <a:custGeom>
              <a:avLst/>
              <a:gdLst/>
              <a:ahLst/>
              <a:cxnLst/>
              <a:rect r="r" b="b" t="t" l="l"/>
              <a:pathLst>
                <a:path h="8646833" w="5505706">
                  <a:moveTo>
                    <a:pt x="0" y="0"/>
                  </a:moveTo>
                  <a:lnTo>
                    <a:pt x="5505706" y="0"/>
                  </a:lnTo>
                  <a:lnTo>
                    <a:pt x="5505706" y="8646833"/>
                  </a:lnTo>
                  <a:lnTo>
                    <a:pt x="0" y="8646833"/>
                  </a:lnTo>
                  <a:lnTo>
                    <a:pt x="0" y="0"/>
                  </a:lnTo>
                  <a:close/>
                </a:path>
              </a:pathLst>
            </a:custGeom>
            <a:blipFill>
              <a:blip r:embed="rId4"/>
              <a:stretch>
                <a:fillRect l="-38787" t="0" r="-38787" b="-190"/>
              </a:stretch>
            </a:blipFill>
          </p:spPr>
        </p:sp>
      </p:grpSp>
      <p:sp>
        <p:nvSpPr>
          <p:cNvPr name="Freeform 8" id="8"/>
          <p:cNvSpPr/>
          <p:nvPr/>
        </p:nvSpPr>
        <p:spPr>
          <a:xfrm flipH="false" flipV="false" rot="66939">
            <a:off x="2570858" y="3586919"/>
            <a:ext cx="3613364" cy="5516902"/>
          </a:xfrm>
          <a:custGeom>
            <a:avLst/>
            <a:gdLst/>
            <a:ahLst/>
            <a:cxnLst/>
            <a:rect r="r" b="b" t="t" l="l"/>
            <a:pathLst>
              <a:path h="5516902" w="3613364">
                <a:moveTo>
                  <a:pt x="0" y="68301"/>
                </a:moveTo>
                <a:lnTo>
                  <a:pt x="3507255" y="0"/>
                </a:lnTo>
                <a:lnTo>
                  <a:pt x="3613363" y="5448600"/>
                </a:lnTo>
                <a:lnTo>
                  <a:pt x="106108" y="5516902"/>
                </a:lnTo>
                <a:lnTo>
                  <a:pt x="0" y="68301"/>
                </a:lnTo>
                <a:close/>
              </a:path>
            </a:pathLst>
          </a:custGeom>
          <a:blipFill>
            <a:blip r:embed="rId5"/>
            <a:stretch>
              <a:fillRect l="0" t="-1337" r="-423" b="-15593"/>
            </a:stretch>
          </a:blipFill>
        </p:spPr>
      </p:sp>
      <p:sp>
        <p:nvSpPr>
          <p:cNvPr name="TextBox 9" id="9"/>
          <p:cNvSpPr txBox="true"/>
          <p:nvPr/>
        </p:nvSpPr>
        <p:spPr>
          <a:xfrm rot="0">
            <a:off x="2753556" y="9112239"/>
            <a:ext cx="3400542" cy="550545"/>
          </a:xfrm>
          <a:prstGeom prst="rect">
            <a:avLst/>
          </a:prstGeom>
        </p:spPr>
        <p:txBody>
          <a:bodyPr anchor="t" rtlCol="false" tIns="0" lIns="0" bIns="0" rIns="0">
            <a:spAutoFit/>
          </a:bodyPr>
          <a:lstStyle/>
          <a:p>
            <a:pPr algn="ctr">
              <a:lnSpc>
                <a:spcPts val="2204"/>
              </a:lnSpc>
            </a:pPr>
            <a:r>
              <a:rPr lang="en-US" sz="1575">
                <a:solidFill>
                  <a:srgbClr val="334155"/>
                </a:solidFill>
                <a:latin typeface="DM Sans"/>
                <a:ea typeface="DM Sans"/>
                <a:cs typeface="DM Sans"/>
                <a:sym typeface="DM Sans"/>
              </a:rPr>
              <a:t>Rekapitulasi Denda Setiap Semester per Kelas</a:t>
            </a:r>
          </a:p>
        </p:txBody>
      </p:sp>
      <p:grpSp>
        <p:nvGrpSpPr>
          <p:cNvPr name="Group 10" id="10"/>
          <p:cNvGrpSpPr/>
          <p:nvPr/>
        </p:nvGrpSpPr>
        <p:grpSpPr>
          <a:xfrm rot="0">
            <a:off x="7078366" y="3287178"/>
            <a:ext cx="4129280" cy="6485087"/>
            <a:chOff x="0" y="0"/>
            <a:chExt cx="5505706" cy="8646782"/>
          </a:xfrm>
        </p:grpSpPr>
        <p:sp>
          <p:nvSpPr>
            <p:cNvPr name="Freeform 11" id="11" descr="image.png"/>
            <p:cNvSpPr/>
            <p:nvPr/>
          </p:nvSpPr>
          <p:spPr>
            <a:xfrm flipH="false" flipV="false" rot="0">
              <a:off x="0" y="0"/>
              <a:ext cx="5505706" cy="8646833"/>
            </a:xfrm>
            <a:custGeom>
              <a:avLst/>
              <a:gdLst/>
              <a:ahLst/>
              <a:cxnLst/>
              <a:rect r="r" b="b" t="t" l="l"/>
              <a:pathLst>
                <a:path h="8646833" w="5505706">
                  <a:moveTo>
                    <a:pt x="0" y="0"/>
                  </a:moveTo>
                  <a:lnTo>
                    <a:pt x="5505706" y="0"/>
                  </a:lnTo>
                  <a:lnTo>
                    <a:pt x="5505706" y="8646833"/>
                  </a:lnTo>
                  <a:lnTo>
                    <a:pt x="0" y="8646833"/>
                  </a:lnTo>
                  <a:lnTo>
                    <a:pt x="0" y="0"/>
                  </a:lnTo>
                  <a:close/>
                </a:path>
              </a:pathLst>
            </a:custGeom>
            <a:blipFill>
              <a:blip r:embed="rId4"/>
              <a:stretch>
                <a:fillRect l="-38787" t="0" r="-38787" b="-190"/>
              </a:stretch>
            </a:blipFill>
          </p:spPr>
        </p:sp>
      </p:grpSp>
      <p:sp>
        <p:nvSpPr>
          <p:cNvPr name="TextBox 12" id="12"/>
          <p:cNvSpPr txBox="true"/>
          <p:nvPr/>
        </p:nvSpPr>
        <p:spPr>
          <a:xfrm rot="0">
            <a:off x="7299688" y="9296111"/>
            <a:ext cx="3400542" cy="274320"/>
          </a:xfrm>
          <a:prstGeom prst="rect">
            <a:avLst/>
          </a:prstGeom>
        </p:spPr>
        <p:txBody>
          <a:bodyPr anchor="t" rtlCol="false" tIns="0" lIns="0" bIns="0" rIns="0">
            <a:spAutoFit/>
          </a:bodyPr>
          <a:lstStyle/>
          <a:p>
            <a:pPr algn="ctr">
              <a:lnSpc>
                <a:spcPts val="2204"/>
              </a:lnSpc>
            </a:pPr>
            <a:r>
              <a:rPr lang="en-US" sz="1575">
                <a:solidFill>
                  <a:srgbClr val="334155"/>
                </a:solidFill>
                <a:latin typeface="DM Sans"/>
                <a:ea typeface="DM Sans"/>
                <a:cs typeface="DM Sans"/>
                <a:sym typeface="DM Sans"/>
              </a:rPr>
              <a:t>Surat Peringatan (SP)</a:t>
            </a:r>
          </a:p>
        </p:txBody>
      </p:sp>
      <p:grpSp>
        <p:nvGrpSpPr>
          <p:cNvPr name="Group 13" id="13"/>
          <p:cNvGrpSpPr/>
          <p:nvPr/>
        </p:nvGrpSpPr>
        <p:grpSpPr>
          <a:xfrm rot="0">
            <a:off x="11845821" y="3287178"/>
            <a:ext cx="4129280" cy="6485087"/>
            <a:chOff x="0" y="0"/>
            <a:chExt cx="5505706" cy="8646782"/>
          </a:xfrm>
        </p:grpSpPr>
        <p:sp>
          <p:nvSpPr>
            <p:cNvPr name="Freeform 14" id="14" descr="image.png"/>
            <p:cNvSpPr/>
            <p:nvPr/>
          </p:nvSpPr>
          <p:spPr>
            <a:xfrm flipH="false" flipV="false" rot="0">
              <a:off x="0" y="0"/>
              <a:ext cx="5505706" cy="8646833"/>
            </a:xfrm>
            <a:custGeom>
              <a:avLst/>
              <a:gdLst/>
              <a:ahLst/>
              <a:cxnLst/>
              <a:rect r="r" b="b" t="t" l="l"/>
              <a:pathLst>
                <a:path h="8646833" w="5505706">
                  <a:moveTo>
                    <a:pt x="0" y="0"/>
                  </a:moveTo>
                  <a:lnTo>
                    <a:pt x="5505706" y="0"/>
                  </a:lnTo>
                  <a:lnTo>
                    <a:pt x="5505706" y="8646833"/>
                  </a:lnTo>
                  <a:lnTo>
                    <a:pt x="0" y="8646833"/>
                  </a:lnTo>
                  <a:lnTo>
                    <a:pt x="0" y="0"/>
                  </a:lnTo>
                  <a:close/>
                </a:path>
              </a:pathLst>
            </a:custGeom>
            <a:blipFill>
              <a:blip r:embed="rId4"/>
              <a:stretch>
                <a:fillRect l="-38787" t="0" r="-38787" b="-190"/>
              </a:stretch>
            </a:blipFill>
          </p:spPr>
        </p:sp>
      </p:grpSp>
      <p:sp>
        <p:nvSpPr>
          <p:cNvPr name="TextBox 15" id="15"/>
          <p:cNvSpPr txBox="true"/>
          <p:nvPr/>
        </p:nvSpPr>
        <p:spPr>
          <a:xfrm rot="0">
            <a:off x="12286477" y="9296111"/>
            <a:ext cx="3400542" cy="274320"/>
          </a:xfrm>
          <a:prstGeom prst="rect">
            <a:avLst/>
          </a:prstGeom>
        </p:spPr>
        <p:txBody>
          <a:bodyPr anchor="t" rtlCol="false" tIns="0" lIns="0" bIns="0" rIns="0">
            <a:spAutoFit/>
          </a:bodyPr>
          <a:lstStyle/>
          <a:p>
            <a:pPr algn="ctr">
              <a:lnSpc>
                <a:spcPts val="2204"/>
              </a:lnSpc>
            </a:pPr>
            <a:r>
              <a:rPr lang="en-US" sz="1575">
                <a:solidFill>
                  <a:srgbClr val="334155"/>
                </a:solidFill>
                <a:latin typeface="DM Sans"/>
                <a:ea typeface="DM Sans"/>
                <a:cs typeface="DM Sans"/>
                <a:sym typeface="DM Sans"/>
              </a:rPr>
              <a:t>Rapor Tata Tertib Siswa</a:t>
            </a:r>
          </a:p>
        </p:txBody>
      </p:sp>
      <p:sp>
        <p:nvSpPr>
          <p:cNvPr name="Freeform 16" id="16"/>
          <p:cNvSpPr/>
          <p:nvPr/>
        </p:nvSpPr>
        <p:spPr>
          <a:xfrm flipH="false" flipV="false" rot="0">
            <a:off x="7422473" y="3636455"/>
            <a:ext cx="3443054" cy="5423146"/>
          </a:xfrm>
          <a:custGeom>
            <a:avLst/>
            <a:gdLst/>
            <a:ahLst/>
            <a:cxnLst/>
            <a:rect r="r" b="b" t="t" l="l"/>
            <a:pathLst>
              <a:path h="5423146" w="3443054">
                <a:moveTo>
                  <a:pt x="0" y="0"/>
                </a:moveTo>
                <a:lnTo>
                  <a:pt x="3443054" y="0"/>
                </a:lnTo>
                <a:lnTo>
                  <a:pt x="3443054" y="5423146"/>
                </a:lnTo>
                <a:lnTo>
                  <a:pt x="0" y="5423146"/>
                </a:lnTo>
                <a:lnTo>
                  <a:pt x="0" y="0"/>
                </a:lnTo>
                <a:close/>
              </a:path>
            </a:pathLst>
          </a:custGeom>
          <a:blipFill>
            <a:blip r:embed="rId6"/>
            <a:stretch>
              <a:fillRect l="0" t="0" r="0" b="-12867"/>
            </a:stretch>
          </a:blipFill>
        </p:spPr>
      </p:sp>
      <p:sp>
        <p:nvSpPr>
          <p:cNvPr name="Freeform 17" id="17"/>
          <p:cNvSpPr/>
          <p:nvPr/>
        </p:nvSpPr>
        <p:spPr>
          <a:xfrm flipH="false" flipV="false" rot="0">
            <a:off x="12257317" y="3636455"/>
            <a:ext cx="3306288" cy="5423146"/>
          </a:xfrm>
          <a:custGeom>
            <a:avLst/>
            <a:gdLst/>
            <a:ahLst/>
            <a:cxnLst/>
            <a:rect r="r" b="b" t="t" l="l"/>
            <a:pathLst>
              <a:path h="5423146" w="3306288">
                <a:moveTo>
                  <a:pt x="0" y="0"/>
                </a:moveTo>
                <a:lnTo>
                  <a:pt x="3306287" y="0"/>
                </a:lnTo>
                <a:lnTo>
                  <a:pt x="3306287" y="5423146"/>
                </a:lnTo>
                <a:lnTo>
                  <a:pt x="0" y="5423146"/>
                </a:lnTo>
                <a:lnTo>
                  <a:pt x="0" y="0"/>
                </a:lnTo>
                <a:close/>
              </a:path>
            </a:pathLst>
          </a:custGeom>
          <a:blipFill>
            <a:blip r:embed="rId7"/>
            <a:stretch>
              <a:fillRect l="0" t="0" r="0" b="-8384"/>
            </a:stretch>
          </a:blipFill>
        </p:spPr>
      </p:sp>
      <p:sp>
        <p:nvSpPr>
          <p:cNvPr name="TextBox 18" id="18"/>
          <p:cNvSpPr txBox="true"/>
          <p:nvPr/>
        </p:nvSpPr>
        <p:spPr>
          <a:xfrm rot="0">
            <a:off x="1143000" y="2161651"/>
            <a:ext cx="13049833" cy="714375"/>
          </a:xfrm>
          <a:prstGeom prst="rect">
            <a:avLst/>
          </a:prstGeom>
        </p:spPr>
        <p:txBody>
          <a:bodyPr anchor="t" rtlCol="false" tIns="0" lIns="0" bIns="0" rIns="0">
            <a:spAutoFit/>
          </a:bodyPr>
          <a:lstStyle/>
          <a:p>
            <a:pPr algn="l">
              <a:lnSpc>
                <a:spcPts val="5670"/>
              </a:lnSpc>
            </a:pPr>
            <a:r>
              <a:rPr lang="en-US" b="true" sz="4725">
                <a:solidFill>
                  <a:srgbClr val="005088"/>
                </a:solidFill>
                <a:latin typeface="Merriweather Bold"/>
                <a:ea typeface="Merriweather Bold"/>
                <a:cs typeface="Merriweather Bold"/>
                <a:sym typeface="Merriweather Bold"/>
              </a:rPr>
              <a:t>Dokumentasi Praktik Kerja Lapangan</a:t>
            </a:r>
          </a:p>
        </p:txBody>
      </p:sp>
      <p:sp>
        <p:nvSpPr>
          <p:cNvPr name="TextBox 19" id="19"/>
          <p:cNvSpPr txBox="true"/>
          <p:nvPr/>
        </p:nvSpPr>
        <p:spPr>
          <a:xfrm rot="0">
            <a:off x="16067361" y="543900"/>
            <a:ext cx="2048630" cy="434025"/>
          </a:xfrm>
          <a:prstGeom prst="rect">
            <a:avLst/>
          </a:prstGeom>
        </p:spPr>
        <p:txBody>
          <a:bodyPr anchor="t" rtlCol="false" tIns="0" lIns="0" bIns="0" rIns="0">
            <a:spAutoFit/>
          </a:bodyPr>
          <a:lstStyle/>
          <a:p>
            <a:pPr algn="ctr">
              <a:lnSpc>
                <a:spcPts val="3887"/>
              </a:lnSpc>
            </a:pPr>
            <a:r>
              <a:rPr lang="en-US" b="true" sz="2025">
                <a:solidFill>
                  <a:srgbClr val="64748B"/>
                </a:solidFill>
                <a:latin typeface="DM Sans Bold"/>
                <a:ea typeface="DM Sans Bold"/>
                <a:cs typeface="DM Sans Bold"/>
                <a:sym typeface="DM Sans Bold"/>
              </a:rPr>
              <a:t>SEMINAR PKL</a:t>
            </a:r>
          </a:p>
        </p:txBody>
      </p:sp>
      <p:sp>
        <p:nvSpPr>
          <p:cNvPr name="Freeform 20" id="20"/>
          <p:cNvSpPr/>
          <p:nvPr/>
        </p:nvSpPr>
        <p:spPr>
          <a:xfrm flipH="false" flipV="false" rot="0">
            <a:off x="354151" y="315984"/>
            <a:ext cx="5929218" cy="1228493"/>
          </a:xfrm>
          <a:custGeom>
            <a:avLst/>
            <a:gdLst/>
            <a:ahLst/>
            <a:cxnLst/>
            <a:rect r="r" b="b" t="t" l="l"/>
            <a:pathLst>
              <a:path h="1228493" w="5929218">
                <a:moveTo>
                  <a:pt x="0" y="0"/>
                </a:moveTo>
                <a:lnTo>
                  <a:pt x="5929219" y="0"/>
                </a:lnTo>
                <a:lnTo>
                  <a:pt x="5929219" y="1228493"/>
                </a:lnTo>
                <a:lnTo>
                  <a:pt x="0" y="1228493"/>
                </a:lnTo>
                <a:lnTo>
                  <a:pt x="0" y="0"/>
                </a:lnTo>
                <a:close/>
              </a:path>
            </a:pathLst>
          </a:custGeom>
          <a:blipFill>
            <a:blip r:embed="rId8"/>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3093720" y="3395139"/>
            <a:ext cx="5143500" cy="5387207"/>
            <a:chOff x="0" y="0"/>
            <a:chExt cx="6858000" cy="7182942"/>
          </a:xfrm>
        </p:grpSpPr>
        <p:sp>
          <p:nvSpPr>
            <p:cNvPr name="Freeform 5" id="5" descr="image.png"/>
            <p:cNvSpPr/>
            <p:nvPr/>
          </p:nvSpPr>
          <p:spPr>
            <a:xfrm flipH="false" flipV="false" rot="0">
              <a:off x="0" y="0"/>
              <a:ext cx="6858000" cy="7182993"/>
            </a:xfrm>
            <a:custGeom>
              <a:avLst/>
              <a:gdLst/>
              <a:ahLst/>
              <a:cxnLst/>
              <a:rect r="r" b="b" t="t" l="l"/>
              <a:pathLst>
                <a:path h="7182993" w="6858000">
                  <a:moveTo>
                    <a:pt x="0" y="0"/>
                  </a:moveTo>
                  <a:lnTo>
                    <a:pt x="6858000" y="0"/>
                  </a:lnTo>
                  <a:lnTo>
                    <a:pt x="6858000" y="7182993"/>
                  </a:lnTo>
                  <a:lnTo>
                    <a:pt x="0" y="7182993"/>
                  </a:lnTo>
                  <a:lnTo>
                    <a:pt x="0" y="0"/>
                  </a:lnTo>
                  <a:close/>
                </a:path>
              </a:pathLst>
            </a:custGeom>
            <a:blipFill>
              <a:blip r:embed="rId4"/>
              <a:stretch>
                <a:fillRect l="-9212" t="0" r="-9212" b="-190"/>
              </a:stretch>
            </a:blipFill>
          </p:spPr>
        </p:sp>
      </p:grpSp>
      <p:grpSp>
        <p:nvGrpSpPr>
          <p:cNvPr name="Group 6" id="6"/>
          <p:cNvGrpSpPr/>
          <p:nvPr/>
        </p:nvGrpSpPr>
        <p:grpSpPr>
          <a:xfrm rot="0">
            <a:off x="3250883" y="3552301"/>
            <a:ext cx="4829175" cy="3571875"/>
            <a:chOff x="0" y="0"/>
            <a:chExt cx="6438900" cy="4762500"/>
          </a:xfrm>
        </p:grpSpPr>
        <p:sp>
          <p:nvSpPr>
            <p:cNvPr name="Freeform 7" id="7" descr="image.png"/>
            <p:cNvSpPr/>
            <p:nvPr/>
          </p:nvSpPr>
          <p:spPr>
            <a:xfrm flipH="false" flipV="false" rot="0">
              <a:off x="0" y="0"/>
              <a:ext cx="6438900" cy="4762500"/>
            </a:xfrm>
            <a:custGeom>
              <a:avLst/>
              <a:gdLst/>
              <a:ahLst/>
              <a:cxnLst/>
              <a:rect r="r" b="b" t="t" l="l"/>
              <a:pathLst>
                <a:path h="4762500" w="6438900">
                  <a:moveTo>
                    <a:pt x="0" y="0"/>
                  </a:moveTo>
                  <a:lnTo>
                    <a:pt x="6438900" y="0"/>
                  </a:lnTo>
                  <a:lnTo>
                    <a:pt x="6438900" y="4762500"/>
                  </a:lnTo>
                  <a:lnTo>
                    <a:pt x="0" y="4762500"/>
                  </a:lnTo>
                  <a:lnTo>
                    <a:pt x="0" y="0"/>
                  </a:lnTo>
                  <a:close/>
                </a:path>
              </a:pathLst>
            </a:custGeom>
            <a:blipFill>
              <a:blip r:embed="rId5"/>
              <a:stretch>
                <a:fillRect l="0" t="0" r="0" b="-103"/>
              </a:stretch>
            </a:blipFill>
          </p:spPr>
        </p:sp>
      </p:grpSp>
      <p:grpSp>
        <p:nvGrpSpPr>
          <p:cNvPr name="Group 8" id="8"/>
          <p:cNvGrpSpPr/>
          <p:nvPr/>
        </p:nvGrpSpPr>
        <p:grpSpPr>
          <a:xfrm rot="0">
            <a:off x="3265170" y="3566589"/>
            <a:ext cx="4800600" cy="4381500"/>
            <a:chOff x="0" y="0"/>
            <a:chExt cx="6400800" cy="5842000"/>
          </a:xfrm>
        </p:grpSpPr>
        <p:sp>
          <p:nvSpPr>
            <p:cNvPr name="Freeform 9" id="9"/>
            <p:cNvSpPr/>
            <p:nvPr/>
          </p:nvSpPr>
          <p:spPr>
            <a:xfrm flipH="false" flipV="false" rot="0">
              <a:off x="0" y="0"/>
              <a:ext cx="6400800" cy="5842000"/>
            </a:xfrm>
            <a:custGeom>
              <a:avLst/>
              <a:gdLst/>
              <a:ahLst/>
              <a:cxnLst/>
              <a:rect r="r" b="b" t="t" l="l"/>
              <a:pathLst>
                <a:path h="5842000" w="6400800">
                  <a:moveTo>
                    <a:pt x="0" y="0"/>
                  </a:moveTo>
                  <a:lnTo>
                    <a:pt x="6400800" y="0"/>
                  </a:lnTo>
                  <a:lnTo>
                    <a:pt x="6400800" y="5842000"/>
                  </a:lnTo>
                  <a:lnTo>
                    <a:pt x="0" y="5842000"/>
                  </a:lnTo>
                  <a:lnTo>
                    <a:pt x="0" y="0"/>
                  </a:lnTo>
                  <a:close/>
                </a:path>
              </a:pathLst>
            </a:custGeom>
            <a:blipFill>
              <a:blip r:embed="rId6"/>
              <a:stretch>
                <a:fillRect l="0" t="-60260" r="0" b="-34521"/>
              </a:stretch>
            </a:blipFill>
          </p:spPr>
        </p:sp>
      </p:grpSp>
      <p:grpSp>
        <p:nvGrpSpPr>
          <p:cNvPr name="Group 10" id="10"/>
          <p:cNvGrpSpPr/>
          <p:nvPr/>
        </p:nvGrpSpPr>
        <p:grpSpPr>
          <a:xfrm rot="0">
            <a:off x="1143000" y="3118914"/>
            <a:ext cx="16002000" cy="28575"/>
            <a:chOff x="0" y="0"/>
            <a:chExt cx="21336000" cy="38100"/>
          </a:xfrm>
        </p:grpSpPr>
        <p:sp>
          <p:nvSpPr>
            <p:cNvPr name="Freeform 11" id="11"/>
            <p:cNvSpPr/>
            <p:nvPr/>
          </p:nvSpPr>
          <p:spPr>
            <a:xfrm flipH="false" flipV="false" rot="0">
              <a:off x="0" y="0"/>
              <a:ext cx="21336000" cy="38100"/>
            </a:xfrm>
            <a:custGeom>
              <a:avLst/>
              <a:gdLst/>
              <a:ahLst/>
              <a:cxnLst/>
              <a:rect r="r" b="b" t="t" l="l"/>
              <a:pathLst>
                <a:path h="38100" w="21336000">
                  <a:moveTo>
                    <a:pt x="0" y="0"/>
                  </a:moveTo>
                  <a:lnTo>
                    <a:pt x="21336000" y="0"/>
                  </a:lnTo>
                  <a:lnTo>
                    <a:pt x="21336000" y="38100"/>
                  </a:lnTo>
                  <a:lnTo>
                    <a:pt x="0" y="38100"/>
                  </a:lnTo>
                  <a:close/>
                </a:path>
              </a:pathLst>
            </a:custGeom>
            <a:solidFill>
              <a:srgbClr val="E2E8F0"/>
            </a:solidFill>
          </p:spPr>
        </p:sp>
      </p:grpSp>
      <p:sp>
        <p:nvSpPr>
          <p:cNvPr name="TextBox 12" id="12"/>
          <p:cNvSpPr txBox="true"/>
          <p:nvPr/>
        </p:nvSpPr>
        <p:spPr>
          <a:xfrm rot="0">
            <a:off x="3250883" y="8173831"/>
            <a:ext cx="4829175" cy="351512"/>
          </a:xfrm>
          <a:prstGeom prst="rect">
            <a:avLst/>
          </a:prstGeom>
        </p:spPr>
        <p:txBody>
          <a:bodyPr anchor="t" rtlCol="false" tIns="0" lIns="0" bIns="0" rIns="0">
            <a:spAutoFit/>
          </a:bodyPr>
          <a:lstStyle/>
          <a:p>
            <a:pPr algn="ctr">
              <a:lnSpc>
                <a:spcPts val="3022"/>
              </a:lnSpc>
            </a:pPr>
            <a:r>
              <a:rPr lang="en-US" sz="1575">
                <a:solidFill>
                  <a:srgbClr val="334155"/>
                </a:solidFill>
                <a:latin typeface="DM Sans"/>
                <a:ea typeface="DM Sans"/>
                <a:cs typeface="DM Sans"/>
                <a:sym typeface="DM Sans"/>
              </a:rPr>
              <a:t>Wawancara-Observasi Koordinator Tim Tatibsi</a:t>
            </a:r>
          </a:p>
        </p:txBody>
      </p:sp>
      <p:sp>
        <p:nvSpPr>
          <p:cNvPr name="TextBox 13" id="13"/>
          <p:cNvSpPr txBox="true"/>
          <p:nvPr/>
        </p:nvSpPr>
        <p:spPr>
          <a:xfrm rot="0">
            <a:off x="1143000" y="2161651"/>
            <a:ext cx="13049833" cy="714375"/>
          </a:xfrm>
          <a:prstGeom prst="rect">
            <a:avLst/>
          </a:prstGeom>
        </p:spPr>
        <p:txBody>
          <a:bodyPr anchor="t" rtlCol="false" tIns="0" lIns="0" bIns="0" rIns="0">
            <a:spAutoFit/>
          </a:bodyPr>
          <a:lstStyle/>
          <a:p>
            <a:pPr algn="l">
              <a:lnSpc>
                <a:spcPts val="5670"/>
              </a:lnSpc>
            </a:pPr>
            <a:r>
              <a:rPr lang="en-US" b="true" sz="4725">
                <a:solidFill>
                  <a:srgbClr val="005088"/>
                </a:solidFill>
                <a:latin typeface="Merriweather Bold"/>
                <a:ea typeface="Merriweather Bold"/>
                <a:cs typeface="Merriweather Bold"/>
                <a:sym typeface="Merriweather Bold"/>
              </a:rPr>
              <a:t>Dokumentasi Praktik Kerja Lapangan</a:t>
            </a:r>
          </a:p>
        </p:txBody>
      </p:sp>
      <p:sp>
        <p:nvSpPr>
          <p:cNvPr name="TextBox 14" id="14"/>
          <p:cNvSpPr txBox="true"/>
          <p:nvPr/>
        </p:nvSpPr>
        <p:spPr>
          <a:xfrm rot="0">
            <a:off x="16067361" y="543900"/>
            <a:ext cx="2048630" cy="434025"/>
          </a:xfrm>
          <a:prstGeom prst="rect">
            <a:avLst/>
          </a:prstGeom>
        </p:spPr>
        <p:txBody>
          <a:bodyPr anchor="t" rtlCol="false" tIns="0" lIns="0" bIns="0" rIns="0">
            <a:spAutoFit/>
          </a:bodyPr>
          <a:lstStyle/>
          <a:p>
            <a:pPr algn="ctr">
              <a:lnSpc>
                <a:spcPts val="3887"/>
              </a:lnSpc>
            </a:pPr>
            <a:r>
              <a:rPr lang="en-US" b="true" sz="2025">
                <a:solidFill>
                  <a:srgbClr val="64748B"/>
                </a:solidFill>
                <a:latin typeface="DM Sans Bold"/>
                <a:ea typeface="DM Sans Bold"/>
                <a:cs typeface="DM Sans Bold"/>
                <a:sym typeface="DM Sans Bold"/>
              </a:rPr>
              <a:t>SEMINAR PKL</a:t>
            </a:r>
          </a:p>
        </p:txBody>
      </p:sp>
      <p:grpSp>
        <p:nvGrpSpPr>
          <p:cNvPr name="Group 15" id="15"/>
          <p:cNvGrpSpPr/>
          <p:nvPr/>
        </p:nvGrpSpPr>
        <p:grpSpPr>
          <a:xfrm rot="0">
            <a:off x="10051554" y="4430573"/>
            <a:ext cx="5143500" cy="5387207"/>
            <a:chOff x="0" y="0"/>
            <a:chExt cx="6858000" cy="7182942"/>
          </a:xfrm>
        </p:grpSpPr>
        <p:sp>
          <p:nvSpPr>
            <p:cNvPr name="Freeform 16" id="16" descr="image.png"/>
            <p:cNvSpPr/>
            <p:nvPr/>
          </p:nvSpPr>
          <p:spPr>
            <a:xfrm flipH="false" flipV="false" rot="0">
              <a:off x="0" y="0"/>
              <a:ext cx="6858000" cy="7182993"/>
            </a:xfrm>
            <a:custGeom>
              <a:avLst/>
              <a:gdLst/>
              <a:ahLst/>
              <a:cxnLst/>
              <a:rect r="r" b="b" t="t" l="l"/>
              <a:pathLst>
                <a:path h="7182993" w="6858000">
                  <a:moveTo>
                    <a:pt x="0" y="0"/>
                  </a:moveTo>
                  <a:lnTo>
                    <a:pt x="6858000" y="0"/>
                  </a:lnTo>
                  <a:lnTo>
                    <a:pt x="6858000" y="7182993"/>
                  </a:lnTo>
                  <a:lnTo>
                    <a:pt x="0" y="7182993"/>
                  </a:lnTo>
                  <a:lnTo>
                    <a:pt x="0" y="0"/>
                  </a:lnTo>
                  <a:close/>
                </a:path>
              </a:pathLst>
            </a:custGeom>
            <a:blipFill>
              <a:blip r:embed="rId4"/>
              <a:stretch>
                <a:fillRect l="-9212" t="0" r="-9212" b="-190"/>
              </a:stretch>
            </a:blipFill>
          </p:spPr>
        </p:sp>
      </p:grpSp>
      <p:grpSp>
        <p:nvGrpSpPr>
          <p:cNvPr name="Group 17" id="17"/>
          <p:cNvGrpSpPr/>
          <p:nvPr/>
        </p:nvGrpSpPr>
        <p:grpSpPr>
          <a:xfrm rot="0">
            <a:off x="10208716" y="4587735"/>
            <a:ext cx="4829175" cy="3571875"/>
            <a:chOff x="0" y="0"/>
            <a:chExt cx="6438900" cy="4762500"/>
          </a:xfrm>
        </p:grpSpPr>
        <p:sp>
          <p:nvSpPr>
            <p:cNvPr name="Freeform 18" id="18" descr="image.png"/>
            <p:cNvSpPr/>
            <p:nvPr/>
          </p:nvSpPr>
          <p:spPr>
            <a:xfrm flipH="false" flipV="false" rot="0">
              <a:off x="0" y="0"/>
              <a:ext cx="6438900" cy="4762500"/>
            </a:xfrm>
            <a:custGeom>
              <a:avLst/>
              <a:gdLst/>
              <a:ahLst/>
              <a:cxnLst/>
              <a:rect r="r" b="b" t="t" l="l"/>
              <a:pathLst>
                <a:path h="4762500" w="6438900">
                  <a:moveTo>
                    <a:pt x="0" y="0"/>
                  </a:moveTo>
                  <a:lnTo>
                    <a:pt x="6438900" y="0"/>
                  </a:lnTo>
                  <a:lnTo>
                    <a:pt x="6438900" y="4762500"/>
                  </a:lnTo>
                  <a:lnTo>
                    <a:pt x="0" y="4762500"/>
                  </a:lnTo>
                  <a:lnTo>
                    <a:pt x="0" y="0"/>
                  </a:lnTo>
                  <a:close/>
                </a:path>
              </a:pathLst>
            </a:custGeom>
            <a:blipFill>
              <a:blip r:embed="rId5"/>
              <a:stretch>
                <a:fillRect l="0" t="0" r="0" b="-103"/>
              </a:stretch>
            </a:blipFill>
          </p:spPr>
        </p:sp>
      </p:grpSp>
      <p:grpSp>
        <p:nvGrpSpPr>
          <p:cNvPr name="Group 19" id="19"/>
          <p:cNvGrpSpPr/>
          <p:nvPr/>
        </p:nvGrpSpPr>
        <p:grpSpPr>
          <a:xfrm rot="0">
            <a:off x="10223004" y="4602023"/>
            <a:ext cx="4800600" cy="4381500"/>
            <a:chOff x="0" y="0"/>
            <a:chExt cx="6400800" cy="5842000"/>
          </a:xfrm>
        </p:grpSpPr>
        <p:sp>
          <p:nvSpPr>
            <p:cNvPr name="Freeform 20" id="20"/>
            <p:cNvSpPr/>
            <p:nvPr/>
          </p:nvSpPr>
          <p:spPr>
            <a:xfrm flipH="false" flipV="false" rot="0">
              <a:off x="0" y="0"/>
              <a:ext cx="6400800" cy="5842000"/>
            </a:xfrm>
            <a:custGeom>
              <a:avLst/>
              <a:gdLst/>
              <a:ahLst/>
              <a:cxnLst/>
              <a:rect r="r" b="b" t="t" l="l"/>
              <a:pathLst>
                <a:path h="5842000" w="6400800">
                  <a:moveTo>
                    <a:pt x="0" y="0"/>
                  </a:moveTo>
                  <a:lnTo>
                    <a:pt x="6400800" y="0"/>
                  </a:lnTo>
                  <a:lnTo>
                    <a:pt x="6400800" y="5842000"/>
                  </a:lnTo>
                  <a:lnTo>
                    <a:pt x="0" y="5842000"/>
                  </a:lnTo>
                  <a:lnTo>
                    <a:pt x="0" y="0"/>
                  </a:lnTo>
                  <a:close/>
                </a:path>
              </a:pathLst>
            </a:custGeom>
            <a:blipFill>
              <a:blip r:embed="rId7"/>
              <a:stretch>
                <a:fillRect l="0" t="-47509" r="0" b="-47509"/>
              </a:stretch>
            </a:blipFill>
          </p:spPr>
        </p:sp>
      </p:grpSp>
      <p:sp>
        <p:nvSpPr>
          <p:cNvPr name="TextBox 21" id="21"/>
          <p:cNvSpPr txBox="true"/>
          <p:nvPr/>
        </p:nvSpPr>
        <p:spPr>
          <a:xfrm rot="0">
            <a:off x="10208716" y="9209265"/>
            <a:ext cx="4829175" cy="351512"/>
          </a:xfrm>
          <a:prstGeom prst="rect">
            <a:avLst/>
          </a:prstGeom>
        </p:spPr>
        <p:txBody>
          <a:bodyPr anchor="t" rtlCol="false" tIns="0" lIns="0" bIns="0" rIns="0">
            <a:spAutoFit/>
          </a:bodyPr>
          <a:lstStyle/>
          <a:p>
            <a:pPr algn="ctr">
              <a:lnSpc>
                <a:spcPts val="3022"/>
              </a:lnSpc>
            </a:pPr>
            <a:r>
              <a:rPr lang="en-US" sz="1575">
                <a:solidFill>
                  <a:srgbClr val="334155"/>
                </a:solidFill>
                <a:latin typeface="DM Sans"/>
                <a:ea typeface="DM Sans"/>
                <a:cs typeface="DM Sans"/>
                <a:sym typeface="DM Sans"/>
              </a:rPr>
              <a:t>Presentasi Demo Sistem</a:t>
            </a:r>
          </a:p>
        </p:txBody>
      </p:sp>
      <p:sp>
        <p:nvSpPr>
          <p:cNvPr name="Freeform 22" id="22"/>
          <p:cNvSpPr/>
          <p:nvPr/>
        </p:nvSpPr>
        <p:spPr>
          <a:xfrm flipH="false" flipV="false" rot="0">
            <a:off x="354151" y="315984"/>
            <a:ext cx="5929218" cy="1228493"/>
          </a:xfrm>
          <a:custGeom>
            <a:avLst/>
            <a:gdLst/>
            <a:ahLst/>
            <a:cxnLst/>
            <a:rect r="r" b="b" t="t" l="l"/>
            <a:pathLst>
              <a:path h="1228493" w="5929218">
                <a:moveTo>
                  <a:pt x="0" y="0"/>
                </a:moveTo>
                <a:lnTo>
                  <a:pt x="5929219" y="0"/>
                </a:lnTo>
                <a:lnTo>
                  <a:pt x="5929219" y="1228493"/>
                </a:lnTo>
                <a:lnTo>
                  <a:pt x="0" y="1228493"/>
                </a:lnTo>
                <a:lnTo>
                  <a:pt x="0" y="0"/>
                </a:lnTo>
                <a:close/>
              </a:path>
            </a:pathLst>
          </a:custGeom>
          <a:blipFill>
            <a:blip r:embed="rId8"/>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3886710" y="3762375"/>
            <a:ext cx="10514580" cy="1381125"/>
          </a:xfrm>
          <a:prstGeom prst="rect">
            <a:avLst/>
          </a:prstGeom>
        </p:spPr>
        <p:txBody>
          <a:bodyPr anchor="t" rtlCol="false" tIns="0" lIns="0" bIns="0" rIns="0">
            <a:spAutoFit/>
          </a:bodyPr>
          <a:lstStyle/>
          <a:p>
            <a:pPr algn="ctr">
              <a:lnSpc>
                <a:spcPts val="10800"/>
              </a:lnSpc>
            </a:pPr>
            <a:r>
              <a:rPr lang="en-US" b="true" sz="9000">
                <a:solidFill>
                  <a:srgbClr val="005088"/>
                </a:solidFill>
                <a:latin typeface="Merriweather Bold"/>
                <a:ea typeface="Merriweather Bold"/>
                <a:cs typeface="Merriweather Bold"/>
                <a:sym typeface="Merriweather Bold"/>
              </a:rPr>
              <a:t>Terima Kasih</a:t>
            </a:r>
          </a:p>
        </p:txBody>
      </p:sp>
      <p:grpSp>
        <p:nvGrpSpPr>
          <p:cNvPr name="Group 5" id="5"/>
          <p:cNvGrpSpPr/>
          <p:nvPr/>
        </p:nvGrpSpPr>
        <p:grpSpPr>
          <a:xfrm rot="0">
            <a:off x="8429625" y="5650706"/>
            <a:ext cx="1428750" cy="57150"/>
            <a:chOff x="0" y="0"/>
            <a:chExt cx="1905000" cy="76200"/>
          </a:xfrm>
        </p:grpSpPr>
        <p:sp>
          <p:nvSpPr>
            <p:cNvPr name="Freeform 6" id="6"/>
            <p:cNvSpPr/>
            <p:nvPr/>
          </p:nvSpPr>
          <p:spPr>
            <a:xfrm flipH="false" flipV="false" rot="0">
              <a:off x="0" y="0"/>
              <a:ext cx="1905000" cy="76200"/>
            </a:xfrm>
            <a:custGeom>
              <a:avLst/>
              <a:gdLst/>
              <a:ahLst/>
              <a:cxnLst/>
              <a:rect r="r" b="b" t="t" l="l"/>
              <a:pathLst>
                <a:path h="76200" w="1905000">
                  <a:moveTo>
                    <a:pt x="0" y="0"/>
                  </a:moveTo>
                  <a:lnTo>
                    <a:pt x="1905000" y="0"/>
                  </a:lnTo>
                  <a:lnTo>
                    <a:pt x="1905000" y="76200"/>
                  </a:lnTo>
                  <a:lnTo>
                    <a:pt x="0" y="76200"/>
                  </a:lnTo>
                  <a:close/>
                </a:path>
              </a:pathLst>
            </a:custGeom>
            <a:solidFill>
              <a:srgbClr val="11CAA0"/>
            </a:solidFill>
          </p:spPr>
        </p:sp>
      </p:grpSp>
      <p:sp>
        <p:nvSpPr>
          <p:cNvPr name="TextBox 7" id="7"/>
          <p:cNvSpPr txBox="true"/>
          <p:nvPr/>
        </p:nvSpPr>
        <p:spPr>
          <a:xfrm rot="0">
            <a:off x="4321969" y="6107906"/>
            <a:ext cx="9644062" cy="533019"/>
          </a:xfrm>
          <a:prstGeom prst="rect">
            <a:avLst/>
          </a:prstGeom>
        </p:spPr>
        <p:txBody>
          <a:bodyPr anchor="t" rtlCol="false" tIns="0" lIns="0" bIns="0" rIns="0">
            <a:spAutoFit/>
          </a:bodyPr>
          <a:lstStyle/>
          <a:p>
            <a:pPr algn="ctr">
              <a:lnSpc>
                <a:spcPts val="4608"/>
              </a:lnSpc>
            </a:pPr>
            <a:r>
              <a:rPr lang="en-US" b="true" sz="2400">
                <a:solidFill>
                  <a:srgbClr val="334155"/>
                </a:solidFill>
                <a:latin typeface="DM Sans Bold"/>
                <a:ea typeface="DM Sans Bold"/>
                <a:cs typeface="DM Sans Bold"/>
                <a:sym typeface="DM Sans Bold"/>
              </a:rPr>
              <a:t>Marcell Chandra Kenchana - 322310015</a:t>
            </a:r>
          </a:p>
        </p:txBody>
      </p:sp>
      <p:sp>
        <p:nvSpPr>
          <p:cNvPr name="TextBox 8" id="8"/>
          <p:cNvSpPr txBox="true"/>
          <p:nvPr/>
        </p:nvSpPr>
        <p:spPr>
          <a:xfrm rot="0">
            <a:off x="16067361" y="543900"/>
            <a:ext cx="2048630" cy="434025"/>
          </a:xfrm>
          <a:prstGeom prst="rect">
            <a:avLst/>
          </a:prstGeom>
        </p:spPr>
        <p:txBody>
          <a:bodyPr anchor="t" rtlCol="false" tIns="0" lIns="0" bIns="0" rIns="0">
            <a:spAutoFit/>
          </a:bodyPr>
          <a:lstStyle/>
          <a:p>
            <a:pPr algn="ctr">
              <a:lnSpc>
                <a:spcPts val="3887"/>
              </a:lnSpc>
            </a:pPr>
            <a:r>
              <a:rPr lang="en-US" b="true" sz="2025">
                <a:solidFill>
                  <a:srgbClr val="64748B"/>
                </a:solidFill>
                <a:latin typeface="DM Sans Bold"/>
                <a:ea typeface="DM Sans Bold"/>
                <a:cs typeface="DM Sans Bold"/>
                <a:sym typeface="DM Sans Bold"/>
              </a:rPr>
              <a:t>SEMINAR PKL</a:t>
            </a:r>
          </a:p>
        </p:txBody>
      </p:sp>
      <p:sp>
        <p:nvSpPr>
          <p:cNvPr name="Freeform 9" id="9"/>
          <p:cNvSpPr/>
          <p:nvPr/>
        </p:nvSpPr>
        <p:spPr>
          <a:xfrm flipH="false" flipV="false" rot="0">
            <a:off x="354151" y="315984"/>
            <a:ext cx="5929218" cy="1228493"/>
          </a:xfrm>
          <a:custGeom>
            <a:avLst/>
            <a:gdLst/>
            <a:ahLst/>
            <a:cxnLst/>
            <a:rect r="r" b="b" t="t" l="l"/>
            <a:pathLst>
              <a:path h="1228493" w="5929218">
                <a:moveTo>
                  <a:pt x="0" y="0"/>
                </a:moveTo>
                <a:lnTo>
                  <a:pt x="5929219" y="0"/>
                </a:lnTo>
                <a:lnTo>
                  <a:pt x="5929219" y="1228493"/>
                </a:lnTo>
                <a:lnTo>
                  <a:pt x="0" y="1228493"/>
                </a:lnTo>
                <a:lnTo>
                  <a:pt x="0" y="0"/>
                </a:lnTo>
                <a:close/>
              </a:path>
            </a:pathLst>
          </a:custGeom>
          <a:blipFill>
            <a:blip r:embed="rId4"/>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DAHIPi6X_Oo</dc:identifier>
  <dcterms:modified xsi:type="dcterms:W3CDTF">2011-08-01T06:04:30Z</dcterms:modified>
  <cp:revision>1</cp:revision>
  <dc:title>Seminar PKL SITAPSI</dc:title>
</cp:coreProperties>
</file>