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36576" cy="8229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320040"/>
            <a:ext cx="2286000" cy="50292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47472"/>
            <a:ext cx="1097280" cy="457200"/>
          </a:xfrm>
          <a:prstGeom prst="rect">
            <a:avLst/>
          </a:prstGeom>
          <a:noFill/>
        </p:spPr>
        <p:txBody>
          <a:bodyPr wrap="square">
            <a:spAutoFit/>
          </a:bodyPr>
          <a:lstStyle/>
          <a:p>
            <a:pPr algn="l"/>
            <a:r>
              <a:rPr sz="800" b="1" i="0">
                <a:solidFill>
                  <a:srgbClr val="2D8996"/>
                </a:solidFill>
              </a:rPr>
              <a:t>MA CHUNG</a:t>
            </a:r>
          </a:p>
        </p:txBody>
      </p:sp>
      <p:sp>
        <p:nvSpPr>
          <p:cNvPr id="6" name="TextBox 5"/>
          <p:cNvSpPr txBox="1"/>
          <p:nvPr/>
        </p:nvSpPr>
        <p:spPr>
          <a:xfrm>
            <a:off x="1828800" y="365760"/>
            <a:ext cx="914400" cy="411480"/>
          </a:xfrm>
          <a:prstGeom prst="rect">
            <a:avLst/>
          </a:prstGeom>
          <a:noFill/>
        </p:spPr>
        <p:txBody>
          <a:bodyPr wrap="square">
            <a:spAutoFit/>
          </a:bodyPr>
          <a:lstStyle/>
          <a:p>
            <a:pPr algn="l"/>
            <a:r>
              <a:rPr sz="600" b="0" i="0">
                <a:solidFill>
                  <a:srgbClr val="2D8996"/>
                </a:solidFill>
              </a:rPr>
              <a:t>Sistem
Informasi</a:t>
            </a:r>
          </a:p>
        </p:txBody>
      </p:sp>
      <p:sp>
        <p:nvSpPr>
          <p:cNvPr id="7" name="TextBox 6"/>
          <p:cNvSpPr txBox="1"/>
          <p:nvPr/>
        </p:nvSpPr>
        <p:spPr>
          <a:xfrm>
            <a:off x="594360" y="1371600"/>
            <a:ext cx="10058400" cy="365760"/>
          </a:xfrm>
          <a:prstGeom prst="rect">
            <a:avLst/>
          </a:prstGeom>
          <a:noFill/>
        </p:spPr>
        <p:txBody>
          <a:bodyPr wrap="square">
            <a:spAutoFit/>
          </a:bodyPr>
          <a:lstStyle/>
          <a:p>
            <a:pPr algn="ctr"/>
            <a:r>
              <a:rPr sz="1100" b="1" i="0">
                <a:solidFill>
                  <a:srgbClr val="4AB5BF"/>
                </a:solidFill>
              </a:rPr>
              <a:t>SEMINAR PROPOSAL TUGAS AKHIR</a:t>
            </a:r>
          </a:p>
        </p:txBody>
      </p:sp>
      <p:sp>
        <p:nvSpPr>
          <p:cNvPr id="8" name="TextBox 7"/>
          <p:cNvSpPr txBox="1"/>
          <p:nvPr/>
        </p:nvSpPr>
        <p:spPr>
          <a:xfrm>
            <a:off x="594360" y="1783080"/>
            <a:ext cx="10972800" cy="1645920"/>
          </a:xfrm>
          <a:prstGeom prst="rect">
            <a:avLst/>
          </a:prstGeom>
          <a:noFill/>
        </p:spPr>
        <p:txBody>
          <a:bodyPr wrap="square">
            <a:spAutoFit/>
          </a:bodyPr>
          <a:lstStyle/>
          <a:p>
            <a:pPr algn="ctr"/>
            <a:r>
              <a:rPr sz="3400" b="1">
                <a:solidFill>
                  <a:srgbClr val="1A2A30"/>
                </a:solidFill>
              </a:rPr>
              <a:t>Rancang Bangun Sistem Informasi</a:t>
            </a:r>
          </a:p>
          <a:p>
            <a:pPr algn="ctr"/>
            <a:r>
              <a:rPr sz="3400" b="1">
                <a:solidFill>
                  <a:srgbClr val="1A2A30"/>
                </a:solidFill>
              </a:rPr>
              <a:t>Inventory Omnichannel</a:t>
            </a:r>
          </a:p>
          <a:p>
            <a:pPr algn="ctr"/>
            <a:r>
              <a:rPr sz="3400" b="1">
                <a:solidFill>
                  <a:srgbClr val="1A2A30"/>
                </a:solidFill>
              </a:rPr>
              <a:t>Alat Kesehatan dan Obat</a:t>
            </a:r>
          </a:p>
        </p:txBody>
      </p:sp>
      <p:sp>
        <p:nvSpPr>
          <p:cNvPr id="9" name="TextBox 8"/>
          <p:cNvSpPr txBox="1"/>
          <p:nvPr/>
        </p:nvSpPr>
        <p:spPr>
          <a:xfrm>
            <a:off x="594360" y="3520440"/>
            <a:ext cx="10972800" cy="365760"/>
          </a:xfrm>
          <a:prstGeom prst="rect">
            <a:avLst/>
          </a:prstGeom>
          <a:noFill/>
        </p:spPr>
        <p:txBody>
          <a:bodyPr wrap="square">
            <a:spAutoFit/>
          </a:bodyPr>
          <a:lstStyle/>
          <a:p>
            <a:pPr algn="ctr"/>
            <a:r>
              <a:rPr sz="1400" b="0" i="1">
                <a:solidFill>
                  <a:srgbClr val="7A8A90"/>
                </a:solidFill>
              </a:rPr>
              <a:t>Studi Kasus: ZenCare Medical</a:t>
            </a:r>
          </a:p>
        </p:txBody>
      </p:sp>
      <p:sp>
        <p:nvSpPr>
          <p:cNvPr id="10" name="Rectangle 9"/>
          <p:cNvSpPr/>
          <p:nvPr/>
        </p:nvSpPr>
        <p:spPr>
          <a:xfrm>
            <a:off x="5029200" y="4005072"/>
            <a:ext cx="214884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114800"/>
            <a:ext cx="10972800" cy="411480"/>
          </a:xfrm>
          <a:prstGeom prst="rect">
            <a:avLst/>
          </a:prstGeom>
          <a:noFill/>
        </p:spPr>
        <p:txBody>
          <a:bodyPr wrap="square">
            <a:spAutoFit/>
          </a:bodyPr>
          <a:lstStyle/>
          <a:p>
            <a:pPr algn="ctr"/>
            <a:r>
              <a:rPr sz="1500" b="1" i="0">
                <a:solidFill>
                  <a:srgbClr val="2D3A40"/>
                </a:solidFill>
              </a:rPr>
              <a:t>Marcell Chandra Kenchana</a:t>
            </a:r>
          </a:p>
        </p:txBody>
      </p:sp>
      <p:sp>
        <p:nvSpPr>
          <p:cNvPr id="12" name="TextBox 11"/>
          <p:cNvSpPr txBox="1"/>
          <p:nvPr/>
        </p:nvSpPr>
        <p:spPr>
          <a:xfrm>
            <a:off x="594360" y="4498848"/>
            <a:ext cx="10972800" cy="320040"/>
          </a:xfrm>
          <a:prstGeom prst="rect">
            <a:avLst/>
          </a:prstGeom>
          <a:noFill/>
        </p:spPr>
        <p:txBody>
          <a:bodyPr wrap="square">
            <a:spAutoFit/>
          </a:bodyPr>
          <a:lstStyle/>
          <a:p>
            <a:pPr algn="ctr"/>
            <a:r>
              <a:rPr sz="1100" b="0" i="0">
                <a:solidFill>
                  <a:srgbClr val="7A8A90"/>
                </a:solidFill>
              </a:rPr>
              <a:t>322310015  —  Program Studi Sistem Informasi</a:t>
            </a:r>
          </a:p>
        </p:txBody>
      </p:sp>
      <p:sp>
        <p:nvSpPr>
          <p:cNvPr id="13" name="TextBox 12"/>
          <p:cNvSpPr txBox="1"/>
          <p:nvPr/>
        </p:nvSpPr>
        <p:spPr>
          <a:xfrm>
            <a:off x="594360" y="4983480"/>
            <a:ext cx="10972800" cy="292608"/>
          </a:xfrm>
          <a:prstGeom prst="rect">
            <a:avLst/>
          </a:prstGeom>
          <a:noFill/>
        </p:spPr>
        <p:txBody>
          <a:bodyPr wrap="square">
            <a:spAutoFit/>
          </a:bodyPr>
          <a:lstStyle/>
          <a:p>
            <a:pPr algn="ctr"/>
            <a:r>
              <a:rPr sz="1100" b="0" i="0">
                <a:solidFill>
                  <a:srgbClr val="2D3A40"/>
                </a:solidFill>
              </a:rPr>
              <a:t>Ketua Penguji  :  [Nama Ketua Penguji]</a:t>
            </a:r>
          </a:p>
        </p:txBody>
      </p:sp>
      <p:sp>
        <p:nvSpPr>
          <p:cNvPr id="14" name="TextBox 13"/>
          <p:cNvSpPr txBox="1"/>
          <p:nvPr/>
        </p:nvSpPr>
        <p:spPr>
          <a:xfrm>
            <a:off x="594360" y="5285232"/>
            <a:ext cx="10972800" cy="292608"/>
          </a:xfrm>
          <a:prstGeom prst="rect">
            <a:avLst/>
          </a:prstGeom>
          <a:noFill/>
        </p:spPr>
        <p:txBody>
          <a:bodyPr wrap="square">
            <a:spAutoFit/>
          </a:bodyPr>
          <a:lstStyle/>
          <a:p>
            <a:pPr algn="ctr"/>
            <a:r>
              <a:rPr sz="1100" b="0" i="0">
                <a:solidFill>
                  <a:srgbClr val="2D3A40"/>
                </a:solidFill>
              </a:rPr>
              <a:t>Dosen Penguji I  :  [Nama Dosen Penguji I]</a:t>
            </a:r>
          </a:p>
        </p:txBody>
      </p:sp>
      <p:sp>
        <p:nvSpPr>
          <p:cNvPr id="15" name="TextBox 14"/>
          <p:cNvSpPr txBox="1"/>
          <p:nvPr/>
        </p:nvSpPr>
        <p:spPr>
          <a:xfrm>
            <a:off x="594360" y="5586984"/>
            <a:ext cx="10972800" cy="292608"/>
          </a:xfrm>
          <a:prstGeom prst="rect">
            <a:avLst/>
          </a:prstGeom>
          <a:noFill/>
        </p:spPr>
        <p:txBody>
          <a:bodyPr wrap="square">
            <a:spAutoFit/>
          </a:bodyPr>
          <a:lstStyle/>
          <a:p>
            <a:pPr algn="ctr"/>
            <a:r>
              <a:rPr sz="1100" b="0" i="0">
                <a:solidFill>
                  <a:srgbClr val="2D3A40"/>
                </a:solidFill>
              </a:rPr>
              <a:t>Dosen Penguji II  :  Dr. Soetam Rizky Wicaksono, S.Kom., MM., MCP., MCTS., MOSM.</a:t>
            </a:r>
          </a:p>
        </p:txBody>
      </p:sp>
      <p:sp>
        <p:nvSpPr>
          <p:cNvPr id="16" name="Rectangle 15"/>
          <p:cNvSpPr/>
          <p:nvPr/>
        </p:nvSpPr>
        <p:spPr>
          <a:xfrm>
            <a:off x="457200" y="6263640"/>
            <a:ext cx="11292840" cy="54864"/>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Daftar Isi</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sp>
        <p:nvSpPr>
          <p:cNvPr id="9" name="Rectangle 8"/>
          <p:cNvSpPr/>
          <p:nvPr/>
        </p:nvSpPr>
        <p:spPr>
          <a:xfrm>
            <a:off x="507492" y="1828800"/>
            <a:ext cx="210312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7492" y="1828800"/>
            <a:ext cx="2103120"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2" y="1993392"/>
            <a:ext cx="2103120" cy="640080"/>
          </a:xfrm>
          <a:prstGeom prst="rect">
            <a:avLst/>
          </a:prstGeom>
          <a:noFill/>
        </p:spPr>
        <p:txBody>
          <a:bodyPr wrap="square">
            <a:spAutoFit/>
          </a:bodyPr>
          <a:lstStyle/>
          <a:p>
            <a:pPr algn="ctr"/>
            <a:r>
              <a:rPr sz="3000" b="1" i="0">
                <a:solidFill>
                  <a:srgbClr val="4AB5BF"/>
                </a:solidFill>
              </a:rPr>
              <a:t>01</a:t>
            </a:r>
          </a:p>
        </p:txBody>
      </p:sp>
      <p:sp>
        <p:nvSpPr>
          <p:cNvPr id="12" name="Rectangle 11"/>
          <p:cNvSpPr/>
          <p:nvPr/>
        </p:nvSpPr>
        <p:spPr>
          <a:xfrm>
            <a:off x="873252" y="2697480"/>
            <a:ext cx="1371600" cy="36576"/>
          </a:xfrm>
          <a:prstGeom prst="rect">
            <a:avLst/>
          </a:prstGeom>
          <a:solidFill>
            <a:srgbClr val="C8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3212" y="2834640"/>
            <a:ext cx="2011680" cy="1051560"/>
          </a:xfrm>
          <a:prstGeom prst="rect">
            <a:avLst/>
          </a:prstGeom>
          <a:noFill/>
        </p:spPr>
        <p:txBody>
          <a:bodyPr wrap="square">
            <a:spAutoFit/>
          </a:bodyPr>
          <a:lstStyle/>
          <a:p>
            <a:pPr algn="ctr"/>
            <a:r>
              <a:rPr sz="1200" b="0" i="0">
                <a:solidFill>
                  <a:srgbClr val="2D3A40"/>
                </a:solidFill>
              </a:rPr>
              <a:t>Latar Belakang &amp;
Identifikasi Masalah</a:t>
            </a:r>
          </a:p>
        </p:txBody>
      </p:sp>
      <p:sp>
        <p:nvSpPr>
          <p:cNvPr id="14" name="Rectangle 13"/>
          <p:cNvSpPr/>
          <p:nvPr/>
        </p:nvSpPr>
        <p:spPr>
          <a:xfrm>
            <a:off x="2775204" y="1828800"/>
            <a:ext cx="210312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75204" y="1828800"/>
            <a:ext cx="2103120"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75204" y="1993392"/>
            <a:ext cx="2103120" cy="640080"/>
          </a:xfrm>
          <a:prstGeom prst="rect">
            <a:avLst/>
          </a:prstGeom>
          <a:noFill/>
        </p:spPr>
        <p:txBody>
          <a:bodyPr wrap="square">
            <a:spAutoFit/>
          </a:bodyPr>
          <a:lstStyle/>
          <a:p>
            <a:pPr algn="ctr"/>
            <a:r>
              <a:rPr sz="3000" b="1" i="0">
                <a:solidFill>
                  <a:srgbClr val="4AB5BF"/>
                </a:solidFill>
              </a:rPr>
              <a:t>02</a:t>
            </a:r>
          </a:p>
        </p:txBody>
      </p:sp>
      <p:sp>
        <p:nvSpPr>
          <p:cNvPr id="17" name="Rectangle 16"/>
          <p:cNvSpPr/>
          <p:nvPr/>
        </p:nvSpPr>
        <p:spPr>
          <a:xfrm>
            <a:off x="3140964" y="2697480"/>
            <a:ext cx="1371600" cy="36576"/>
          </a:xfrm>
          <a:prstGeom prst="rect">
            <a:avLst/>
          </a:prstGeom>
          <a:solidFill>
            <a:srgbClr val="C8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20924" y="2834640"/>
            <a:ext cx="2011680" cy="1051560"/>
          </a:xfrm>
          <a:prstGeom prst="rect">
            <a:avLst/>
          </a:prstGeom>
          <a:noFill/>
        </p:spPr>
        <p:txBody>
          <a:bodyPr wrap="square">
            <a:spAutoFit/>
          </a:bodyPr>
          <a:lstStyle/>
          <a:p>
            <a:pPr algn="ctr"/>
            <a:r>
              <a:rPr sz="1200" b="0" i="0">
                <a:solidFill>
                  <a:srgbClr val="2D3A40"/>
                </a:solidFill>
              </a:rPr>
              <a:t>Perbandingan
Penelitian Terdahulu</a:t>
            </a:r>
          </a:p>
        </p:txBody>
      </p:sp>
      <p:sp>
        <p:nvSpPr>
          <p:cNvPr id="19" name="Rectangle 18"/>
          <p:cNvSpPr/>
          <p:nvPr/>
        </p:nvSpPr>
        <p:spPr>
          <a:xfrm>
            <a:off x="5042916" y="1828800"/>
            <a:ext cx="210312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42916" y="1828800"/>
            <a:ext cx="2103120"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2916" y="1993392"/>
            <a:ext cx="2103120" cy="640080"/>
          </a:xfrm>
          <a:prstGeom prst="rect">
            <a:avLst/>
          </a:prstGeom>
          <a:noFill/>
        </p:spPr>
        <p:txBody>
          <a:bodyPr wrap="square">
            <a:spAutoFit/>
          </a:bodyPr>
          <a:lstStyle/>
          <a:p>
            <a:pPr algn="ctr"/>
            <a:r>
              <a:rPr sz="3000" b="1" i="0">
                <a:solidFill>
                  <a:srgbClr val="4AB5BF"/>
                </a:solidFill>
              </a:rPr>
              <a:t>03</a:t>
            </a:r>
          </a:p>
        </p:txBody>
      </p:sp>
      <p:sp>
        <p:nvSpPr>
          <p:cNvPr id="22" name="Rectangle 21"/>
          <p:cNvSpPr/>
          <p:nvPr/>
        </p:nvSpPr>
        <p:spPr>
          <a:xfrm>
            <a:off x="5408676" y="2697480"/>
            <a:ext cx="1371600" cy="36576"/>
          </a:xfrm>
          <a:prstGeom prst="rect">
            <a:avLst/>
          </a:prstGeom>
          <a:solidFill>
            <a:srgbClr val="C8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88636" y="2834640"/>
            <a:ext cx="2011680" cy="1051560"/>
          </a:xfrm>
          <a:prstGeom prst="rect">
            <a:avLst/>
          </a:prstGeom>
          <a:noFill/>
        </p:spPr>
        <p:txBody>
          <a:bodyPr wrap="square">
            <a:spAutoFit/>
          </a:bodyPr>
          <a:lstStyle/>
          <a:p>
            <a:pPr algn="ctr"/>
            <a:r>
              <a:rPr sz="1200" b="0" i="0">
                <a:solidFill>
                  <a:srgbClr val="2D3A40"/>
                </a:solidFill>
              </a:rPr>
              <a:t>Workflow &amp;
Antarmuka Sistem</a:t>
            </a:r>
          </a:p>
        </p:txBody>
      </p:sp>
      <p:sp>
        <p:nvSpPr>
          <p:cNvPr id="24" name="Rectangle 23"/>
          <p:cNvSpPr/>
          <p:nvPr/>
        </p:nvSpPr>
        <p:spPr>
          <a:xfrm>
            <a:off x="7310628" y="1828800"/>
            <a:ext cx="210312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0628" y="1828800"/>
            <a:ext cx="2103120"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0628" y="1993392"/>
            <a:ext cx="2103120" cy="640080"/>
          </a:xfrm>
          <a:prstGeom prst="rect">
            <a:avLst/>
          </a:prstGeom>
          <a:noFill/>
        </p:spPr>
        <p:txBody>
          <a:bodyPr wrap="square">
            <a:spAutoFit/>
          </a:bodyPr>
          <a:lstStyle/>
          <a:p>
            <a:pPr algn="ctr"/>
            <a:r>
              <a:rPr sz="3000" b="1" i="0">
                <a:solidFill>
                  <a:srgbClr val="4AB5BF"/>
                </a:solidFill>
              </a:rPr>
              <a:t>04</a:t>
            </a:r>
          </a:p>
        </p:txBody>
      </p:sp>
      <p:sp>
        <p:nvSpPr>
          <p:cNvPr id="27" name="Rectangle 26"/>
          <p:cNvSpPr/>
          <p:nvPr/>
        </p:nvSpPr>
        <p:spPr>
          <a:xfrm>
            <a:off x="7676388" y="2697480"/>
            <a:ext cx="1371600" cy="36576"/>
          </a:xfrm>
          <a:prstGeom prst="rect">
            <a:avLst/>
          </a:prstGeom>
          <a:solidFill>
            <a:srgbClr val="C8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56348" y="2834640"/>
            <a:ext cx="2011680" cy="1051560"/>
          </a:xfrm>
          <a:prstGeom prst="rect">
            <a:avLst/>
          </a:prstGeom>
          <a:noFill/>
        </p:spPr>
        <p:txBody>
          <a:bodyPr wrap="square">
            <a:spAutoFit/>
          </a:bodyPr>
          <a:lstStyle/>
          <a:p>
            <a:pPr algn="ctr"/>
            <a:r>
              <a:rPr sz="1200" b="0" i="0">
                <a:solidFill>
                  <a:srgbClr val="2D3A40"/>
                </a:solidFill>
              </a:rPr>
              <a:t>Arsitektur Teknis
&amp; Database</a:t>
            </a:r>
          </a:p>
        </p:txBody>
      </p:sp>
      <p:sp>
        <p:nvSpPr>
          <p:cNvPr id="29" name="Rectangle 28"/>
          <p:cNvSpPr/>
          <p:nvPr/>
        </p:nvSpPr>
        <p:spPr>
          <a:xfrm>
            <a:off x="9578340" y="1828800"/>
            <a:ext cx="2103120" cy="219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78340" y="1828800"/>
            <a:ext cx="2103120"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78340" y="1993392"/>
            <a:ext cx="2103120" cy="640080"/>
          </a:xfrm>
          <a:prstGeom prst="rect">
            <a:avLst/>
          </a:prstGeom>
          <a:noFill/>
        </p:spPr>
        <p:txBody>
          <a:bodyPr wrap="square">
            <a:spAutoFit/>
          </a:bodyPr>
          <a:lstStyle/>
          <a:p>
            <a:pPr algn="ctr"/>
            <a:r>
              <a:rPr sz="3000" b="1" i="0">
                <a:solidFill>
                  <a:srgbClr val="4AB5BF"/>
                </a:solidFill>
              </a:rPr>
              <a:t>05</a:t>
            </a:r>
          </a:p>
        </p:txBody>
      </p:sp>
      <p:sp>
        <p:nvSpPr>
          <p:cNvPr id="32" name="Rectangle 31"/>
          <p:cNvSpPr/>
          <p:nvPr/>
        </p:nvSpPr>
        <p:spPr>
          <a:xfrm>
            <a:off x="9944100" y="2697480"/>
            <a:ext cx="1371600" cy="36576"/>
          </a:xfrm>
          <a:prstGeom prst="rect">
            <a:avLst/>
          </a:prstGeom>
          <a:solidFill>
            <a:srgbClr val="C8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24060" y="2834640"/>
            <a:ext cx="2011680" cy="1051560"/>
          </a:xfrm>
          <a:prstGeom prst="rect">
            <a:avLst/>
          </a:prstGeom>
          <a:noFill/>
        </p:spPr>
        <p:txBody>
          <a:bodyPr wrap="square">
            <a:spAutoFit/>
          </a:bodyPr>
          <a:lstStyle/>
          <a:p>
            <a:pPr algn="ctr"/>
            <a:r>
              <a:rPr sz="1200" b="0" i="0">
                <a:solidFill>
                  <a:srgbClr val="2D3A40"/>
                </a:solidFill>
              </a:rPr>
              <a:t>Dokumentasi Lapangan
&amp; Kesimpulan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Latar Belakang &amp; Identifikasi Masalah</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sp>
        <p:nvSpPr>
          <p:cNvPr id="9" name="TextBox 8"/>
          <p:cNvSpPr txBox="1"/>
          <p:nvPr/>
        </p:nvSpPr>
        <p:spPr>
          <a:xfrm>
            <a:off x="626364" y="1600200"/>
            <a:ext cx="3474720" cy="658368"/>
          </a:xfrm>
          <a:prstGeom prst="rect">
            <a:avLst/>
          </a:prstGeom>
          <a:noFill/>
        </p:spPr>
        <p:txBody>
          <a:bodyPr wrap="square">
            <a:spAutoFit/>
          </a:bodyPr>
          <a:lstStyle/>
          <a:p>
            <a:pPr algn="l"/>
            <a:r>
              <a:rPr sz="3400" b="0" i="0">
                <a:solidFill>
                  <a:srgbClr val="4AB5BF"/>
                </a:solidFill>
              </a:rPr>
              <a:t>📦</a:t>
            </a:r>
          </a:p>
        </p:txBody>
      </p:sp>
      <p:sp>
        <p:nvSpPr>
          <p:cNvPr id="10" name="TextBox 9"/>
          <p:cNvSpPr txBox="1"/>
          <p:nvPr/>
        </p:nvSpPr>
        <p:spPr>
          <a:xfrm>
            <a:off x="626364" y="2313432"/>
            <a:ext cx="3474720" cy="457200"/>
          </a:xfrm>
          <a:prstGeom prst="rect">
            <a:avLst/>
          </a:prstGeom>
          <a:noFill/>
        </p:spPr>
        <p:txBody>
          <a:bodyPr wrap="square">
            <a:spAutoFit/>
          </a:bodyPr>
          <a:lstStyle/>
          <a:p>
            <a:pPr algn="l"/>
            <a:r>
              <a:rPr sz="1400" b="1" i="0">
                <a:solidFill>
                  <a:srgbClr val="1A2A30"/>
                </a:solidFill>
              </a:rPr>
              <a:t>Kasir Luring &amp; Daring Terpisah</a:t>
            </a:r>
          </a:p>
        </p:txBody>
      </p:sp>
      <p:sp>
        <p:nvSpPr>
          <p:cNvPr id="11" name="Rectangle 10"/>
          <p:cNvSpPr/>
          <p:nvPr/>
        </p:nvSpPr>
        <p:spPr>
          <a:xfrm>
            <a:off x="626364" y="2816352"/>
            <a:ext cx="502920"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6364" y="2971800"/>
            <a:ext cx="3383280" cy="2926080"/>
          </a:xfrm>
          <a:prstGeom prst="rect">
            <a:avLst/>
          </a:prstGeom>
          <a:noFill/>
        </p:spPr>
        <p:txBody>
          <a:bodyPr wrap="square">
            <a:spAutoFit/>
          </a:bodyPr>
          <a:lstStyle/>
          <a:p>
            <a:pPr algn="l"/>
            <a:r>
              <a:rPr sz="1200" b="0" i="0">
                <a:solidFill>
                  <a:srgbClr val="7A8A90"/>
                </a:solidFill>
              </a:rPr>
              <a:t>Penggunaan aplikasi POS fisik stand-alone memicu risiko pesanan ganda (overselling) karena ketersediaan fisik tidak tersinkronisasi dengan etalase e-commerce.</a:t>
            </a:r>
          </a:p>
        </p:txBody>
      </p:sp>
      <p:sp>
        <p:nvSpPr>
          <p:cNvPr id="13" name="TextBox 12"/>
          <p:cNvSpPr txBox="1"/>
          <p:nvPr/>
        </p:nvSpPr>
        <p:spPr>
          <a:xfrm>
            <a:off x="4357116" y="1600200"/>
            <a:ext cx="3474720" cy="658368"/>
          </a:xfrm>
          <a:prstGeom prst="rect">
            <a:avLst/>
          </a:prstGeom>
          <a:noFill/>
        </p:spPr>
        <p:txBody>
          <a:bodyPr wrap="square">
            <a:spAutoFit/>
          </a:bodyPr>
          <a:lstStyle/>
          <a:p>
            <a:pPr algn="l"/>
            <a:r>
              <a:rPr sz="3400" b="0" i="0">
                <a:solidFill>
                  <a:srgbClr val="4AB5BF"/>
                </a:solidFill>
              </a:rPr>
              <a:t>🔢</a:t>
            </a:r>
          </a:p>
        </p:txBody>
      </p:sp>
      <p:sp>
        <p:nvSpPr>
          <p:cNvPr id="14" name="TextBox 13"/>
          <p:cNvSpPr txBox="1"/>
          <p:nvPr/>
        </p:nvSpPr>
        <p:spPr>
          <a:xfrm>
            <a:off x="4357116" y="2313432"/>
            <a:ext cx="3474720" cy="457200"/>
          </a:xfrm>
          <a:prstGeom prst="rect">
            <a:avLst/>
          </a:prstGeom>
          <a:noFill/>
        </p:spPr>
        <p:txBody>
          <a:bodyPr wrap="square">
            <a:spAutoFit/>
          </a:bodyPr>
          <a:lstStyle/>
          <a:p>
            <a:pPr algn="l"/>
            <a:r>
              <a:rPr sz="1400" b="1" i="0">
                <a:solidFill>
                  <a:srgbClr val="1A2A30"/>
                </a:solidFill>
              </a:rPr>
              <a:t>Konversi Multi-Satuan Manual</a:t>
            </a:r>
          </a:p>
        </p:txBody>
      </p:sp>
      <p:sp>
        <p:nvSpPr>
          <p:cNvPr id="15" name="Rectangle 14"/>
          <p:cNvSpPr/>
          <p:nvPr/>
        </p:nvSpPr>
        <p:spPr>
          <a:xfrm>
            <a:off x="4357116" y="2816352"/>
            <a:ext cx="502920"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7116" y="2971800"/>
            <a:ext cx="3383280" cy="2926080"/>
          </a:xfrm>
          <a:prstGeom prst="rect">
            <a:avLst/>
          </a:prstGeom>
          <a:noFill/>
        </p:spPr>
        <p:txBody>
          <a:bodyPr wrap="square">
            <a:spAutoFit/>
          </a:bodyPr>
          <a:lstStyle/>
          <a:p>
            <a:pPr algn="l"/>
            <a:r>
              <a:rPr sz="1200" b="0" i="0">
                <a:solidFill>
                  <a:srgbClr val="7A8A90"/>
                </a:solidFill>
              </a:rPr>
              <a:t>Ketiadaan fitur konversi satuan memaksa admin menghitung pecahan kemasan grosir (Box) ke eceran (Strip) secara manual sebelum memotong sisa persediaan.</a:t>
            </a:r>
          </a:p>
        </p:txBody>
      </p:sp>
      <p:sp>
        <p:nvSpPr>
          <p:cNvPr id="17" name="TextBox 16"/>
          <p:cNvSpPr txBox="1"/>
          <p:nvPr/>
        </p:nvSpPr>
        <p:spPr>
          <a:xfrm>
            <a:off x="8087868" y="1600200"/>
            <a:ext cx="3474720" cy="658368"/>
          </a:xfrm>
          <a:prstGeom prst="rect">
            <a:avLst/>
          </a:prstGeom>
          <a:noFill/>
        </p:spPr>
        <p:txBody>
          <a:bodyPr wrap="square">
            <a:spAutoFit/>
          </a:bodyPr>
          <a:lstStyle/>
          <a:p>
            <a:pPr algn="l"/>
            <a:r>
              <a:rPr sz="3400" b="0" i="0">
                <a:solidFill>
                  <a:srgbClr val="4AB5BF"/>
                </a:solidFill>
              </a:rPr>
              <a:t>🏥</a:t>
            </a:r>
          </a:p>
        </p:txBody>
      </p:sp>
      <p:sp>
        <p:nvSpPr>
          <p:cNvPr id="18" name="TextBox 17"/>
          <p:cNvSpPr txBox="1"/>
          <p:nvPr/>
        </p:nvSpPr>
        <p:spPr>
          <a:xfrm>
            <a:off x="8087868" y="2313432"/>
            <a:ext cx="3474720" cy="457200"/>
          </a:xfrm>
          <a:prstGeom prst="rect">
            <a:avLst/>
          </a:prstGeom>
          <a:noFill/>
        </p:spPr>
        <p:txBody>
          <a:bodyPr wrap="square">
            <a:spAutoFit/>
          </a:bodyPr>
          <a:lstStyle/>
          <a:p>
            <a:pPr algn="l"/>
            <a:r>
              <a:rPr sz="1400" b="1" i="0">
                <a:solidFill>
                  <a:srgbClr val="1A2A30"/>
                </a:solidFill>
              </a:rPr>
              <a:t>Ketiadaan Kendali Logistik Medis</a:t>
            </a:r>
          </a:p>
        </p:txBody>
      </p:sp>
      <p:sp>
        <p:nvSpPr>
          <p:cNvPr id="19" name="Rectangle 18"/>
          <p:cNvSpPr/>
          <p:nvPr/>
        </p:nvSpPr>
        <p:spPr>
          <a:xfrm>
            <a:off x="8087868" y="2816352"/>
            <a:ext cx="502920" cy="36576"/>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87868" y="2971800"/>
            <a:ext cx="3383280" cy="2926080"/>
          </a:xfrm>
          <a:prstGeom prst="rect">
            <a:avLst/>
          </a:prstGeom>
          <a:noFill/>
        </p:spPr>
        <p:txBody>
          <a:bodyPr wrap="square">
            <a:spAutoFit/>
          </a:bodyPr>
          <a:lstStyle/>
          <a:p>
            <a:pPr algn="l"/>
            <a:r>
              <a:rPr sz="1200" b="0" i="0">
                <a:solidFill>
                  <a:srgbClr val="7A8A90"/>
                </a:solidFill>
              </a:rPr>
              <a:t>Sistem pencatatan saat ini belum mendata tanggal kedaluwarsa berbasis Batch (FEFO) untuk obat, maupun Serial Number (SN) jaminan garansi alat kesehatan.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Batasan Masalah</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sp>
        <p:nvSpPr>
          <p:cNvPr id="9" name="Rectangle 8"/>
          <p:cNvSpPr/>
          <p:nvPr/>
        </p:nvSpPr>
        <p:spPr>
          <a:xfrm>
            <a:off x="626364" y="1691640"/>
            <a:ext cx="45720" cy="347472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 y="1691640"/>
            <a:ext cx="502920" cy="594360"/>
          </a:xfrm>
          <a:prstGeom prst="rect">
            <a:avLst/>
          </a:prstGeom>
          <a:noFill/>
        </p:spPr>
        <p:txBody>
          <a:bodyPr wrap="square">
            <a:spAutoFit/>
          </a:bodyPr>
          <a:lstStyle/>
          <a:p>
            <a:pPr algn="l"/>
            <a:r>
              <a:rPr sz="2800" b="0" i="0">
                <a:solidFill>
                  <a:srgbClr val="4AB5BF"/>
                </a:solidFill>
              </a:rPr>
              <a:t>🎯</a:t>
            </a:r>
          </a:p>
        </p:txBody>
      </p:sp>
      <p:sp>
        <p:nvSpPr>
          <p:cNvPr id="11" name="TextBox 10"/>
          <p:cNvSpPr txBox="1"/>
          <p:nvPr/>
        </p:nvSpPr>
        <p:spPr>
          <a:xfrm>
            <a:off x="809244" y="2286000"/>
            <a:ext cx="3246120" cy="457200"/>
          </a:xfrm>
          <a:prstGeom prst="rect">
            <a:avLst/>
          </a:prstGeom>
          <a:noFill/>
        </p:spPr>
        <p:txBody>
          <a:bodyPr wrap="square">
            <a:spAutoFit/>
          </a:bodyPr>
          <a:lstStyle/>
          <a:p>
            <a:pPr algn="l"/>
            <a:r>
              <a:rPr sz="1400" b="1" i="0">
                <a:solidFill>
                  <a:srgbClr val="1A2A30"/>
                </a:solidFill>
              </a:rPr>
              <a:t>Fokus Operasional</a:t>
            </a:r>
          </a:p>
        </p:txBody>
      </p:sp>
      <p:sp>
        <p:nvSpPr>
          <p:cNvPr id="12" name="TextBox 11"/>
          <p:cNvSpPr txBox="1"/>
          <p:nvPr/>
        </p:nvSpPr>
        <p:spPr>
          <a:xfrm>
            <a:off x="809244" y="2807208"/>
            <a:ext cx="3200400" cy="2286000"/>
          </a:xfrm>
          <a:prstGeom prst="rect">
            <a:avLst/>
          </a:prstGeom>
          <a:noFill/>
        </p:spPr>
        <p:txBody>
          <a:bodyPr wrap="square">
            <a:spAutoFit/>
          </a:bodyPr>
          <a:lstStyle/>
          <a:p>
            <a:pPr algn="l"/>
            <a:r>
              <a:rPr sz="1200" b="0" i="0">
                <a:solidFill>
                  <a:srgbClr val="7A8A90"/>
                </a:solidFill>
              </a:rPr>
              <a:t>Sistem murni menyinkronkan inventaris antara terminal POS dan E-Commerce mandiri. Tidak mencakup modul akuntansi keuangan atau laba rugi.</a:t>
            </a:r>
          </a:p>
        </p:txBody>
      </p:sp>
      <p:sp>
        <p:nvSpPr>
          <p:cNvPr id="13" name="Rectangle 12"/>
          <p:cNvSpPr/>
          <p:nvPr/>
        </p:nvSpPr>
        <p:spPr>
          <a:xfrm>
            <a:off x="4357116" y="1691640"/>
            <a:ext cx="45720" cy="347472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9996" y="1691640"/>
            <a:ext cx="502920" cy="594360"/>
          </a:xfrm>
          <a:prstGeom prst="rect">
            <a:avLst/>
          </a:prstGeom>
          <a:noFill/>
        </p:spPr>
        <p:txBody>
          <a:bodyPr wrap="square">
            <a:spAutoFit/>
          </a:bodyPr>
          <a:lstStyle/>
          <a:p>
            <a:pPr algn="l"/>
            <a:r>
              <a:rPr sz="2800" b="0" i="0">
                <a:solidFill>
                  <a:srgbClr val="4AB5BF"/>
                </a:solidFill>
              </a:rPr>
              <a:t>📋</a:t>
            </a:r>
          </a:p>
        </p:txBody>
      </p:sp>
      <p:sp>
        <p:nvSpPr>
          <p:cNvPr id="15" name="TextBox 14"/>
          <p:cNvSpPr txBox="1"/>
          <p:nvPr/>
        </p:nvSpPr>
        <p:spPr>
          <a:xfrm>
            <a:off x="4539996" y="2286000"/>
            <a:ext cx="3246120" cy="457200"/>
          </a:xfrm>
          <a:prstGeom prst="rect">
            <a:avLst/>
          </a:prstGeom>
          <a:noFill/>
        </p:spPr>
        <p:txBody>
          <a:bodyPr wrap="square">
            <a:spAutoFit/>
          </a:bodyPr>
          <a:lstStyle/>
          <a:p>
            <a:pPr algn="l"/>
            <a:r>
              <a:rPr sz="1400" b="1" i="0">
                <a:solidFill>
                  <a:srgbClr val="1A2A30"/>
                </a:solidFill>
              </a:rPr>
              <a:t>Logika Pengeluaran Logistik</a:t>
            </a:r>
          </a:p>
        </p:txBody>
      </p:sp>
      <p:sp>
        <p:nvSpPr>
          <p:cNvPr id="16" name="TextBox 15"/>
          <p:cNvSpPr txBox="1"/>
          <p:nvPr/>
        </p:nvSpPr>
        <p:spPr>
          <a:xfrm>
            <a:off x="4539996" y="2807208"/>
            <a:ext cx="3200400" cy="2286000"/>
          </a:xfrm>
          <a:prstGeom prst="rect">
            <a:avLst/>
          </a:prstGeom>
          <a:noFill/>
        </p:spPr>
        <p:txBody>
          <a:bodyPr wrap="square">
            <a:spAutoFit/>
          </a:bodyPr>
          <a:lstStyle/>
          <a:p>
            <a:pPr algn="l"/>
            <a:r>
              <a:rPr sz="1200" b="0" i="0">
                <a:solidFill>
                  <a:srgbClr val="7A8A90"/>
                </a:solidFill>
              </a:rPr>
              <a:t>Pengendalian persediaan menerapkan algoritma First Expired First Out (FEFO) berbasis Batch untuk obat, serta pendataan Serial Number untuk Alat Kesehatan.</a:t>
            </a:r>
          </a:p>
        </p:txBody>
      </p:sp>
      <p:sp>
        <p:nvSpPr>
          <p:cNvPr id="17" name="Rectangle 16"/>
          <p:cNvSpPr/>
          <p:nvPr/>
        </p:nvSpPr>
        <p:spPr>
          <a:xfrm>
            <a:off x="8087868" y="1691640"/>
            <a:ext cx="45720" cy="347472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0748" y="1691640"/>
            <a:ext cx="502920" cy="594360"/>
          </a:xfrm>
          <a:prstGeom prst="rect">
            <a:avLst/>
          </a:prstGeom>
          <a:noFill/>
        </p:spPr>
        <p:txBody>
          <a:bodyPr wrap="square">
            <a:spAutoFit/>
          </a:bodyPr>
          <a:lstStyle/>
          <a:p>
            <a:pPr algn="l"/>
            <a:r>
              <a:rPr sz="2800" b="0" i="0">
                <a:solidFill>
                  <a:srgbClr val="4AB5BF"/>
                </a:solidFill>
              </a:rPr>
              <a:t>🔗</a:t>
            </a:r>
          </a:p>
        </p:txBody>
      </p:sp>
      <p:sp>
        <p:nvSpPr>
          <p:cNvPr id="19" name="TextBox 18"/>
          <p:cNvSpPr txBox="1"/>
          <p:nvPr/>
        </p:nvSpPr>
        <p:spPr>
          <a:xfrm>
            <a:off x="8270748" y="2286000"/>
            <a:ext cx="3246120" cy="457200"/>
          </a:xfrm>
          <a:prstGeom prst="rect">
            <a:avLst/>
          </a:prstGeom>
          <a:noFill/>
        </p:spPr>
        <p:txBody>
          <a:bodyPr wrap="square">
            <a:spAutoFit/>
          </a:bodyPr>
          <a:lstStyle/>
          <a:p>
            <a:pPr algn="l"/>
            <a:r>
              <a:rPr sz="1400" b="1" i="0">
                <a:solidFill>
                  <a:srgbClr val="1A2A30"/>
                </a:solidFill>
              </a:rPr>
              <a:t>Infrastruktur Pihak Ketiga</a:t>
            </a:r>
          </a:p>
        </p:txBody>
      </p:sp>
      <p:sp>
        <p:nvSpPr>
          <p:cNvPr id="20" name="TextBox 19"/>
          <p:cNvSpPr txBox="1"/>
          <p:nvPr/>
        </p:nvSpPr>
        <p:spPr>
          <a:xfrm>
            <a:off x="8270748" y="2807208"/>
            <a:ext cx="3200400" cy="2286000"/>
          </a:xfrm>
          <a:prstGeom prst="rect">
            <a:avLst/>
          </a:prstGeom>
          <a:noFill/>
        </p:spPr>
        <p:txBody>
          <a:bodyPr wrap="square">
            <a:spAutoFit/>
          </a:bodyPr>
          <a:lstStyle/>
          <a:p>
            <a:pPr algn="l"/>
            <a:r>
              <a:rPr sz="1200" b="0" i="0">
                <a:solidFill>
                  <a:srgbClr val="7A8A90"/>
                </a:solidFill>
              </a:rPr>
              <a:t>Integrasi Midtrans API (pembayaran) dan RajaOngkir (ongkir) dijalankan secara eksklusif pada lingkungan pengujian (Sandbox Mode).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Perbandingan Penelitian Terdahulu</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sp>
        <p:nvSpPr>
          <p:cNvPr id="9" name="Rectangle 8"/>
          <p:cNvSpPr/>
          <p:nvPr/>
        </p:nvSpPr>
        <p:spPr>
          <a:xfrm>
            <a:off x="548640" y="1371600"/>
            <a:ext cx="2194560" cy="61264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1444752"/>
            <a:ext cx="2084832" cy="521208"/>
          </a:xfrm>
          <a:prstGeom prst="rect">
            <a:avLst/>
          </a:prstGeom>
          <a:noFill/>
        </p:spPr>
        <p:txBody>
          <a:bodyPr wrap="square">
            <a:spAutoFit/>
          </a:bodyPr>
          <a:lstStyle/>
          <a:p>
            <a:pPr algn="ctr"/>
            <a:r>
              <a:rPr sz="1000" b="1" i="0">
                <a:solidFill>
                  <a:srgbClr val="FFFFFF"/>
                </a:solidFill>
              </a:rPr>
              <a:t>Aspek</a:t>
            </a:r>
          </a:p>
        </p:txBody>
      </p:sp>
      <p:sp>
        <p:nvSpPr>
          <p:cNvPr id="11" name="Rectangle 10"/>
          <p:cNvSpPr/>
          <p:nvPr/>
        </p:nvSpPr>
        <p:spPr>
          <a:xfrm>
            <a:off x="2743200" y="1371600"/>
            <a:ext cx="1810512" cy="612648"/>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98064" y="1444752"/>
            <a:ext cx="1700784" cy="521208"/>
          </a:xfrm>
          <a:prstGeom prst="rect">
            <a:avLst/>
          </a:prstGeom>
          <a:noFill/>
        </p:spPr>
        <p:txBody>
          <a:bodyPr wrap="square">
            <a:spAutoFit/>
          </a:bodyPr>
          <a:lstStyle/>
          <a:p>
            <a:pPr algn="ctr"/>
            <a:r>
              <a:rPr sz="1000" b="1" i="0">
                <a:solidFill>
                  <a:srgbClr val="FFFFFF"/>
                </a:solidFill>
              </a:rPr>
              <a:t>Rachman dkk.
(2024)</a:t>
            </a:r>
          </a:p>
        </p:txBody>
      </p:sp>
      <p:sp>
        <p:nvSpPr>
          <p:cNvPr id="13" name="Rectangle 12"/>
          <p:cNvSpPr/>
          <p:nvPr/>
        </p:nvSpPr>
        <p:spPr>
          <a:xfrm>
            <a:off x="4553712" y="1371600"/>
            <a:ext cx="1810512" cy="612648"/>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8576" y="1444752"/>
            <a:ext cx="1700784" cy="521208"/>
          </a:xfrm>
          <a:prstGeom prst="rect">
            <a:avLst/>
          </a:prstGeom>
          <a:noFill/>
        </p:spPr>
        <p:txBody>
          <a:bodyPr wrap="square">
            <a:spAutoFit/>
          </a:bodyPr>
          <a:lstStyle/>
          <a:p>
            <a:pPr algn="ctr"/>
            <a:r>
              <a:rPr sz="1000" b="1" i="0">
                <a:solidFill>
                  <a:srgbClr val="FFFFFF"/>
                </a:solidFill>
              </a:rPr>
              <a:t>Nuralisa dkk.
(2024)</a:t>
            </a:r>
          </a:p>
        </p:txBody>
      </p:sp>
      <p:sp>
        <p:nvSpPr>
          <p:cNvPr id="15" name="Rectangle 14"/>
          <p:cNvSpPr/>
          <p:nvPr/>
        </p:nvSpPr>
        <p:spPr>
          <a:xfrm>
            <a:off x="6364224" y="1371600"/>
            <a:ext cx="1810512" cy="612648"/>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9088" y="1444752"/>
            <a:ext cx="1700784" cy="521208"/>
          </a:xfrm>
          <a:prstGeom prst="rect">
            <a:avLst/>
          </a:prstGeom>
          <a:noFill/>
        </p:spPr>
        <p:txBody>
          <a:bodyPr wrap="square">
            <a:spAutoFit/>
          </a:bodyPr>
          <a:lstStyle/>
          <a:p>
            <a:pPr algn="ctr"/>
            <a:r>
              <a:rPr sz="1000" b="1" i="0">
                <a:solidFill>
                  <a:srgbClr val="FFFFFF"/>
                </a:solidFill>
              </a:rPr>
              <a:t>Mattegunta
(2025)</a:t>
            </a:r>
          </a:p>
        </p:txBody>
      </p:sp>
      <p:sp>
        <p:nvSpPr>
          <p:cNvPr id="17" name="Rectangle 16"/>
          <p:cNvSpPr/>
          <p:nvPr/>
        </p:nvSpPr>
        <p:spPr>
          <a:xfrm>
            <a:off x="8174736" y="1371600"/>
            <a:ext cx="2286000" cy="612648"/>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0" y="1444752"/>
            <a:ext cx="2176272" cy="521208"/>
          </a:xfrm>
          <a:prstGeom prst="rect">
            <a:avLst/>
          </a:prstGeom>
          <a:noFill/>
        </p:spPr>
        <p:txBody>
          <a:bodyPr wrap="square">
            <a:spAutoFit/>
          </a:bodyPr>
          <a:lstStyle/>
          <a:p>
            <a:pPr algn="ctr"/>
            <a:r>
              <a:rPr sz="1000" b="1" i="0">
                <a:solidFill>
                  <a:srgbClr val="FFFFFF"/>
                </a:solidFill>
              </a:rPr>
              <a:t>Sistem Usulan
(ZenCare Medical)</a:t>
            </a:r>
          </a:p>
        </p:txBody>
      </p:sp>
      <p:sp>
        <p:nvSpPr>
          <p:cNvPr id="19" name="Rectangle 18"/>
          <p:cNvSpPr/>
          <p:nvPr/>
        </p:nvSpPr>
        <p:spPr>
          <a:xfrm>
            <a:off x="548640" y="1984248"/>
            <a:ext cx="2194560" cy="612648"/>
          </a:xfrm>
          <a:prstGeom prst="rect">
            <a:avLst/>
          </a:prstGeom>
          <a:solidFill>
            <a:srgbClr val="D6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 y="2039112"/>
            <a:ext cx="2084832" cy="539496"/>
          </a:xfrm>
          <a:prstGeom prst="rect">
            <a:avLst/>
          </a:prstGeom>
          <a:noFill/>
        </p:spPr>
        <p:txBody>
          <a:bodyPr wrap="square">
            <a:spAutoFit/>
          </a:bodyPr>
          <a:lstStyle/>
          <a:p>
            <a:pPr algn="ctr"/>
            <a:r>
              <a:rPr sz="1000" b="1" i="0">
                <a:solidFill>
                  <a:srgbClr val="2D3A40"/>
                </a:solidFill>
              </a:rPr>
              <a:t>Lingkup Saluran</a:t>
            </a:r>
          </a:p>
        </p:txBody>
      </p:sp>
      <p:sp>
        <p:nvSpPr>
          <p:cNvPr id="21" name="Rectangle 20"/>
          <p:cNvSpPr/>
          <p:nvPr/>
        </p:nvSpPr>
        <p:spPr>
          <a:xfrm>
            <a:off x="2743200" y="1984248"/>
            <a:ext cx="1810512" cy="612648"/>
          </a:xfrm>
          <a:prstGeom prst="rect">
            <a:avLst/>
          </a:prstGeom>
          <a:solidFill>
            <a:srgbClr val="EB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98064" y="2039112"/>
            <a:ext cx="1700784" cy="539496"/>
          </a:xfrm>
          <a:prstGeom prst="rect">
            <a:avLst/>
          </a:prstGeom>
          <a:noFill/>
        </p:spPr>
        <p:txBody>
          <a:bodyPr wrap="square">
            <a:spAutoFit/>
          </a:bodyPr>
          <a:lstStyle/>
          <a:p>
            <a:pPr algn="ctr"/>
            <a:r>
              <a:rPr sz="1000" b="0" i="0">
                <a:solidFill>
                  <a:srgbClr val="2D3A40"/>
                </a:solidFill>
              </a:rPr>
              <a:t>Single-channel
(Luring)</a:t>
            </a:r>
          </a:p>
        </p:txBody>
      </p:sp>
      <p:sp>
        <p:nvSpPr>
          <p:cNvPr id="23" name="Rectangle 22"/>
          <p:cNvSpPr/>
          <p:nvPr/>
        </p:nvSpPr>
        <p:spPr>
          <a:xfrm>
            <a:off x="4553712" y="1984248"/>
            <a:ext cx="1810512" cy="612648"/>
          </a:xfrm>
          <a:prstGeom prst="rect">
            <a:avLst/>
          </a:prstGeom>
          <a:solidFill>
            <a:srgbClr val="EB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08576" y="2039112"/>
            <a:ext cx="1700784" cy="539496"/>
          </a:xfrm>
          <a:prstGeom prst="rect">
            <a:avLst/>
          </a:prstGeom>
          <a:noFill/>
        </p:spPr>
        <p:txBody>
          <a:bodyPr wrap="square">
            <a:spAutoFit/>
          </a:bodyPr>
          <a:lstStyle/>
          <a:p>
            <a:pPr algn="ctr"/>
            <a:r>
              <a:rPr sz="1000" b="0" i="0">
                <a:solidFill>
                  <a:srgbClr val="2D3A40"/>
                </a:solidFill>
              </a:rPr>
              <a:t>Single-channel
(Luring)</a:t>
            </a:r>
          </a:p>
        </p:txBody>
      </p:sp>
      <p:sp>
        <p:nvSpPr>
          <p:cNvPr id="25" name="Rectangle 24"/>
          <p:cNvSpPr/>
          <p:nvPr/>
        </p:nvSpPr>
        <p:spPr>
          <a:xfrm>
            <a:off x="6364224" y="1984248"/>
            <a:ext cx="1810512" cy="612648"/>
          </a:xfrm>
          <a:prstGeom prst="rect">
            <a:avLst/>
          </a:prstGeom>
          <a:solidFill>
            <a:srgbClr val="EB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19088" y="2039112"/>
            <a:ext cx="1700784" cy="539496"/>
          </a:xfrm>
          <a:prstGeom prst="rect">
            <a:avLst/>
          </a:prstGeom>
          <a:noFill/>
        </p:spPr>
        <p:txBody>
          <a:bodyPr wrap="square">
            <a:spAutoFit/>
          </a:bodyPr>
          <a:lstStyle/>
          <a:p>
            <a:pPr algn="ctr"/>
            <a:r>
              <a:rPr sz="1000" b="0" i="0">
                <a:solidFill>
                  <a:srgbClr val="2D3A40"/>
                </a:solidFill>
              </a:rPr>
              <a:t>Omnichannel
Ritel Umum</a:t>
            </a:r>
          </a:p>
        </p:txBody>
      </p:sp>
      <p:sp>
        <p:nvSpPr>
          <p:cNvPr id="27" name="Rectangle 26"/>
          <p:cNvSpPr/>
          <p:nvPr/>
        </p:nvSpPr>
        <p:spPr>
          <a:xfrm>
            <a:off x="8174736" y="1984248"/>
            <a:ext cx="2286000" cy="612648"/>
          </a:xfrm>
          <a:prstGeom prst="rect">
            <a:avLst/>
          </a:prstGeom>
          <a:solidFill>
            <a:srgbClr val="E4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0" y="2039112"/>
            <a:ext cx="2176272" cy="539496"/>
          </a:xfrm>
          <a:prstGeom prst="rect">
            <a:avLst/>
          </a:prstGeom>
          <a:noFill/>
        </p:spPr>
        <p:txBody>
          <a:bodyPr wrap="square">
            <a:spAutoFit/>
          </a:bodyPr>
          <a:lstStyle/>
          <a:p>
            <a:pPr algn="ctr"/>
            <a:r>
              <a:rPr sz="1000" b="0" i="0">
                <a:solidFill>
                  <a:srgbClr val="277A55"/>
                </a:solidFill>
              </a:rPr>
              <a:t>✔ Omnichannel
(POS + E-Commerce)</a:t>
            </a:r>
          </a:p>
        </p:txBody>
      </p:sp>
      <p:sp>
        <p:nvSpPr>
          <p:cNvPr id="29" name="Rectangle 28"/>
          <p:cNvSpPr/>
          <p:nvPr/>
        </p:nvSpPr>
        <p:spPr>
          <a:xfrm>
            <a:off x="548640" y="2596896"/>
            <a:ext cx="2194560" cy="612648"/>
          </a:xfrm>
          <a:prstGeom prst="rect">
            <a:avLst/>
          </a:prstGeom>
          <a:solidFill>
            <a:srgbClr val="D6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 y="2651760"/>
            <a:ext cx="2084832" cy="539496"/>
          </a:xfrm>
          <a:prstGeom prst="rect">
            <a:avLst/>
          </a:prstGeom>
          <a:noFill/>
        </p:spPr>
        <p:txBody>
          <a:bodyPr wrap="square">
            <a:spAutoFit/>
          </a:bodyPr>
          <a:lstStyle/>
          <a:p>
            <a:pPr algn="ctr"/>
            <a:r>
              <a:rPr sz="1000" b="1" i="0">
                <a:solidFill>
                  <a:srgbClr val="2D3A40"/>
                </a:solidFill>
              </a:rPr>
              <a:t>Konversi Multi-UOM</a:t>
            </a:r>
          </a:p>
        </p:txBody>
      </p:sp>
      <p:sp>
        <p:nvSpPr>
          <p:cNvPr id="31" name="Rectangle 30"/>
          <p:cNvSpPr/>
          <p:nvPr/>
        </p:nvSpPr>
        <p:spPr>
          <a:xfrm>
            <a:off x="2743200" y="2596896"/>
            <a:ext cx="1810512"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98064" y="2651760"/>
            <a:ext cx="1700784" cy="539496"/>
          </a:xfrm>
          <a:prstGeom prst="rect">
            <a:avLst/>
          </a:prstGeom>
          <a:noFill/>
        </p:spPr>
        <p:txBody>
          <a:bodyPr wrap="square">
            <a:spAutoFit/>
          </a:bodyPr>
          <a:lstStyle/>
          <a:p>
            <a:pPr algn="ctr"/>
            <a:r>
              <a:rPr sz="1000" b="0" i="0">
                <a:solidFill>
                  <a:srgbClr val="C0392B"/>
                </a:solidFill>
              </a:rPr>
              <a:t>✗ Tidak Ada</a:t>
            </a:r>
          </a:p>
        </p:txBody>
      </p:sp>
      <p:sp>
        <p:nvSpPr>
          <p:cNvPr id="33" name="Rectangle 32"/>
          <p:cNvSpPr/>
          <p:nvPr/>
        </p:nvSpPr>
        <p:spPr>
          <a:xfrm>
            <a:off x="4553712" y="2596896"/>
            <a:ext cx="1810512"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608576" y="2651760"/>
            <a:ext cx="1700784" cy="539496"/>
          </a:xfrm>
          <a:prstGeom prst="rect">
            <a:avLst/>
          </a:prstGeom>
          <a:noFill/>
        </p:spPr>
        <p:txBody>
          <a:bodyPr wrap="square">
            <a:spAutoFit/>
          </a:bodyPr>
          <a:lstStyle/>
          <a:p>
            <a:pPr algn="ctr"/>
            <a:r>
              <a:rPr sz="1000" b="0" i="0">
                <a:solidFill>
                  <a:srgbClr val="C0392B"/>
                </a:solidFill>
              </a:rPr>
              <a:t>✗ Tidak Ada</a:t>
            </a:r>
          </a:p>
        </p:txBody>
      </p:sp>
      <p:sp>
        <p:nvSpPr>
          <p:cNvPr id="35" name="Rectangle 34"/>
          <p:cNvSpPr/>
          <p:nvPr/>
        </p:nvSpPr>
        <p:spPr>
          <a:xfrm>
            <a:off x="6364224" y="2596896"/>
            <a:ext cx="1810512"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19088" y="2651760"/>
            <a:ext cx="1700784" cy="539496"/>
          </a:xfrm>
          <a:prstGeom prst="rect">
            <a:avLst/>
          </a:prstGeom>
          <a:noFill/>
        </p:spPr>
        <p:txBody>
          <a:bodyPr wrap="square">
            <a:spAutoFit/>
          </a:bodyPr>
          <a:lstStyle/>
          <a:p>
            <a:pPr algn="ctr"/>
            <a:r>
              <a:rPr sz="1000" b="0" i="0">
                <a:solidFill>
                  <a:srgbClr val="C0392B"/>
                </a:solidFill>
              </a:rPr>
              <a:t>✗ Tidak Ada</a:t>
            </a:r>
          </a:p>
        </p:txBody>
      </p:sp>
      <p:sp>
        <p:nvSpPr>
          <p:cNvPr id="37" name="Rectangle 36"/>
          <p:cNvSpPr/>
          <p:nvPr/>
        </p:nvSpPr>
        <p:spPr>
          <a:xfrm>
            <a:off x="8174736" y="2596896"/>
            <a:ext cx="2286000" cy="612648"/>
          </a:xfrm>
          <a:prstGeom prst="rect">
            <a:avLst/>
          </a:prstGeom>
          <a:solidFill>
            <a:srgbClr val="E4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0" y="2651760"/>
            <a:ext cx="2176272" cy="539496"/>
          </a:xfrm>
          <a:prstGeom prst="rect">
            <a:avLst/>
          </a:prstGeom>
          <a:noFill/>
        </p:spPr>
        <p:txBody>
          <a:bodyPr wrap="square">
            <a:spAutoFit/>
          </a:bodyPr>
          <a:lstStyle/>
          <a:p>
            <a:pPr algn="ctr"/>
            <a:r>
              <a:rPr sz="1000" b="0" i="0">
                <a:solidFill>
                  <a:srgbClr val="277A55"/>
                </a:solidFill>
              </a:rPr>
              <a:t>✔ Dual-UOM Dinamis</a:t>
            </a:r>
          </a:p>
        </p:txBody>
      </p:sp>
      <p:sp>
        <p:nvSpPr>
          <p:cNvPr id="39" name="Rectangle 38"/>
          <p:cNvSpPr/>
          <p:nvPr/>
        </p:nvSpPr>
        <p:spPr>
          <a:xfrm>
            <a:off x="548640" y="3209544"/>
            <a:ext cx="2194560" cy="612648"/>
          </a:xfrm>
          <a:prstGeom prst="rect">
            <a:avLst/>
          </a:prstGeom>
          <a:solidFill>
            <a:srgbClr val="D6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3504" y="3264408"/>
            <a:ext cx="2084832" cy="539496"/>
          </a:xfrm>
          <a:prstGeom prst="rect">
            <a:avLst/>
          </a:prstGeom>
          <a:noFill/>
        </p:spPr>
        <p:txBody>
          <a:bodyPr wrap="square">
            <a:spAutoFit/>
          </a:bodyPr>
          <a:lstStyle/>
          <a:p>
            <a:pPr algn="ctr"/>
            <a:r>
              <a:rPr sz="1000" b="1" i="0">
                <a:solidFill>
                  <a:srgbClr val="2D3A40"/>
                </a:solidFill>
              </a:rPr>
              <a:t>Pelacakan FEFO/Batch</a:t>
            </a:r>
          </a:p>
        </p:txBody>
      </p:sp>
      <p:sp>
        <p:nvSpPr>
          <p:cNvPr id="41" name="Rectangle 40"/>
          <p:cNvSpPr/>
          <p:nvPr/>
        </p:nvSpPr>
        <p:spPr>
          <a:xfrm>
            <a:off x="2743200" y="3209544"/>
            <a:ext cx="1810512" cy="612648"/>
          </a:xfrm>
          <a:prstGeom prst="rect">
            <a:avLst/>
          </a:prstGeom>
          <a:solidFill>
            <a:srgbClr val="EB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98064" y="3264408"/>
            <a:ext cx="1700784" cy="539496"/>
          </a:xfrm>
          <a:prstGeom prst="rect">
            <a:avLst/>
          </a:prstGeom>
          <a:noFill/>
        </p:spPr>
        <p:txBody>
          <a:bodyPr wrap="square">
            <a:spAutoFit/>
          </a:bodyPr>
          <a:lstStyle/>
          <a:p>
            <a:pPr algn="ctr"/>
            <a:r>
              <a:rPr sz="1000" b="0" i="0">
                <a:solidFill>
                  <a:srgbClr val="C0392B"/>
                </a:solidFill>
              </a:rPr>
              <a:t>✗ Tidak Ada</a:t>
            </a:r>
          </a:p>
        </p:txBody>
      </p:sp>
      <p:sp>
        <p:nvSpPr>
          <p:cNvPr id="43" name="Rectangle 42"/>
          <p:cNvSpPr/>
          <p:nvPr/>
        </p:nvSpPr>
        <p:spPr>
          <a:xfrm>
            <a:off x="4553712" y="3209544"/>
            <a:ext cx="1810512" cy="612648"/>
          </a:xfrm>
          <a:prstGeom prst="rect">
            <a:avLst/>
          </a:prstGeom>
          <a:solidFill>
            <a:srgbClr val="EB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08576" y="3264408"/>
            <a:ext cx="1700784" cy="539496"/>
          </a:xfrm>
          <a:prstGeom prst="rect">
            <a:avLst/>
          </a:prstGeom>
          <a:noFill/>
        </p:spPr>
        <p:txBody>
          <a:bodyPr wrap="square">
            <a:spAutoFit/>
          </a:bodyPr>
          <a:lstStyle/>
          <a:p>
            <a:pPr algn="ctr"/>
            <a:r>
              <a:rPr sz="1000" b="0" i="0">
                <a:solidFill>
                  <a:srgbClr val="C0392B"/>
                </a:solidFill>
              </a:rPr>
              <a:t>✗ Tidak Ada</a:t>
            </a:r>
          </a:p>
        </p:txBody>
      </p:sp>
      <p:sp>
        <p:nvSpPr>
          <p:cNvPr id="45" name="Rectangle 44"/>
          <p:cNvSpPr/>
          <p:nvPr/>
        </p:nvSpPr>
        <p:spPr>
          <a:xfrm>
            <a:off x="6364224" y="3209544"/>
            <a:ext cx="1810512" cy="612648"/>
          </a:xfrm>
          <a:prstGeom prst="rect">
            <a:avLst/>
          </a:prstGeom>
          <a:solidFill>
            <a:srgbClr val="EB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19088" y="3264408"/>
            <a:ext cx="1700784" cy="539496"/>
          </a:xfrm>
          <a:prstGeom prst="rect">
            <a:avLst/>
          </a:prstGeom>
          <a:noFill/>
        </p:spPr>
        <p:txBody>
          <a:bodyPr wrap="square">
            <a:spAutoFit/>
          </a:bodyPr>
          <a:lstStyle/>
          <a:p>
            <a:pPr algn="ctr"/>
            <a:r>
              <a:rPr sz="1000" b="0" i="0">
                <a:solidFill>
                  <a:srgbClr val="C0392B"/>
                </a:solidFill>
              </a:rPr>
              <a:t>✗ Tidak Ada</a:t>
            </a:r>
          </a:p>
        </p:txBody>
      </p:sp>
      <p:sp>
        <p:nvSpPr>
          <p:cNvPr id="47" name="Rectangle 46"/>
          <p:cNvSpPr/>
          <p:nvPr/>
        </p:nvSpPr>
        <p:spPr>
          <a:xfrm>
            <a:off x="8174736" y="3209544"/>
            <a:ext cx="2286000" cy="612648"/>
          </a:xfrm>
          <a:prstGeom prst="rect">
            <a:avLst/>
          </a:prstGeom>
          <a:solidFill>
            <a:srgbClr val="E4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0" y="3264408"/>
            <a:ext cx="2176272" cy="539496"/>
          </a:xfrm>
          <a:prstGeom prst="rect">
            <a:avLst/>
          </a:prstGeom>
          <a:noFill/>
        </p:spPr>
        <p:txBody>
          <a:bodyPr wrap="square">
            <a:spAutoFit/>
          </a:bodyPr>
          <a:lstStyle/>
          <a:p>
            <a:pPr algn="ctr"/>
            <a:r>
              <a:rPr sz="1000" b="0" i="0">
                <a:solidFill>
                  <a:srgbClr val="277A55"/>
                </a:solidFill>
              </a:rPr>
              <a:t>✔ FEFO per Batch</a:t>
            </a:r>
          </a:p>
        </p:txBody>
      </p:sp>
      <p:sp>
        <p:nvSpPr>
          <p:cNvPr id="49" name="Rectangle 48"/>
          <p:cNvSpPr/>
          <p:nvPr/>
        </p:nvSpPr>
        <p:spPr>
          <a:xfrm>
            <a:off x="548640" y="3822192"/>
            <a:ext cx="2194560" cy="612648"/>
          </a:xfrm>
          <a:prstGeom prst="rect">
            <a:avLst/>
          </a:prstGeom>
          <a:solidFill>
            <a:srgbClr val="D6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3504" y="3877056"/>
            <a:ext cx="2084832" cy="539496"/>
          </a:xfrm>
          <a:prstGeom prst="rect">
            <a:avLst/>
          </a:prstGeom>
          <a:noFill/>
        </p:spPr>
        <p:txBody>
          <a:bodyPr wrap="square">
            <a:spAutoFit/>
          </a:bodyPr>
          <a:lstStyle/>
          <a:p>
            <a:pPr algn="ctr"/>
            <a:r>
              <a:rPr sz="1000" b="1" i="0">
                <a:solidFill>
                  <a:srgbClr val="2D3A40"/>
                </a:solidFill>
              </a:rPr>
              <a:t>Serial Number Alkes</a:t>
            </a:r>
          </a:p>
        </p:txBody>
      </p:sp>
      <p:sp>
        <p:nvSpPr>
          <p:cNvPr id="51" name="Rectangle 50"/>
          <p:cNvSpPr/>
          <p:nvPr/>
        </p:nvSpPr>
        <p:spPr>
          <a:xfrm>
            <a:off x="2743200" y="3822192"/>
            <a:ext cx="1810512"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798064" y="3877056"/>
            <a:ext cx="1700784" cy="539496"/>
          </a:xfrm>
          <a:prstGeom prst="rect">
            <a:avLst/>
          </a:prstGeom>
          <a:noFill/>
        </p:spPr>
        <p:txBody>
          <a:bodyPr wrap="square">
            <a:spAutoFit/>
          </a:bodyPr>
          <a:lstStyle/>
          <a:p>
            <a:pPr algn="ctr"/>
            <a:r>
              <a:rPr sz="1000" b="0" i="0">
                <a:solidFill>
                  <a:srgbClr val="C0392B"/>
                </a:solidFill>
              </a:rPr>
              <a:t>✗ Tidak Ada</a:t>
            </a:r>
          </a:p>
        </p:txBody>
      </p:sp>
      <p:sp>
        <p:nvSpPr>
          <p:cNvPr id="53" name="Rectangle 52"/>
          <p:cNvSpPr/>
          <p:nvPr/>
        </p:nvSpPr>
        <p:spPr>
          <a:xfrm>
            <a:off x="4553712" y="3822192"/>
            <a:ext cx="1810512"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608576" y="3877056"/>
            <a:ext cx="1700784" cy="539496"/>
          </a:xfrm>
          <a:prstGeom prst="rect">
            <a:avLst/>
          </a:prstGeom>
          <a:noFill/>
        </p:spPr>
        <p:txBody>
          <a:bodyPr wrap="square">
            <a:spAutoFit/>
          </a:bodyPr>
          <a:lstStyle/>
          <a:p>
            <a:pPr algn="ctr"/>
            <a:r>
              <a:rPr sz="1000" b="0" i="0">
                <a:solidFill>
                  <a:srgbClr val="C0392B"/>
                </a:solidFill>
              </a:rPr>
              <a:t>✗ Tidak Ada</a:t>
            </a:r>
          </a:p>
        </p:txBody>
      </p:sp>
      <p:sp>
        <p:nvSpPr>
          <p:cNvPr id="55" name="Rectangle 54"/>
          <p:cNvSpPr/>
          <p:nvPr/>
        </p:nvSpPr>
        <p:spPr>
          <a:xfrm>
            <a:off x="6364224" y="3822192"/>
            <a:ext cx="1810512" cy="6126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19088" y="3877056"/>
            <a:ext cx="1700784" cy="539496"/>
          </a:xfrm>
          <a:prstGeom prst="rect">
            <a:avLst/>
          </a:prstGeom>
          <a:noFill/>
        </p:spPr>
        <p:txBody>
          <a:bodyPr wrap="square">
            <a:spAutoFit/>
          </a:bodyPr>
          <a:lstStyle/>
          <a:p>
            <a:pPr algn="ctr"/>
            <a:r>
              <a:rPr sz="1000" b="0" i="0">
                <a:solidFill>
                  <a:srgbClr val="C0392B"/>
                </a:solidFill>
              </a:rPr>
              <a:t>✗ Tidak Ada</a:t>
            </a:r>
          </a:p>
        </p:txBody>
      </p:sp>
      <p:sp>
        <p:nvSpPr>
          <p:cNvPr id="57" name="Rectangle 56"/>
          <p:cNvSpPr/>
          <p:nvPr/>
        </p:nvSpPr>
        <p:spPr>
          <a:xfrm>
            <a:off x="8174736" y="3822192"/>
            <a:ext cx="2286000" cy="612648"/>
          </a:xfrm>
          <a:prstGeom prst="rect">
            <a:avLst/>
          </a:prstGeom>
          <a:solidFill>
            <a:srgbClr val="E4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9600" y="3877056"/>
            <a:ext cx="2176272" cy="539496"/>
          </a:xfrm>
          <a:prstGeom prst="rect">
            <a:avLst/>
          </a:prstGeom>
          <a:noFill/>
        </p:spPr>
        <p:txBody>
          <a:bodyPr wrap="square">
            <a:spAutoFit/>
          </a:bodyPr>
          <a:lstStyle/>
          <a:p>
            <a:pPr algn="ctr"/>
            <a:r>
              <a:rPr sz="1000" b="0" i="0">
                <a:solidFill>
                  <a:srgbClr val="277A55"/>
                </a:solidFill>
              </a:rPr>
              <a:t>✔ SN Alat Kesehatan</a:t>
            </a:r>
          </a:p>
        </p:txBody>
      </p:sp>
      <p:sp>
        <p:nvSpPr>
          <p:cNvPr id="59" name="Rectangle 58"/>
          <p:cNvSpPr/>
          <p:nvPr/>
        </p:nvSpPr>
        <p:spPr>
          <a:xfrm>
            <a:off x="548640" y="4434840"/>
            <a:ext cx="2194560" cy="612648"/>
          </a:xfrm>
          <a:prstGeom prst="rect">
            <a:avLst/>
          </a:prstGeom>
          <a:solidFill>
            <a:srgbClr val="D6E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03504" y="4489704"/>
            <a:ext cx="2084832" cy="539496"/>
          </a:xfrm>
          <a:prstGeom prst="rect">
            <a:avLst/>
          </a:prstGeom>
          <a:noFill/>
        </p:spPr>
        <p:txBody>
          <a:bodyPr wrap="square">
            <a:spAutoFit/>
          </a:bodyPr>
          <a:lstStyle/>
          <a:p>
            <a:pPr algn="ctr"/>
            <a:r>
              <a:rPr sz="1000" b="1" i="0">
                <a:solidFill>
                  <a:srgbClr val="2D3A40"/>
                </a:solidFill>
              </a:rPr>
              <a:t>Segmentasi Domain</a:t>
            </a:r>
          </a:p>
        </p:txBody>
      </p:sp>
      <p:sp>
        <p:nvSpPr>
          <p:cNvPr id="61" name="Rectangle 60"/>
          <p:cNvSpPr/>
          <p:nvPr/>
        </p:nvSpPr>
        <p:spPr>
          <a:xfrm>
            <a:off x="2743200" y="4434840"/>
            <a:ext cx="1810512" cy="612648"/>
          </a:xfrm>
          <a:prstGeom prst="rect">
            <a:avLst/>
          </a:prstGeom>
          <a:solidFill>
            <a:srgbClr val="EB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98064" y="4489704"/>
            <a:ext cx="1700784" cy="539496"/>
          </a:xfrm>
          <a:prstGeom prst="rect">
            <a:avLst/>
          </a:prstGeom>
          <a:noFill/>
        </p:spPr>
        <p:txBody>
          <a:bodyPr wrap="square">
            <a:spAutoFit/>
          </a:bodyPr>
          <a:lstStyle/>
          <a:p>
            <a:pPr algn="ctr"/>
            <a:r>
              <a:rPr sz="1000" b="0" i="0">
                <a:solidFill>
                  <a:srgbClr val="C0392B"/>
                </a:solidFill>
              </a:rPr>
              <a:t>✗ Umum</a:t>
            </a:r>
          </a:p>
        </p:txBody>
      </p:sp>
      <p:sp>
        <p:nvSpPr>
          <p:cNvPr id="63" name="Rectangle 62"/>
          <p:cNvSpPr/>
          <p:nvPr/>
        </p:nvSpPr>
        <p:spPr>
          <a:xfrm>
            <a:off x="4553712" y="4434840"/>
            <a:ext cx="1810512" cy="612648"/>
          </a:xfrm>
          <a:prstGeom prst="rect">
            <a:avLst/>
          </a:prstGeom>
          <a:solidFill>
            <a:srgbClr val="EB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608576" y="4489704"/>
            <a:ext cx="1700784" cy="539496"/>
          </a:xfrm>
          <a:prstGeom prst="rect">
            <a:avLst/>
          </a:prstGeom>
          <a:noFill/>
        </p:spPr>
        <p:txBody>
          <a:bodyPr wrap="square">
            <a:spAutoFit/>
          </a:bodyPr>
          <a:lstStyle/>
          <a:p>
            <a:pPr algn="ctr"/>
            <a:r>
              <a:rPr sz="1000" b="0" i="0">
                <a:solidFill>
                  <a:srgbClr val="C0392B"/>
                </a:solidFill>
              </a:rPr>
              <a:t>✗ Umum</a:t>
            </a:r>
          </a:p>
        </p:txBody>
      </p:sp>
      <p:sp>
        <p:nvSpPr>
          <p:cNvPr id="65" name="Rectangle 64"/>
          <p:cNvSpPr/>
          <p:nvPr/>
        </p:nvSpPr>
        <p:spPr>
          <a:xfrm>
            <a:off x="6364224" y="4434840"/>
            <a:ext cx="1810512" cy="612648"/>
          </a:xfrm>
          <a:prstGeom prst="rect">
            <a:avLst/>
          </a:prstGeom>
          <a:solidFill>
            <a:srgbClr val="EB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419088" y="4489704"/>
            <a:ext cx="1700784" cy="539496"/>
          </a:xfrm>
          <a:prstGeom prst="rect">
            <a:avLst/>
          </a:prstGeom>
          <a:noFill/>
        </p:spPr>
        <p:txBody>
          <a:bodyPr wrap="square">
            <a:spAutoFit/>
          </a:bodyPr>
          <a:lstStyle/>
          <a:p>
            <a:pPr algn="ctr"/>
            <a:r>
              <a:rPr sz="1000" b="0" i="0">
                <a:solidFill>
                  <a:srgbClr val="C0392B"/>
                </a:solidFill>
              </a:rPr>
              <a:t>✗ Ritel Umum</a:t>
            </a:r>
          </a:p>
        </p:txBody>
      </p:sp>
      <p:sp>
        <p:nvSpPr>
          <p:cNvPr id="67" name="Rectangle 66"/>
          <p:cNvSpPr/>
          <p:nvPr/>
        </p:nvSpPr>
        <p:spPr>
          <a:xfrm>
            <a:off x="8174736" y="4434840"/>
            <a:ext cx="2286000" cy="612648"/>
          </a:xfrm>
          <a:prstGeom prst="rect">
            <a:avLst/>
          </a:prstGeom>
          <a:solidFill>
            <a:srgbClr val="E4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229600" y="4489704"/>
            <a:ext cx="2176272" cy="539496"/>
          </a:xfrm>
          <a:prstGeom prst="rect">
            <a:avLst/>
          </a:prstGeom>
          <a:noFill/>
        </p:spPr>
        <p:txBody>
          <a:bodyPr wrap="square">
            <a:spAutoFit/>
          </a:bodyPr>
          <a:lstStyle/>
          <a:p>
            <a:pPr algn="ctr"/>
            <a:r>
              <a:rPr sz="1000" b="0" i="0">
                <a:solidFill>
                  <a:srgbClr val="277A55"/>
                </a:solidFill>
              </a:rPr>
              <a:t>✔ Medis (Obat &amp; Alkes)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Pembaruan Sistem (Novelty)</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sp>
        <p:nvSpPr>
          <p:cNvPr id="9" name="TextBox 8"/>
          <p:cNvSpPr txBox="1"/>
          <p:nvPr/>
        </p:nvSpPr>
        <p:spPr>
          <a:xfrm>
            <a:off x="594360" y="1554480"/>
            <a:ext cx="5394960" cy="347472"/>
          </a:xfrm>
          <a:prstGeom prst="rect">
            <a:avLst/>
          </a:prstGeom>
          <a:noFill/>
        </p:spPr>
        <p:txBody>
          <a:bodyPr wrap="square">
            <a:spAutoFit/>
          </a:bodyPr>
          <a:lstStyle/>
          <a:p>
            <a:pPr algn="l"/>
            <a:r>
              <a:rPr sz="1000" b="1" i="0">
                <a:solidFill>
                  <a:srgbClr val="C0392B"/>
                </a:solidFill>
              </a:rPr>
              <a:t>PENELITIAN TERDAHULU</a:t>
            </a:r>
          </a:p>
        </p:txBody>
      </p:sp>
      <p:sp>
        <p:nvSpPr>
          <p:cNvPr id="10" name="TextBox 9"/>
          <p:cNvSpPr txBox="1"/>
          <p:nvPr/>
        </p:nvSpPr>
        <p:spPr>
          <a:xfrm>
            <a:off x="594360" y="2029968"/>
            <a:ext cx="320040" cy="411480"/>
          </a:xfrm>
          <a:prstGeom prst="rect">
            <a:avLst/>
          </a:prstGeom>
          <a:noFill/>
        </p:spPr>
        <p:txBody>
          <a:bodyPr wrap="square">
            <a:spAutoFit/>
          </a:bodyPr>
          <a:lstStyle/>
          <a:p>
            <a:pPr algn="l"/>
            <a:r>
              <a:rPr sz="1600" b="1" i="0">
                <a:solidFill>
                  <a:srgbClr val="C0392B"/>
                </a:solidFill>
              </a:rPr>
              <a:t>✗</a:t>
            </a:r>
          </a:p>
        </p:txBody>
      </p:sp>
      <p:sp>
        <p:nvSpPr>
          <p:cNvPr id="11" name="TextBox 10"/>
          <p:cNvSpPr txBox="1"/>
          <p:nvPr/>
        </p:nvSpPr>
        <p:spPr>
          <a:xfrm>
            <a:off x="960120" y="2057400"/>
            <a:ext cx="4937760" cy="411480"/>
          </a:xfrm>
          <a:prstGeom prst="rect">
            <a:avLst/>
          </a:prstGeom>
          <a:noFill/>
        </p:spPr>
        <p:txBody>
          <a:bodyPr wrap="square">
            <a:spAutoFit/>
          </a:bodyPr>
          <a:lstStyle/>
          <a:p>
            <a:pPr algn="l"/>
            <a:r>
              <a:rPr sz="1150" b="0" i="0">
                <a:solidFill>
                  <a:srgbClr val="2D3A40"/>
                </a:solidFill>
              </a:rPr>
              <a:t>Risiko overselling akibat aplikasi kasir yang terisolasi dari stok E-Commerce.</a:t>
            </a:r>
          </a:p>
        </p:txBody>
      </p:sp>
      <p:sp>
        <p:nvSpPr>
          <p:cNvPr id="12" name="TextBox 11"/>
          <p:cNvSpPr txBox="1"/>
          <p:nvPr/>
        </p:nvSpPr>
        <p:spPr>
          <a:xfrm>
            <a:off x="594360" y="2834640"/>
            <a:ext cx="320040" cy="411480"/>
          </a:xfrm>
          <a:prstGeom prst="rect">
            <a:avLst/>
          </a:prstGeom>
          <a:noFill/>
        </p:spPr>
        <p:txBody>
          <a:bodyPr wrap="square">
            <a:spAutoFit/>
          </a:bodyPr>
          <a:lstStyle/>
          <a:p>
            <a:pPr algn="l"/>
            <a:r>
              <a:rPr sz="1600" b="1" i="0">
                <a:solidFill>
                  <a:srgbClr val="C0392B"/>
                </a:solidFill>
              </a:rPr>
              <a:t>✗</a:t>
            </a:r>
          </a:p>
        </p:txBody>
      </p:sp>
      <p:sp>
        <p:nvSpPr>
          <p:cNvPr id="13" name="TextBox 12"/>
          <p:cNvSpPr txBox="1"/>
          <p:nvPr/>
        </p:nvSpPr>
        <p:spPr>
          <a:xfrm>
            <a:off x="960120" y="2862072"/>
            <a:ext cx="4937760" cy="411480"/>
          </a:xfrm>
          <a:prstGeom prst="rect">
            <a:avLst/>
          </a:prstGeom>
          <a:noFill/>
        </p:spPr>
        <p:txBody>
          <a:bodyPr wrap="square">
            <a:spAutoFit/>
          </a:bodyPr>
          <a:lstStyle/>
          <a:p>
            <a:pPr algn="l"/>
            <a:r>
              <a:rPr sz="1150" b="0" i="0">
                <a:solidFill>
                  <a:srgbClr val="2D3A40"/>
                </a:solidFill>
              </a:rPr>
              <a:t>Beban kerja tinggi akibat konversi satuan (Box→Strip) dilakukan manual oleh admin.</a:t>
            </a:r>
          </a:p>
        </p:txBody>
      </p:sp>
      <p:sp>
        <p:nvSpPr>
          <p:cNvPr id="14" name="TextBox 13"/>
          <p:cNvSpPr txBox="1"/>
          <p:nvPr/>
        </p:nvSpPr>
        <p:spPr>
          <a:xfrm>
            <a:off x="594360" y="3639312"/>
            <a:ext cx="320040" cy="411480"/>
          </a:xfrm>
          <a:prstGeom prst="rect">
            <a:avLst/>
          </a:prstGeom>
          <a:noFill/>
        </p:spPr>
        <p:txBody>
          <a:bodyPr wrap="square">
            <a:spAutoFit/>
          </a:bodyPr>
          <a:lstStyle/>
          <a:p>
            <a:pPr algn="l"/>
            <a:r>
              <a:rPr sz="1600" b="1" i="0">
                <a:solidFill>
                  <a:srgbClr val="C0392B"/>
                </a:solidFill>
              </a:rPr>
              <a:t>✗</a:t>
            </a:r>
          </a:p>
        </p:txBody>
      </p:sp>
      <p:sp>
        <p:nvSpPr>
          <p:cNvPr id="15" name="TextBox 14"/>
          <p:cNvSpPr txBox="1"/>
          <p:nvPr/>
        </p:nvSpPr>
        <p:spPr>
          <a:xfrm>
            <a:off x="960120" y="3666744"/>
            <a:ext cx="4937760" cy="411480"/>
          </a:xfrm>
          <a:prstGeom prst="rect">
            <a:avLst/>
          </a:prstGeom>
          <a:noFill/>
        </p:spPr>
        <p:txBody>
          <a:bodyPr wrap="square">
            <a:spAutoFit/>
          </a:bodyPr>
          <a:lstStyle/>
          <a:p>
            <a:pPr algn="l"/>
            <a:r>
              <a:rPr sz="1150" b="0" i="0">
                <a:solidFill>
                  <a:srgbClr val="2D3A40"/>
                </a:solidFill>
              </a:rPr>
              <a:t>Penumpukan obat kadaluarsa di rak karena tidak ada sistem peringatan FEFO.</a:t>
            </a:r>
          </a:p>
        </p:txBody>
      </p:sp>
      <p:sp>
        <p:nvSpPr>
          <p:cNvPr id="16" name="TextBox 15"/>
          <p:cNvSpPr txBox="1"/>
          <p:nvPr/>
        </p:nvSpPr>
        <p:spPr>
          <a:xfrm>
            <a:off x="594360" y="4443984"/>
            <a:ext cx="320040" cy="411480"/>
          </a:xfrm>
          <a:prstGeom prst="rect">
            <a:avLst/>
          </a:prstGeom>
          <a:noFill/>
        </p:spPr>
        <p:txBody>
          <a:bodyPr wrap="square">
            <a:spAutoFit/>
          </a:bodyPr>
          <a:lstStyle/>
          <a:p>
            <a:pPr algn="l"/>
            <a:r>
              <a:rPr sz="1600" b="1" i="0">
                <a:solidFill>
                  <a:srgbClr val="C0392B"/>
                </a:solidFill>
              </a:rPr>
              <a:t>✗</a:t>
            </a:r>
          </a:p>
        </p:txBody>
      </p:sp>
      <p:sp>
        <p:nvSpPr>
          <p:cNvPr id="17" name="TextBox 16"/>
          <p:cNvSpPr txBox="1"/>
          <p:nvPr/>
        </p:nvSpPr>
        <p:spPr>
          <a:xfrm>
            <a:off x="960120" y="4471416"/>
            <a:ext cx="4937760" cy="411480"/>
          </a:xfrm>
          <a:prstGeom prst="rect">
            <a:avLst/>
          </a:prstGeom>
          <a:noFill/>
        </p:spPr>
        <p:txBody>
          <a:bodyPr wrap="square">
            <a:spAutoFit/>
          </a:bodyPr>
          <a:lstStyle/>
          <a:p>
            <a:pPr algn="l"/>
            <a:r>
              <a:rPr sz="1150" b="0" i="0">
                <a:solidFill>
                  <a:srgbClr val="2D3A40"/>
                </a:solidFill>
              </a:rPr>
              <a:t>Nomor Seri alkes tidak terdokumentasi, menyulitkan klaim garansi.</a:t>
            </a:r>
          </a:p>
        </p:txBody>
      </p:sp>
      <p:sp>
        <p:nvSpPr>
          <p:cNvPr id="18" name="TextBox 17"/>
          <p:cNvSpPr txBox="1"/>
          <p:nvPr/>
        </p:nvSpPr>
        <p:spPr>
          <a:xfrm>
            <a:off x="594360" y="5248656"/>
            <a:ext cx="320040" cy="411480"/>
          </a:xfrm>
          <a:prstGeom prst="rect">
            <a:avLst/>
          </a:prstGeom>
          <a:noFill/>
        </p:spPr>
        <p:txBody>
          <a:bodyPr wrap="square">
            <a:spAutoFit/>
          </a:bodyPr>
          <a:lstStyle/>
          <a:p>
            <a:pPr algn="l"/>
            <a:r>
              <a:rPr sz="1600" b="1" i="0">
                <a:solidFill>
                  <a:srgbClr val="C0392B"/>
                </a:solidFill>
              </a:rPr>
              <a:t>✗</a:t>
            </a:r>
          </a:p>
        </p:txBody>
      </p:sp>
      <p:sp>
        <p:nvSpPr>
          <p:cNvPr id="19" name="TextBox 18"/>
          <p:cNvSpPr txBox="1"/>
          <p:nvPr/>
        </p:nvSpPr>
        <p:spPr>
          <a:xfrm>
            <a:off x="960120" y="5276088"/>
            <a:ext cx="4937760" cy="411480"/>
          </a:xfrm>
          <a:prstGeom prst="rect">
            <a:avLst/>
          </a:prstGeom>
          <a:noFill/>
        </p:spPr>
        <p:txBody>
          <a:bodyPr wrap="square">
            <a:spAutoFit/>
          </a:bodyPr>
          <a:lstStyle/>
          <a:p>
            <a:pPr algn="l"/>
            <a:r>
              <a:rPr sz="1150" b="0" i="0">
                <a:solidFill>
                  <a:srgbClr val="2D3A40"/>
                </a:solidFill>
              </a:rPr>
              <a:t>Tidak ada pemisahan wewenang (RBAC) antara staf gudang dan manajemen.</a:t>
            </a:r>
          </a:p>
        </p:txBody>
      </p:sp>
      <p:sp>
        <p:nvSpPr>
          <p:cNvPr id="20" name="Rectangle 19"/>
          <p:cNvSpPr/>
          <p:nvPr/>
        </p:nvSpPr>
        <p:spPr>
          <a:xfrm>
            <a:off x="6080760" y="1554480"/>
            <a:ext cx="36576" cy="4754880"/>
          </a:xfrm>
          <a:prstGeom prst="rect">
            <a:avLst/>
          </a:prstGeom>
          <a:solidFill>
            <a:srgbClr val="C8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1554480"/>
            <a:ext cx="5394960" cy="347472"/>
          </a:xfrm>
          <a:prstGeom prst="rect">
            <a:avLst/>
          </a:prstGeom>
          <a:noFill/>
        </p:spPr>
        <p:txBody>
          <a:bodyPr wrap="square">
            <a:spAutoFit/>
          </a:bodyPr>
          <a:lstStyle/>
          <a:p>
            <a:pPr algn="l"/>
            <a:r>
              <a:rPr sz="1000" b="1" i="0">
                <a:solidFill>
                  <a:srgbClr val="277A55"/>
                </a:solidFill>
              </a:rPr>
              <a:t>SISTEM USULAN (ZENCARE MEDICAL)</a:t>
            </a:r>
          </a:p>
        </p:txBody>
      </p:sp>
      <p:sp>
        <p:nvSpPr>
          <p:cNvPr id="22" name="TextBox 21"/>
          <p:cNvSpPr txBox="1"/>
          <p:nvPr/>
        </p:nvSpPr>
        <p:spPr>
          <a:xfrm>
            <a:off x="6309360" y="2029968"/>
            <a:ext cx="320040" cy="411480"/>
          </a:xfrm>
          <a:prstGeom prst="rect">
            <a:avLst/>
          </a:prstGeom>
          <a:noFill/>
        </p:spPr>
        <p:txBody>
          <a:bodyPr wrap="square">
            <a:spAutoFit/>
          </a:bodyPr>
          <a:lstStyle/>
          <a:p>
            <a:pPr algn="l"/>
            <a:r>
              <a:rPr sz="1600" b="1" i="0">
                <a:solidFill>
                  <a:srgbClr val="277A55"/>
                </a:solidFill>
              </a:rPr>
              <a:t>✔</a:t>
            </a:r>
          </a:p>
        </p:txBody>
      </p:sp>
      <p:sp>
        <p:nvSpPr>
          <p:cNvPr id="23" name="TextBox 22"/>
          <p:cNvSpPr txBox="1"/>
          <p:nvPr/>
        </p:nvSpPr>
        <p:spPr>
          <a:xfrm>
            <a:off x="6675120" y="2057400"/>
            <a:ext cx="4937760" cy="411480"/>
          </a:xfrm>
          <a:prstGeom prst="rect">
            <a:avLst/>
          </a:prstGeom>
          <a:noFill/>
        </p:spPr>
        <p:txBody>
          <a:bodyPr wrap="square">
            <a:spAutoFit/>
          </a:bodyPr>
          <a:lstStyle/>
          <a:p>
            <a:pPr algn="l"/>
            <a:r>
              <a:rPr sz="1150" b="0" i="0">
                <a:solidFill>
                  <a:srgbClr val="2D3A40"/>
                </a:solidFill>
              </a:rPr>
              <a:t>Sinkronisasi basis data tunggal Omnichannel mengunci stok seketika di semua saluran.</a:t>
            </a:r>
          </a:p>
        </p:txBody>
      </p:sp>
      <p:sp>
        <p:nvSpPr>
          <p:cNvPr id="24" name="TextBox 23"/>
          <p:cNvSpPr txBox="1"/>
          <p:nvPr/>
        </p:nvSpPr>
        <p:spPr>
          <a:xfrm>
            <a:off x="6309360" y="2834640"/>
            <a:ext cx="320040" cy="411480"/>
          </a:xfrm>
          <a:prstGeom prst="rect">
            <a:avLst/>
          </a:prstGeom>
          <a:noFill/>
        </p:spPr>
        <p:txBody>
          <a:bodyPr wrap="square">
            <a:spAutoFit/>
          </a:bodyPr>
          <a:lstStyle/>
          <a:p>
            <a:pPr algn="l"/>
            <a:r>
              <a:rPr sz="1600" b="1" i="0">
                <a:solidFill>
                  <a:srgbClr val="277A55"/>
                </a:solidFill>
              </a:rPr>
              <a:t>✔</a:t>
            </a:r>
          </a:p>
        </p:txBody>
      </p:sp>
      <p:sp>
        <p:nvSpPr>
          <p:cNvPr id="25" name="TextBox 24"/>
          <p:cNvSpPr txBox="1"/>
          <p:nvPr/>
        </p:nvSpPr>
        <p:spPr>
          <a:xfrm>
            <a:off x="6675120" y="2862072"/>
            <a:ext cx="4937760" cy="411480"/>
          </a:xfrm>
          <a:prstGeom prst="rect">
            <a:avLst/>
          </a:prstGeom>
          <a:noFill/>
        </p:spPr>
        <p:txBody>
          <a:bodyPr wrap="square">
            <a:spAutoFit/>
          </a:bodyPr>
          <a:lstStyle/>
          <a:p>
            <a:pPr algn="l"/>
            <a:r>
              <a:rPr sz="1150" b="0" i="0">
                <a:solidFill>
                  <a:srgbClr val="2D3A40"/>
                </a:solidFill>
              </a:rPr>
              <a:t>Algoritma konversi Dual-UOM dinamis (rasio_konversi) berjalan otomatis.</a:t>
            </a:r>
          </a:p>
        </p:txBody>
      </p:sp>
      <p:sp>
        <p:nvSpPr>
          <p:cNvPr id="26" name="TextBox 25"/>
          <p:cNvSpPr txBox="1"/>
          <p:nvPr/>
        </p:nvSpPr>
        <p:spPr>
          <a:xfrm>
            <a:off x="6309360" y="3639312"/>
            <a:ext cx="320040" cy="411480"/>
          </a:xfrm>
          <a:prstGeom prst="rect">
            <a:avLst/>
          </a:prstGeom>
          <a:noFill/>
        </p:spPr>
        <p:txBody>
          <a:bodyPr wrap="square">
            <a:spAutoFit/>
          </a:bodyPr>
          <a:lstStyle/>
          <a:p>
            <a:pPr algn="l"/>
            <a:r>
              <a:rPr sz="1600" b="1" i="0">
                <a:solidFill>
                  <a:srgbClr val="277A55"/>
                </a:solidFill>
              </a:rPr>
              <a:t>✔</a:t>
            </a:r>
          </a:p>
        </p:txBody>
      </p:sp>
      <p:sp>
        <p:nvSpPr>
          <p:cNvPr id="27" name="TextBox 26"/>
          <p:cNvSpPr txBox="1"/>
          <p:nvPr/>
        </p:nvSpPr>
        <p:spPr>
          <a:xfrm>
            <a:off x="6675120" y="3666744"/>
            <a:ext cx="4937760" cy="411480"/>
          </a:xfrm>
          <a:prstGeom prst="rect">
            <a:avLst/>
          </a:prstGeom>
          <a:noFill/>
        </p:spPr>
        <p:txBody>
          <a:bodyPr wrap="square">
            <a:spAutoFit/>
          </a:bodyPr>
          <a:lstStyle/>
          <a:p>
            <a:pPr algn="l"/>
            <a:r>
              <a:rPr sz="1150" b="0" i="0">
                <a:solidFill>
                  <a:srgbClr val="2D3A40"/>
                </a:solidFill>
              </a:rPr>
              <a:t>Sistem Gatekeeper: validasi FEFO wajib di setiap transaksi barang masuk &amp; keluar.</a:t>
            </a:r>
          </a:p>
        </p:txBody>
      </p:sp>
      <p:sp>
        <p:nvSpPr>
          <p:cNvPr id="28" name="TextBox 27"/>
          <p:cNvSpPr txBox="1"/>
          <p:nvPr/>
        </p:nvSpPr>
        <p:spPr>
          <a:xfrm>
            <a:off x="6309360" y="4443984"/>
            <a:ext cx="320040" cy="411480"/>
          </a:xfrm>
          <a:prstGeom prst="rect">
            <a:avLst/>
          </a:prstGeom>
          <a:noFill/>
        </p:spPr>
        <p:txBody>
          <a:bodyPr wrap="square">
            <a:spAutoFit/>
          </a:bodyPr>
          <a:lstStyle/>
          <a:p>
            <a:pPr algn="l"/>
            <a:r>
              <a:rPr sz="1600" b="1" i="0">
                <a:solidFill>
                  <a:srgbClr val="277A55"/>
                </a:solidFill>
              </a:rPr>
              <a:t>✔</a:t>
            </a:r>
          </a:p>
        </p:txBody>
      </p:sp>
      <p:sp>
        <p:nvSpPr>
          <p:cNvPr id="29" name="TextBox 28"/>
          <p:cNvSpPr txBox="1"/>
          <p:nvPr/>
        </p:nvSpPr>
        <p:spPr>
          <a:xfrm>
            <a:off x="6675120" y="4471416"/>
            <a:ext cx="4937760" cy="411480"/>
          </a:xfrm>
          <a:prstGeom prst="rect">
            <a:avLst/>
          </a:prstGeom>
          <a:noFill/>
        </p:spPr>
        <p:txBody>
          <a:bodyPr wrap="square">
            <a:spAutoFit/>
          </a:bodyPr>
          <a:lstStyle/>
          <a:p>
            <a:pPr algn="l"/>
            <a:r>
              <a:rPr sz="1150" b="0" i="0">
                <a:solidFill>
                  <a:srgbClr val="2D3A40"/>
                </a:solidFill>
              </a:rPr>
              <a:t>Setiap unit Alat Kesehatan teregistrasi Serial Number unik di basis data.</a:t>
            </a:r>
          </a:p>
        </p:txBody>
      </p:sp>
      <p:sp>
        <p:nvSpPr>
          <p:cNvPr id="30" name="TextBox 29"/>
          <p:cNvSpPr txBox="1"/>
          <p:nvPr/>
        </p:nvSpPr>
        <p:spPr>
          <a:xfrm>
            <a:off x="6309360" y="5248656"/>
            <a:ext cx="320040" cy="411480"/>
          </a:xfrm>
          <a:prstGeom prst="rect">
            <a:avLst/>
          </a:prstGeom>
          <a:noFill/>
        </p:spPr>
        <p:txBody>
          <a:bodyPr wrap="square">
            <a:spAutoFit/>
          </a:bodyPr>
          <a:lstStyle/>
          <a:p>
            <a:pPr algn="l"/>
            <a:r>
              <a:rPr sz="1600" b="1" i="0">
                <a:solidFill>
                  <a:srgbClr val="277A55"/>
                </a:solidFill>
              </a:rPr>
              <a:t>✔</a:t>
            </a:r>
          </a:p>
        </p:txBody>
      </p:sp>
      <p:sp>
        <p:nvSpPr>
          <p:cNvPr id="31" name="TextBox 30"/>
          <p:cNvSpPr txBox="1"/>
          <p:nvPr/>
        </p:nvSpPr>
        <p:spPr>
          <a:xfrm>
            <a:off x="6675120" y="5276088"/>
            <a:ext cx="4937760" cy="411480"/>
          </a:xfrm>
          <a:prstGeom prst="rect">
            <a:avLst/>
          </a:prstGeom>
          <a:noFill/>
        </p:spPr>
        <p:txBody>
          <a:bodyPr wrap="square">
            <a:spAutoFit/>
          </a:bodyPr>
          <a:lstStyle/>
          <a:p>
            <a:pPr algn="l"/>
            <a:r>
              <a:rPr sz="1150" b="0" i="0">
                <a:solidFill>
                  <a:srgbClr val="2D3A40"/>
                </a:solidFill>
              </a:rPr>
              <a:t>RBAC tegas: Admin mencatat fisik, Superadmin mengontrol Master Produk &amp; Harga.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Arsitektur Navigasi (Sitemap)</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sp>
        <p:nvSpPr>
          <p:cNvPr id="9" name="Rectangle 8"/>
          <p:cNvSpPr/>
          <p:nvPr/>
        </p:nvSpPr>
        <p:spPr>
          <a:xfrm>
            <a:off x="306325" y="1371600"/>
            <a:ext cx="3749039" cy="384048"/>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5" y="1426464"/>
            <a:ext cx="3657599" cy="320040"/>
          </a:xfrm>
          <a:prstGeom prst="rect">
            <a:avLst/>
          </a:prstGeom>
          <a:noFill/>
        </p:spPr>
        <p:txBody>
          <a:bodyPr wrap="square">
            <a:spAutoFit/>
          </a:bodyPr>
          <a:lstStyle/>
          <a:p>
            <a:pPr algn="ctr"/>
            <a:r>
              <a:rPr sz="1100" b="1" i="0">
                <a:solidFill>
                  <a:srgbClr val="2D8996"/>
                </a:solidFill>
              </a:rPr>
              <a:t>Pelanggan (E-Commerce)</a:t>
            </a:r>
          </a:p>
        </p:txBody>
      </p:sp>
      <p:pic>
        <p:nvPicPr>
          <p:cNvPr id="11" name="Picture 10" descr="Sitemap Sistem Informasi Inventori Omnichannel ZenCare Medical (Pelanggan).png"/>
          <p:cNvPicPr>
            <a:picLocks noChangeAspect="1"/>
          </p:cNvPicPr>
          <p:nvPr/>
        </p:nvPicPr>
        <p:blipFill>
          <a:blip r:embed="rId2"/>
          <a:stretch>
            <a:fillRect/>
          </a:stretch>
        </p:blipFill>
        <p:spPr>
          <a:xfrm>
            <a:off x="306325" y="1783080"/>
            <a:ext cx="3749039" cy="4023360"/>
          </a:xfrm>
          <a:prstGeom prst="rect">
            <a:avLst/>
          </a:prstGeom>
        </p:spPr>
      </p:pic>
      <p:sp>
        <p:nvSpPr>
          <p:cNvPr id="12" name="Rectangle 11"/>
          <p:cNvSpPr/>
          <p:nvPr/>
        </p:nvSpPr>
        <p:spPr>
          <a:xfrm>
            <a:off x="4219956" y="1371600"/>
            <a:ext cx="3749039" cy="384048"/>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65676" y="1426464"/>
            <a:ext cx="3657599" cy="320040"/>
          </a:xfrm>
          <a:prstGeom prst="rect">
            <a:avLst/>
          </a:prstGeom>
          <a:noFill/>
        </p:spPr>
        <p:txBody>
          <a:bodyPr wrap="square">
            <a:spAutoFit/>
          </a:bodyPr>
          <a:lstStyle/>
          <a:p>
            <a:pPr algn="ctr"/>
            <a:r>
              <a:rPr sz="1100" b="1" i="0">
                <a:solidFill>
                  <a:srgbClr val="2D8996"/>
                </a:solidFill>
              </a:rPr>
              <a:t>Admin (Staf Gudang &amp; Kasir)</a:t>
            </a:r>
          </a:p>
        </p:txBody>
      </p:sp>
      <p:pic>
        <p:nvPicPr>
          <p:cNvPr id="14" name="Picture 13" descr="Sitemap Sistem Informasi Inventori Omnichannel ZenCare Medical (Admin).png"/>
          <p:cNvPicPr>
            <a:picLocks noChangeAspect="1"/>
          </p:cNvPicPr>
          <p:nvPr/>
        </p:nvPicPr>
        <p:blipFill>
          <a:blip r:embed="rId3"/>
          <a:stretch>
            <a:fillRect/>
          </a:stretch>
        </p:blipFill>
        <p:spPr>
          <a:xfrm>
            <a:off x="4219956" y="1783080"/>
            <a:ext cx="3749039" cy="4023360"/>
          </a:xfrm>
          <a:prstGeom prst="rect">
            <a:avLst/>
          </a:prstGeom>
        </p:spPr>
      </p:pic>
      <p:sp>
        <p:nvSpPr>
          <p:cNvPr id="15" name="Rectangle 14"/>
          <p:cNvSpPr/>
          <p:nvPr/>
        </p:nvSpPr>
        <p:spPr>
          <a:xfrm>
            <a:off x="8133587" y="1371600"/>
            <a:ext cx="3749039" cy="384048"/>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79307" y="1426464"/>
            <a:ext cx="3657599" cy="320040"/>
          </a:xfrm>
          <a:prstGeom prst="rect">
            <a:avLst/>
          </a:prstGeom>
          <a:noFill/>
        </p:spPr>
        <p:txBody>
          <a:bodyPr wrap="square">
            <a:spAutoFit/>
          </a:bodyPr>
          <a:lstStyle/>
          <a:p>
            <a:pPr algn="ctr"/>
            <a:r>
              <a:rPr sz="1100" b="1" i="0">
                <a:solidFill>
                  <a:srgbClr val="FFFFFF"/>
                </a:solidFill>
              </a:rPr>
              <a:t>Superadmin (Manajemen)</a:t>
            </a:r>
          </a:p>
        </p:txBody>
      </p:sp>
      <p:pic>
        <p:nvPicPr>
          <p:cNvPr id="17" name="Picture 16" descr="Sitemap Sistem Informasi Inventori Omnichannel ZenCare Medical (Superadmin).png"/>
          <p:cNvPicPr>
            <a:picLocks noChangeAspect="1"/>
          </p:cNvPicPr>
          <p:nvPr/>
        </p:nvPicPr>
        <p:blipFill>
          <a:blip r:embed="rId4"/>
          <a:stretch>
            <a:fillRect/>
          </a:stretch>
        </p:blipFill>
        <p:spPr>
          <a:xfrm>
            <a:off x="8133587" y="1783080"/>
            <a:ext cx="3749039" cy="4023360"/>
          </a:xfrm>
          <a:prstGeom prst="rect">
            <a:avLst/>
          </a:prstGeom>
        </p:spPr>
      </p:pic>
      <p:sp>
        <p:nvSpPr>
          <p:cNvPr id="18" name="TextBox 17"/>
          <p:cNvSpPr txBox="1"/>
          <p:nvPr/>
        </p:nvSpPr>
        <p:spPr>
          <a:xfrm>
            <a:off x="594360" y="5989320"/>
            <a:ext cx="10972800" cy="384048"/>
          </a:xfrm>
          <a:prstGeom prst="rect">
            <a:avLst/>
          </a:prstGeom>
          <a:noFill/>
        </p:spPr>
        <p:txBody>
          <a:bodyPr wrap="square">
            <a:spAutoFit/>
          </a:bodyPr>
          <a:lstStyle/>
          <a:p>
            <a:pPr algn="ctr"/>
            <a:r>
              <a:rPr sz="1000" b="0" i="1">
                <a:solidFill>
                  <a:srgbClr val="7A8A90"/>
                </a:solidFill>
              </a:rPr>
              <a:t>Superadmin mengontrol Master Produk &amp; Harga serta memantau riwayat pengadaan dari Dashboard. Admin mengelola POS &amp; Penerimaan Barang. Pelanggan berinteraksi via E-Commerce.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Workflow Barang Keluar (Omnichannel)</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sp>
        <p:nvSpPr>
          <p:cNvPr id="9" name="TextBox 8"/>
          <p:cNvSpPr txBox="1"/>
          <p:nvPr/>
        </p:nvSpPr>
        <p:spPr>
          <a:xfrm>
            <a:off x="594360" y="1371600"/>
            <a:ext cx="5394960" cy="274320"/>
          </a:xfrm>
          <a:prstGeom prst="rect">
            <a:avLst/>
          </a:prstGeom>
          <a:noFill/>
        </p:spPr>
        <p:txBody>
          <a:bodyPr wrap="square">
            <a:spAutoFit/>
          </a:bodyPr>
          <a:lstStyle/>
          <a:p>
            <a:pPr algn="l"/>
            <a:r>
              <a:rPr sz="1000" b="0" i="0">
                <a:solidFill>
                  <a:srgbClr val="7A8A90"/>
                </a:solidFill>
              </a:rPr>
              <a:t>Sistem Berjalan</a:t>
            </a:r>
          </a:p>
        </p:txBody>
      </p:sp>
      <p:pic>
        <p:nvPicPr>
          <p:cNvPr id="10" name="Picture 9" descr="Workflow Barang Keluar (Berjalan).png"/>
          <p:cNvPicPr>
            <a:picLocks noChangeAspect="1"/>
          </p:cNvPicPr>
          <p:nvPr/>
        </p:nvPicPr>
        <p:blipFill>
          <a:blip r:embed="rId2"/>
          <a:stretch>
            <a:fillRect/>
          </a:stretch>
        </p:blipFill>
        <p:spPr>
          <a:xfrm>
            <a:off x="594360" y="1645920"/>
            <a:ext cx="5394960" cy="2103120"/>
          </a:xfrm>
          <a:prstGeom prst="rect">
            <a:avLst/>
          </a:prstGeom>
        </p:spPr>
      </p:pic>
      <p:sp>
        <p:nvSpPr>
          <p:cNvPr id="11" name="TextBox 10"/>
          <p:cNvSpPr txBox="1"/>
          <p:nvPr/>
        </p:nvSpPr>
        <p:spPr>
          <a:xfrm>
            <a:off x="6355080" y="1371600"/>
            <a:ext cx="5394960" cy="274320"/>
          </a:xfrm>
          <a:prstGeom prst="rect">
            <a:avLst/>
          </a:prstGeom>
          <a:noFill/>
        </p:spPr>
        <p:txBody>
          <a:bodyPr wrap="square">
            <a:spAutoFit/>
          </a:bodyPr>
          <a:lstStyle/>
          <a:p>
            <a:pPr algn="l"/>
            <a:r>
              <a:rPr sz="1000" b="1" i="0">
                <a:solidFill>
                  <a:srgbClr val="2D8996"/>
                </a:solidFill>
              </a:rPr>
              <a:t>Sistem Usulan</a:t>
            </a:r>
          </a:p>
        </p:txBody>
      </p:sp>
      <p:pic>
        <p:nvPicPr>
          <p:cNvPr id="12" name="Picture 11" descr="Workflow Barang Keluar (Sistem Usulan).png"/>
          <p:cNvPicPr>
            <a:picLocks noChangeAspect="1"/>
          </p:cNvPicPr>
          <p:nvPr/>
        </p:nvPicPr>
        <p:blipFill>
          <a:blip r:embed="rId3"/>
          <a:stretch>
            <a:fillRect/>
          </a:stretch>
        </p:blipFill>
        <p:spPr>
          <a:xfrm>
            <a:off x="6355080" y="1645920"/>
            <a:ext cx="5394960" cy="2103120"/>
          </a:xfrm>
          <a:prstGeom prst="rect">
            <a:avLst/>
          </a:prstGeom>
        </p:spPr>
      </p:pic>
      <p:sp>
        <p:nvSpPr>
          <p:cNvPr id="13" name="Rectangle 12"/>
          <p:cNvSpPr/>
          <p:nvPr/>
        </p:nvSpPr>
        <p:spPr>
          <a:xfrm>
            <a:off x="594360" y="3886200"/>
            <a:ext cx="10972800" cy="36576"/>
          </a:xfrm>
          <a:prstGeom prst="rect">
            <a:avLst/>
          </a:prstGeom>
          <a:solidFill>
            <a:srgbClr val="C8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023360"/>
            <a:ext cx="5394960" cy="256032"/>
          </a:xfrm>
          <a:prstGeom prst="rect">
            <a:avLst/>
          </a:prstGeom>
          <a:noFill/>
        </p:spPr>
        <p:txBody>
          <a:bodyPr wrap="square">
            <a:spAutoFit/>
          </a:bodyPr>
          <a:lstStyle/>
          <a:p>
            <a:pPr algn="l"/>
            <a:r>
              <a:rPr sz="1000" b="0" i="0">
                <a:solidFill>
                  <a:srgbClr val="7A8A90"/>
                </a:solidFill>
              </a:rPr>
              <a:t>Wireframe: Terminal POS (Transaksi Luring)</a:t>
            </a:r>
          </a:p>
        </p:txBody>
      </p:sp>
      <p:pic>
        <p:nvPicPr>
          <p:cNvPr id="15" name="Picture 14" descr="POS.png"/>
          <p:cNvPicPr>
            <a:picLocks noChangeAspect="1"/>
          </p:cNvPicPr>
          <p:nvPr/>
        </p:nvPicPr>
        <p:blipFill>
          <a:blip r:embed="rId4"/>
          <a:stretch>
            <a:fillRect/>
          </a:stretch>
        </p:blipFill>
        <p:spPr>
          <a:xfrm>
            <a:off x="594360" y="4279392"/>
            <a:ext cx="5394960" cy="1828800"/>
          </a:xfrm>
          <a:prstGeom prst="rect">
            <a:avLst/>
          </a:prstGeom>
        </p:spPr>
      </p:pic>
      <p:sp>
        <p:nvSpPr>
          <p:cNvPr id="16" name="TextBox 15"/>
          <p:cNvSpPr txBox="1"/>
          <p:nvPr/>
        </p:nvSpPr>
        <p:spPr>
          <a:xfrm>
            <a:off x="6355080" y="4023360"/>
            <a:ext cx="5394960" cy="256032"/>
          </a:xfrm>
          <a:prstGeom prst="rect">
            <a:avLst/>
          </a:prstGeom>
          <a:noFill/>
        </p:spPr>
        <p:txBody>
          <a:bodyPr wrap="square">
            <a:spAutoFit/>
          </a:bodyPr>
          <a:lstStyle/>
          <a:p>
            <a:pPr algn="l"/>
            <a:r>
              <a:rPr sz="1000" b="0" i="0">
                <a:solidFill>
                  <a:srgbClr val="7A8A90"/>
                </a:solidFill>
              </a:rPr>
              <a:t>Wireframe: Checkout E-Commerce (Transaksi Daring)</a:t>
            </a:r>
          </a:p>
        </p:txBody>
      </p:sp>
      <p:pic>
        <p:nvPicPr>
          <p:cNvPr id="17" name="Picture 16" descr="Checkout Pembayaran.png"/>
          <p:cNvPicPr>
            <a:picLocks noChangeAspect="1"/>
          </p:cNvPicPr>
          <p:nvPr/>
        </p:nvPicPr>
        <p:blipFill>
          <a:blip r:embed="rId5"/>
          <a:stretch>
            <a:fillRect/>
          </a:stretch>
        </p:blipFill>
        <p:spPr>
          <a:xfrm>
            <a:off x="6355080" y="4279392"/>
            <a:ext cx="5394960" cy="1828800"/>
          </a:xfrm>
          <a:prstGeom prst="rect">
            <a:avLst/>
          </a:prstGeom>
        </p:spPr>
      </p:pic>
      <p:sp>
        <p:nvSpPr>
          <p:cNvPr id="18" name="TextBox 17"/>
          <p:cNvSpPr txBox="1"/>
          <p:nvPr/>
        </p:nvSpPr>
        <p:spPr>
          <a:xfrm>
            <a:off x="594360" y="5779008"/>
            <a:ext cx="10972800" cy="347472"/>
          </a:xfrm>
          <a:prstGeom prst="rect">
            <a:avLst/>
          </a:prstGeom>
          <a:noFill/>
        </p:spPr>
        <p:txBody>
          <a:bodyPr wrap="square">
            <a:spAutoFit/>
          </a:bodyPr>
          <a:lstStyle/>
          <a:p>
            <a:pPr algn="l"/>
            <a:r>
              <a:rPr sz="1000" b="0" i="1">
                <a:solidFill>
                  <a:srgbClr val="7A8A90"/>
                </a:solidFill>
              </a:rPr>
              <a:t>🔄  Sistem mengonversi satuan otomatis dan mengunci stok sementara (Reserved) untuk mencegah overselling di semua saluran secara bersamaan.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Workflow Penerimaan Barang &amp; Logistik</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sp>
        <p:nvSpPr>
          <p:cNvPr id="9" name="TextBox 8"/>
          <p:cNvSpPr txBox="1"/>
          <p:nvPr/>
        </p:nvSpPr>
        <p:spPr>
          <a:xfrm>
            <a:off x="594360" y="1371600"/>
            <a:ext cx="5394960" cy="274320"/>
          </a:xfrm>
          <a:prstGeom prst="rect">
            <a:avLst/>
          </a:prstGeom>
          <a:noFill/>
        </p:spPr>
        <p:txBody>
          <a:bodyPr wrap="square">
            <a:spAutoFit/>
          </a:bodyPr>
          <a:lstStyle/>
          <a:p>
            <a:pPr algn="l"/>
            <a:r>
              <a:rPr sz="1000" b="0" i="0">
                <a:solidFill>
                  <a:srgbClr val="7A8A90"/>
                </a:solidFill>
              </a:rPr>
              <a:t>Sistem Berjalan</a:t>
            </a:r>
          </a:p>
        </p:txBody>
      </p:sp>
      <p:pic>
        <p:nvPicPr>
          <p:cNvPr id="10" name="Picture 9" descr="Workflow Barang Masuk (Berjalan).png"/>
          <p:cNvPicPr>
            <a:picLocks noChangeAspect="1"/>
          </p:cNvPicPr>
          <p:nvPr/>
        </p:nvPicPr>
        <p:blipFill>
          <a:blip r:embed="rId2"/>
          <a:stretch>
            <a:fillRect/>
          </a:stretch>
        </p:blipFill>
        <p:spPr>
          <a:xfrm>
            <a:off x="594360" y="1645920"/>
            <a:ext cx="5394960" cy="2103120"/>
          </a:xfrm>
          <a:prstGeom prst="rect">
            <a:avLst/>
          </a:prstGeom>
        </p:spPr>
      </p:pic>
      <p:sp>
        <p:nvSpPr>
          <p:cNvPr id="11" name="TextBox 10"/>
          <p:cNvSpPr txBox="1"/>
          <p:nvPr/>
        </p:nvSpPr>
        <p:spPr>
          <a:xfrm>
            <a:off x="6355080" y="1371600"/>
            <a:ext cx="5394960" cy="274320"/>
          </a:xfrm>
          <a:prstGeom prst="rect">
            <a:avLst/>
          </a:prstGeom>
          <a:noFill/>
        </p:spPr>
        <p:txBody>
          <a:bodyPr wrap="square">
            <a:spAutoFit/>
          </a:bodyPr>
          <a:lstStyle/>
          <a:p>
            <a:pPr algn="l"/>
            <a:r>
              <a:rPr sz="1000" b="1" i="0">
                <a:solidFill>
                  <a:srgbClr val="2D8996"/>
                </a:solidFill>
              </a:rPr>
              <a:t>Sistem Usulan</a:t>
            </a:r>
          </a:p>
        </p:txBody>
      </p:sp>
      <p:pic>
        <p:nvPicPr>
          <p:cNvPr id="12" name="Picture 11" descr="Workflow Barang Masuk &amp; Logistik (Sistem Usulan).png"/>
          <p:cNvPicPr>
            <a:picLocks noChangeAspect="1"/>
          </p:cNvPicPr>
          <p:nvPr/>
        </p:nvPicPr>
        <p:blipFill>
          <a:blip r:embed="rId3"/>
          <a:stretch>
            <a:fillRect/>
          </a:stretch>
        </p:blipFill>
        <p:spPr>
          <a:xfrm>
            <a:off x="6355080" y="1645920"/>
            <a:ext cx="5394960" cy="2103120"/>
          </a:xfrm>
          <a:prstGeom prst="rect">
            <a:avLst/>
          </a:prstGeom>
        </p:spPr>
      </p:pic>
      <p:sp>
        <p:nvSpPr>
          <p:cNvPr id="13" name="Rectangle 12"/>
          <p:cNvSpPr/>
          <p:nvPr/>
        </p:nvSpPr>
        <p:spPr>
          <a:xfrm>
            <a:off x="594360" y="3886200"/>
            <a:ext cx="10972800" cy="36576"/>
          </a:xfrm>
          <a:prstGeom prst="rect">
            <a:avLst/>
          </a:prstGeom>
          <a:solidFill>
            <a:srgbClr val="C8D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023360"/>
            <a:ext cx="5394960" cy="256032"/>
          </a:xfrm>
          <a:prstGeom prst="rect">
            <a:avLst/>
          </a:prstGeom>
          <a:noFill/>
        </p:spPr>
        <p:txBody>
          <a:bodyPr wrap="square">
            <a:spAutoFit/>
          </a:bodyPr>
          <a:lstStyle/>
          <a:p>
            <a:pPr algn="l"/>
            <a:r>
              <a:rPr sz="1000" b="0" i="0">
                <a:solidFill>
                  <a:srgbClr val="7A8A90"/>
                </a:solidFill>
              </a:rPr>
              <a:t>Wireframe: Form Penerimaan Barang (Admin)</a:t>
            </a:r>
          </a:p>
        </p:txBody>
      </p:sp>
      <p:pic>
        <p:nvPicPr>
          <p:cNvPr id="15" name="Picture 14" descr="Penerimaan Barang.png"/>
          <p:cNvPicPr>
            <a:picLocks noChangeAspect="1"/>
          </p:cNvPicPr>
          <p:nvPr/>
        </p:nvPicPr>
        <p:blipFill>
          <a:blip r:embed="rId4"/>
          <a:stretch>
            <a:fillRect/>
          </a:stretch>
        </p:blipFill>
        <p:spPr>
          <a:xfrm>
            <a:off x="594360" y="4279392"/>
            <a:ext cx="5394960" cy="1828800"/>
          </a:xfrm>
          <a:prstGeom prst="rect">
            <a:avLst/>
          </a:prstGeom>
        </p:spPr>
      </p:pic>
      <p:sp>
        <p:nvSpPr>
          <p:cNvPr id="16" name="TextBox 15"/>
          <p:cNvSpPr txBox="1"/>
          <p:nvPr/>
        </p:nvSpPr>
        <p:spPr>
          <a:xfrm>
            <a:off x="6355080" y="4023360"/>
            <a:ext cx="5394960" cy="256032"/>
          </a:xfrm>
          <a:prstGeom prst="rect">
            <a:avLst/>
          </a:prstGeom>
          <a:noFill/>
        </p:spPr>
        <p:txBody>
          <a:bodyPr wrap="square">
            <a:spAutoFit/>
          </a:bodyPr>
          <a:lstStyle/>
          <a:p>
            <a:pPr algn="l"/>
            <a:r>
              <a:rPr sz="1000" b="0" i="0">
                <a:solidFill>
                  <a:srgbClr val="7A8A90"/>
                </a:solidFill>
              </a:rPr>
              <a:t>Wireframe: Dashboard Superadmin</a:t>
            </a:r>
          </a:p>
        </p:txBody>
      </p:sp>
      <p:pic>
        <p:nvPicPr>
          <p:cNvPr id="17" name="Picture 16" descr="Dashboard (Superadmin).png"/>
          <p:cNvPicPr>
            <a:picLocks noChangeAspect="1"/>
          </p:cNvPicPr>
          <p:nvPr/>
        </p:nvPicPr>
        <p:blipFill>
          <a:blip r:embed="rId5"/>
          <a:stretch>
            <a:fillRect/>
          </a:stretch>
        </p:blipFill>
        <p:spPr>
          <a:xfrm>
            <a:off x="6355080" y="4279392"/>
            <a:ext cx="5394960" cy="1828800"/>
          </a:xfrm>
          <a:prstGeom prst="rect">
            <a:avLst/>
          </a:prstGeom>
        </p:spPr>
      </p:pic>
      <p:sp>
        <p:nvSpPr>
          <p:cNvPr id="18" name="TextBox 17"/>
          <p:cNvSpPr txBox="1"/>
          <p:nvPr/>
        </p:nvSpPr>
        <p:spPr>
          <a:xfrm>
            <a:off x="594360" y="5779008"/>
            <a:ext cx="10972800" cy="347472"/>
          </a:xfrm>
          <a:prstGeom prst="rect">
            <a:avLst/>
          </a:prstGeom>
          <a:noFill/>
        </p:spPr>
        <p:txBody>
          <a:bodyPr wrap="square">
            <a:spAutoFit/>
          </a:bodyPr>
          <a:lstStyle/>
          <a:p>
            <a:pPr algn="l"/>
            <a:r>
              <a:rPr sz="1000" b="0" i="1">
                <a:solidFill>
                  <a:srgbClr val="7A8A90"/>
                </a:solidFill>
              </a:rPr>
              <a:t>🔐  Admin wajib menginput Identitas Logistik (Batch/EXP/SN) &amp; Harga Beli. Superadmin memantau histori pengadaan &amp; harga modal via Dashboard secara real-time.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Analisis Kebutuhan Sistem (Use Case Diagram)</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pic>
        <p:nvPicPr>
          <p:cNvPr id="9" name="Picture 8" descr="TA Use Case.png"/>
          <p:cNvPicPr>
            <a:picLocks noChangeAspect="1"/>
          </p:cNvPicPr>
          <p:nvPr/>
        </p:nvPicPr>
        <p:blipFill>
          <a:blip r:embed="rId2"/>
          <a:stretch>
            <a:fillRect/>
          </a:stretch>
        </p:blipFill>
        <p:spPr>
          <a:xfrm>
            <a:off x="1371600" y="1325880"/>
            <a:ext cx="9464040" cy="4663440"/>
          </a:xfrm>
          <a:prstGeom prst="rect">
            <a:avLst/>
          </a:prstGeom>
        </p:spPr>
      </p:pic>
      <p:sp>
        <p:nvSpPr>
          <p:cNvPr id="10" name="TextBox 9"/>
          <p:cNvSpPr txBox="1"/>
          <p:nvPr/>
        </p:nvSpPr>
        <p:spPr>
          <a:xfrm>
            <a:off x="594360" y="6080760"/>
            <a:ext cx="10972800" cy="347472"/>
          </a:xfrm>
          <a:prstGeom prst="rect">
            <a:avLst/>
          </a:prstGeom>
          <a:noFill/>
        </p:spPr>
        <p:txBody>
          <a:bodyPr wrap="square">
            <a:spAutoFit/>
          </a:bodyPr>
          <a:lstStyle/>
          <a:p>
            <a:pPr algn="ctr"/>
            <a:r>
              <a:rPr sz="1000" b="0" i="1">
                <a:solidFill>
                  <a:srgbClr val="7A8A90"/>
                </a:solidFill>
              </a:rPr>
              <a:t>Tiga aktor: Pelanggan (E-Commerce)  ·  Admin Gudang/Kasir (POS &amp; Logistik)  ·  Superadmin (Master Produk, Harga &amp; Laporan Manajerial).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Activity Diagram: Penerimaan Barang &amp; Validasi Logistik</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pic>
        <p:nvPicPr>
          <p:cNvPr id="9" name="Picture 8" descr="Kelola Penerimaan Barang &amp; Validasi Logistik.png"/>
          <p:cNvPicPr>
            <a:picLocks noChangeAspect="1"/>
          </p:cNvPicPr>
          <p:nvPr/>
        </p:nvPicPr>
        <p:blipFill>
          <a:blip r:embed="rId2"/>
          <a:stretch>
            <a:fillRect/>
          </a:stretch>
        </p:blipFill>
        <p:spPr>
          <a:xfrm>
            <a:off x="2528316" y="1325880"/>
            <a:ext cx="7132320" cy="4617720"/>
          </a:xfrm>
          <a:prstGeom prst="rect">
            <a:avLst/>
          </a:prstGeom>
        </p:spPr>
      </p:pic>
      <p:sp>
        <p:nvSpPr>
          <p:cNvPr id="10" name="Rectangle 9"/>
          <p:cNvSpPr/>
          <p:nvPr/>
        </p:nvSpPr>
        <p:spPr>
          <a:xfrm>
            <a:off x="9843516" y="1325880"/>
            <a:ext cx="1933956" cy="461772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843516" y="1325880"/>
            <a:ext cx="45720" cy="461772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80676" y="1508760"/>
            <a:ext cx="1751076" cy="411480"/>
          </a:xfrm>
          <a:prstGeom prst="rect">
            <a:avLst/>
          </a:prstGeom>
          <a:noFill/>
        </p:spPr>
        <p:txBody>
          <a:bodyPr wrap="square">
            <a:spAutoFit/>
          </a:bodyPr>
          <a:lstStyle/>
          <a:p>
            <a:pPr algn="l"/>
            <a:r>
              <a:rPr sz="1100" b="1" i="0">
                <a:solidFill>
                  <a:srgbClr val="2D8996"/>
                </a:solidFill>
              </a:rPr>
              <a:t>Poin Kunci</a:t>
            </a:r>
          </a:p>
        </p:txBody>
      </p:sp>
      <p:sp>
        <p:nvSpPr>
          <p:cNvPr id="13" name="TextBox 12"/>
          <p:cNvSpPr txBox="1"/>
          <p:nvPr/>
        </p:nvSpPr>
        <p:spPr>
          <a:xfrm>
            <a:off x="9980676" y="2011680"/>
            <a:ext cx="1705356" cy="713232"/>
          </a:xfrm>
          <a:prstGeom prst="rect">
            <a:avLst/>
          </a:prstGeom>
          <a:noFill/>
        </p:spPr>
        <p:txBody>
          <a:bodyPr wrap="square">
            <a:spAutoFit/>
          </a:bodyPr>
          <a:lstStyle/>
          <a:p>
            <a:pPr algn="l"/>
            <a:r>
              <a:rPr sz="1000" b="0" i="0">
                <a:solidFill>
                  <a:srgbClr val="2D3A40"/>
                </a:solidFill>
              </a:rPr>
              <a:t>• Sistem memvalidasi kelengkapan data logistik sebelum menyimpan.</a:t>
            </a:r>
          </a:p>
        </p:txBody>
      </p:sp>
      <p:sp>
        <p:nvSpPr>
          <p:cNvPr id="14" name="TextBox 13"/>
          <p:cNvSpPr txBox="1"/>
          <p:nvPr/>
        </p:nvSpPr>
        <p:spPr>
          <a:xfrm>
            <a:off x="9980676" y="2770632"/>
            <a:ext cx="1705356" cy="713232"/>
          </a:xfrm>
          <a:prstGeom prst="rect">
            <a:avLst/>
          </a:prstGeom>
          <a:noFill/>
        </p:spPr>
        <p:txBody>
          <a:bodyPr wrap="square">
            <a:spAutoFit/>
          </a:bodyPr>
          <a:lstStyle/>
          <a:p>
            <a:pPr algn="l"/>
            <a:r>
              <a:rPr sz="1000" b="0" i="0">
                <a:solidFill>
                  <a:srgbClr val="2D3A40"/>
                </a:solidFill>
              </a:rPr>
              <a:t>• Obat → wajib No. Batch + Tanggal Kedaluwarsa (EXP).</a:t>
            </a:r>
          </a:p>
        </p:txBody>
      </p:sp>
      <p:sp>
        <p:nvSpPr>
          <p:cNvPr id="15" name="TextBox 14"/>
          <p:cNvSpPr txBox="1"/>
          <p:nvPr/>
        </p:nvSpPr>
        <p:spPr>
          <a:xfrm>
            <a:off x="9980676" y="3529584"/>
            <a:ext cx="1705356" cy="713232"/>
          </a:xfrm>
          <a:prstGeom prst="rect">
            <a:avLst/>
          </a:prstGeom>
          <a:noFill/>
        </p:spPr>
        <p:txBody>
          <a:bodyPr wrap="square">
            <a:spAutoFit/>
          </a:bodyPr>
          <a:lstStyle/>
          <a:p>
            <a:pPr algn="l"/>
            <a:r>
              <a:rPr sz="1000" b="0" i="0">
                <a:solidFill>
                  <a:srgbClr val="2D3A40"/>
                </a:solidFill>
              </a:rPr>
              <a:t>• Alkes → wajib Serial Number (SN).</a:t>
            </a:r>
          </a:p>
        </p:txBody>
      </p:sp>
      <p:sp>
        <p:nvSpPr>
          <p:cNvPr id="16" name="TextBox 15"/>
          <p:cNvSpPr txBox="1"/>
          <p:nvPr/>
        </p:nvSpPr>
        <p:spPr>
          <a:xfrm>
            <a:off x="9980676" y="4288536"/>
            <a:ext cx="1705356" cy="713232"/>
          </a:xfrm>
          <a:prstGeom prst="rect">
            <a:avLst/>
          </a:prstGeom>
          <a:noFill/>
        </p:spPr>
        <p:txBody>
          <a:bodyPr wrap="square">
            <a:spAutoFit/>
          </a:bodyPr>
          <a:lstStyle/>
          <a:p>
            <a:pPr algn="l"/>
            <a:r>
              <a:rPr sz="1000" b="0" i="0">
                <a:solidFill>
                  <a:srgbClr val="2D3A40"/>
                </a:solidFill>
              </a:rPr>
              <a:t>• Jika tidak lengkap, proses dikembalikan ke form input.</a:t>
            </a:r>
          </a:p>
        </p:txBody>
      </p:sp>
      <p:sp>
        <p:nvSpPr>
          <p:cNvPr id="17" name="TextBox 16"/>
          <p:cNvSpPr txBox="1"/>
          <p:nvPr/>
        </p:nvSpPr>
        <p:spPr>
          <a:xfrm>
            <a:off x="9980676" y="5047488"/>
            <a:ext cx="1705356" cy="713232"/>
          </a:xfrm>
          <a:prstGeom prst="rect">
            <a:avLst/>
          </a:prstGeom>
          <a:noFill/>
        </p:spPr>
        <p:txBody>
          <a:bodyPr wrap="square">
            <a:spAutoFit/>
          </a:bodyPr>
          <a:lstStyle/>
          <a:p>
            <a:pPr algn="l"/>
            <a:r>
              <a:rPr sz="1000" b="0" i="0">
                <a:solidFill>
                  <a:srgbClr val="2D3A40"/>
                </a:solidFill>
              </a:rPr>
              <a:t>• Harga Beli (Modal) wajib diisi oleh Admin.</a:t>
            </a:r>
          </a:p>
        </p:txBody>
      </p:sp>
      <p:sp>
        <p:nvSpPr>
          <p:cNvPr id="18" name="TextBox 17"/>
          <p:cNvSpPr txBox="1"/>
          <p:nvPr/>
        </p:nvSpPr>
        <p:spPr>
          <a:xfrm>
            <a:off x="594360" y="6062472"/>
            <a:ext cx="10972800" cy="347472"/>
          </a:xfrm>
          <a:prstGeom prst="rect">
            <a:avLst/>
          </a:prstGeom>
          <a:noFill/>
        </p:spPr>
        <p:txBody>
          <a:bodyPr wrap="square">
            <a:spAutoFit/>
          </a:bodyPr>
          <a:lstStyle/>
          <a:p>
            <a:pPr algn="ctr"/>
            <a:r>
              <a:rPr sz="1000" b="0" i="1">
                <a:solidFill>
                  <a:srgbClr val="7A8A90"/>
                </a:solidFill>
              </a:rPr>
              <a:t>Alur percabangan logika if/else memastikan data logistik medis tidak pernah kosong sebelum stok diperbarui.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Logical Database: Entity Relationship Diagram (ERD)</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pic>
        <p:nvPicPr>
          <p:cNvPr id="9" name="Picture 8" descr="Entity Relationship Diagram (ERD) &amp; Logical Database.png"/>
          <p:cNvPicPr>
            <a:picLocks noChangeAspect="1"/>
          </p:cNvPicPr>
          <p:nvPr/>
        </p:nvPicPr>
        <p:blipFill>
          <a:blip r:embed="rId2"/>
          <a:stretch>
            <a:fillRect/>
          </a:stretch>
        </p:blipFill>
        <p:spPr>
          <a:xfrm>
            <a:off x="594360" y="1325880"/>
            <a:ext cx="10972800" cy="4663440"/>
          </a:xfrm>
          <a:prstGeom prst="rect">
            <a:avLst/>
          </a:prstGeom>
        </p:spPr>
      </p:pic>
      <p:sp>
        <p:nvSpPr>
          <p:cNvPr id="10" name="Rectangle 9"/>
          <p:cNvSpPr/>
          <p:nvPr/>
        </p:nvSpPr>
        <p:spPr>
          <a:xfrm>
            <a:off x="594360" y="5760720"/>
            <a:ext cx="10972800" cy="36576"/>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5852160"/>
            <a:ext cx="10972800" cy="347472"/>
          </a:xfrm>
          <a:prstGeom prst="rect">
            <a:avLst/>
          </a:prstGeom>
          <a:noFill/>
        </p:spPr>
        <p:txBody>
          <a:bodyPr wrap="square">
            <a:spAutoFit/>
          </a:bodyPr>
          <a:lstStyle/>
          <a:p>
            <a:pPr algn="ctr"/>
            <a:r>
              <a:rPr sz="1000" b="0" i="1">
                <a:solidFill>
                  <a:srgbClr val="7A8A90"/>
                </a:solidFill>
              </a:rPr>
              <a:t>Arsitektur Relasional 4 Klaster:  Klaster Aktor (RBAC)  ·  Konversi Multi-UOM  ·  Logistik Medis (Stok &amp; Batch)  ·  Transaksi &amp; Riwayat Mutasi (Kartu Stok)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Struktur Tabel Database Esensial</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sp>
        <p:nvSpPr>
          <p:cNvPr id="9" name="Rectangle 8"/>
          <p:cNvSpPr/>
          <p:nvPr/>
        </p:nvSpPr>
        <p:spPr>
          <a:xfrm>
            <a:off x="594360" y="1463040"/>
            <a:ext cx="5349240" cy="4754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1527048"/>
            <a:ext cx="5166360" cy="384048"/>
          </a:xfrm>
          <a:prstGeom prst="rect">
            <a:avLst/>
          </a:prstGeom>
          <a:noFill/>
        </p:spPr>
        <p:txBody>
          <a:bodyPr wrap="square">
            <a:spAutoFit/>
          </a:bodyPr>
          <a:lstStyle/>
          <a:p>
            <a:pPr algn="l"/>
            <a:r>
              <a:rPr sz="1150" b="1" i="0">
                <a:solidFill>
                  <a:srgbClr val="FFFFFF"/>
                </a:solidFill>
              </a:rPr>
              <a:t>produk_variasi — Konversi Multi-UOM</a:t>
            </a:r>
          </a:p>
        </p:txBody>
      </p:sp>
      <p:sp>
        <p:nvSpPr>
          <p:cNvPr id="11" name="TextBox 10"/>
          <p:cNvSpPr txBox="1"/>
          <p:nvPr/>
        </p:nvSpPr>
        <p:spPr>
          <a:xfrm>
            <a:off x="594360" y="1993392"/>
            <a:ext cx="5349240" cy="411480"/>
          </a:xfrm>
          <a:prstGeom prst="rect">
            <a:avLst/>
          </a:prstGeom>
          <a:noFill/>
        </p:spPr>
        <p:txBody>
          <a:bodyPr wrap="square">
            <a:spAutoFit/>
          </a:bodyPr>
          <a:lstStyle/>
          <a:p>
            <a:pPr algn="l"/>
            <a:r>
              <a:rPr sz="1000" b="0" i="1">
                <a:solidFill>
                  <a:srgbClr val="7A8A90"/>
                </a:solidFill>
              </a:rPr>
              <a:t>Mengatur konversi satuan dinamis dan harga jual statis per varian produk.</a:t>
            </a:r>
          </a:p>
        </p:txBody>
      </p:sp>
      <p:sp>
        <p:nvSpPr>
          <p:cNvPr id="12" name="Rectangle 11"/>
          <p:cNvSpPr/>
          <p:nvPr/>
        </p:nvSpPr>
        <p:spPr>
          <a:xfrm>
            <a:off x="594360" y="2468880"/>
            <a:ext cx="534924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2468880"/>
            <a:ext cx="36576" cy="8229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2376" y="2523744"/>
            <a:ext cx="2194560" cy="347472"/>
          </a:xfrm>
          <a:prstGeom prst="rect">
            <a:avLst/>
          </a:prstGeom>
          <a:noFill/>
        </p:spPr>
        <p:txBody>
          <a:bodyPr wrap="square">
            <a:spAutoFit/>
          </a:bodyPr>
          <a:lstStyle/>
          <a:p>
            <a:pPr algn="l"/>
            <a:r>
              <a:rPr sz="1050" b="1" i="0">
                <a:solidFill>
                  <a:srgbClr val="2D8996"/>
                </a:solidFill>
              </a:rPr>
              <a:t>rasio_konversi</a:t>
            </a:r>
          </a:p>
        </p:txBody>
      </p:sp>
      <p:sp>
        <p:nvSpPr>
          <p:cNvPr id="15" name="Rectangle 14"/>
          <p:cNvSpPr/>
          <p:nvPr/>
        </p:nvSpPr>
        <p:spPr>
          <a:xfrm>
            <a:off x="722376" y="2907792"/>
            <a:ext cx="685800" cy="256032"/>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2907792"/>
            <a:ext cx="685800" cy="256032"/>
          </a:xfrm>
          <a:prstGeom prst="rect">
            <a:avLst/>
          </a:prstGeom>
          <a:noFill/>
        </p:spPr>
        <p:txBody>
          <a:bodyPr wrap="square">
            <a:spAutoFit/>
          </a:bodyPr>
          <a:lstStyle/>
          <a:p>
            <a:pPr algn="ctr"/>
            <a:r>
              <a:rPr sz="850" b="1" i="0">
                <a:solidFill>
                  <a:srgbClr val="2D8996"/>
                </a:solidFill>
              </a:rPr>
              <a:t>INT</a:t>
            </a:r>
          </a:p>
        </p:txBody>
      </p:sp>
      <p:sp>
        <p:nvSpPr>
          <p:cNvPr id="17" name="TextBox 16"/>
          <p:cNvSpPr txBox="1"/>
          <p:nvPr/>
        </p:nvSpPr>
        <p:spPr>
          <a:xfrm>
            <a:off x="1472184" y="2926080"/>
            <a:ext cx="4379976" cy="274320"/>
          </a:xfrm>
          <a:prstGeom prst="rect">
            <a:avLst/>
          </a:prstGeom>
          <a:noFill/>
        </p:spPr>
        <p:txBody>
          <a:bodyPr wrap="square">
            <a:spAutoFit/>
          </a:bodyPr>
          <a:lstStyle/>
          <a:p>
            <a:pPr algn="l"/>
            <a:r>
              <a:rPr sz="950" b="0" i="0">
                <a:solidFill>
                  <a:srgbClr val="7A8A90"/>
                </a:solidFill>
              </a:rPr>
              <a:t>Pengunci perkalian matematis grosir → eceran</a:t>
            </a:r>
          </a:p>
        </p:txBody>
      </p:sp>
      <p:sp>
        <p:nvSpPr>
          <p:cNvPr id="18" name="Rectangle 17"/>
          <p:cNvSpPr/>
          <p:nvPr/>
        </p:nvSpPr>
        <p:spPr>
          <a:xfrm>
            <a:off x="594360" y="3355848"/>
            <a:ext cx="5349240" cy="822960"/>
          </a:xfrm>
          <a:prstGeom prst="rect">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94360" y="3355848"/>
            <a:ext cx="36576" cy="8229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6" y="3410712"/>
            <a:ext cx="2194560" cy="347472"/>
          </a:xfrm>
          <a:prstGeom prst="rect">
            <a:avLst/>
          </a:prstGeom>
          <a:noFill/>
        </p:spPr>
        <p:txBody>
          <a:bodyPr wrap="square">
            <a:spAutoFit/>
          </a:bodyPr>
          <a:lstStyle/>
          <a:p>
            <a:pPr algn="l"/>
            <a:r>
              <a:rPr sz="1050" b="1" i="0">
                <a:solidFill>
                  <a:srgbClr val="2D8996"/>
                </a:solidFill>
              </a:rPr>
              <a:t>satuan_kecil / satuan_besar</a:t>
            </a:r>
          </a:p>
        </p:txBody>
      </p:sp>
      <p:sp>
        <p:nvSpPr>
          <p:cNvPr id="21" name="Rectangle 20"/>
          <p:cNvSpPr/>
          <p:nvPr/>
        </p:nvSpPr>
        <p:spPr>
          <a:xfrm>
            <a:off x="722376" y="3794760"/>
            <a:ext cx="685800" cy="256032"/>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3794760"/>
            <a:ext cx="685800" cy="256032"/>
          </a:xfrm>
          <a:prstGeom prst="rect">
            <a:avLst/>
          </a:prstGeom>
          <a:noFill/>
        </p:spPr>
        <p:txBody>
          <a:bodyPr wrap="square">
            <a:spAutoFit/>
          </a:bodyPr>
          <a:lstStyle/>
          <a:p>
            <a:pPr algn="ctr"/>
            <a:r>
              <a:rPr sz="850" b="1" i="0">
                <a:solidFill>
                  <a:srgbClr val="2D8996"/>
                </a:solidFill>
              </a:rPr>
              <a:t>VARCHAR</a:t>
            </a:r>
          </a:p>
        </p:txBody>
      </p:sp>
      <p:sp>
        <p:nvSpPr>
          <p:cNvPr id="23" name="TextBox 22"/>
          <p:cNvSpPr txBox="1"/>
          <p:nvPr/>
        </p:nvSpPr>
        <p:spPr>
          <a:xfrm>
            <a:off x="1472184" y="3813048"/>
            <a:ext cx="4379976" cy="274320"/>
          </a:xfrm>
          <a:prstGeom prst="rect">
            <a:avLst/>
          </a:prstGeom>
          <a:noFill/>
        </p:spPr>
        <p:txBody>
          <a:bodyPr wrap="square">
            <a:spAutoFit/>
          </a:bodyPr>
          <a:lstStyle/>
          <a:p>
            <a:pPr algn="l"/>
            <a:r>
              <a:rPr sz="950" b="0" i="0">
                <a:solidFill>
                  <a:srgbClr val="7A8A90"/>
                </a:solidFill>
              </a:rPr>
              <a:t>Contoh: Pcs / Box</a:t>
            </a:r>
          </a:p>
        </p:txBody>
      </p:sp>
      <p:sp>
        <p:nvSpPr>
          <p:cNvPr id="24" name="Rectangle 23"/>
          <p:cNvSpPr/>
          <p:nvPr/>
        </p:nvSpPr>
        <p:spPr>
          <a:xfrm>
            <a:off x="594360" y="4242816"/>
            <a:ext cx="534924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4242816"/>
            <a:ext cx="36576" cy="8229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376" y="4297680"/>
            <a:ext cx="2194560" cy="347472"/>
          </a:xfrm>
          <a:prstGeom prst="rect">
            <a:avLst/>
          </a:prstGeom>
          <a:noFill/>
        </p:spPr>
        <p:txBody>
          <a:bodyPr wrap="square">
            <a:spAutoFit/>
          </a:bodyPr>
          <a:lstStyle/>
          <a:p>
            <a:pPr algn="l"/>
            <a:r>
              <a:rPr sz="1050" b="1" i="0">
                <a:solidFill>
                  <a:srgbClr val="2D8996"/>
                </a:solidFill>
              </a:rPr>
              <a:t>harga_jual_kecil / besar</a:t>
            </a:r>
          </a:p>
        </p:txBody>
      </p:sp>
      <p:sp>
        <p:nvSpPr>
          <p:cNvPr id="27" name="Rectangle 26"/>
          <p:cNvSpPr/>
          <p:nvPr/>
        </p:nvSpPr>
        <p:spPr>
          <a:xfrm>
            <a:off x="722376" y="4681728"/>
            <a:ext cx="685800" cy="256032"/>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 y="4681728"/>
            <a:ext cx="685800" cy="256032"/>
          </a:xfrm>
          <a:prstGeom prst="rect">
            <a:avLst/>
          </a:prstGeom>
          <a:noFill/>
        </p:spPr>
        <p:txBody>
          <a:bodyPr wrap="square">
            <a:spAutoFit/>
          </a:bodyPr>
          <a:lstStyle/>
          <a:p>
            <a:pPr algn="ctr"/>
            <a:r>
              <a:rPr sz="850" b="1" i="0">
                <a:solidFill>
                  <a:srgbClr val="2D8996"/>
                </a:solidFill>
              </a:rPr>
              <a:t>DECIMAL</a:t>
            </a:r>
          </a:p>
        </p:txBody>
      </p:sp>
      <p:sp>
        <p:nvSpPr>
          <p:cNvPr id="29" name="TextBox 28"/>
          <p:cNvSpPr txBox="1"/>
          <p:nvPr/>
        </p:nvSpPr>
        <p:spPr>
          <a:xfrm>
            <a:off x="1472184" y="4700016"/>
            <a:ext cx="4379976" cy="274320"/>
          </a:xfrm>
          <a:prstGeom prst="rect">
            <a:avLst/>
          </a:prstGeom>
          <a:noFill/>
        </p:spPr>
        <p:txBody>
          <a:bodyPr wrap="square">
            <a:spAutoFit/>
          </a:bodyPr>
          <a:lstStyle/>
          <a:p>
            <a:pPr algn="l"/>
            <a:r>
              <a:rPr sz="950" b="0" i="0">
                <a:solidFill>
                  <a:srgbClr val="7A8A90"/>
                </a:solidFill>
              </a:rPr>
              <a:t>Harga jual statis dikontrol Superadmin</a:t>
            </a:r>
          </a:p>
        </p:txBody>
      </p:sp>
      <p:sp>
        <p:nvSpPr>
          <p:cNvPr id="30" name="Rectangle 29"/>
          <p:cNvSpPr/>
          <p:nvPr/>
        </p:nvSpPr>
        <p:spPr>
          <a:xfrm>
            <a:off x="594360" y="5129784"/>
            <a:ext cx="5349240" cy="822960"/>
          </a:xfrm>
          <a:prstGeom prst="rect">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 y="5129784"/>
            <a:ext cx="36576" cy="8229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2376" y="5184648"/>
            <a:ext cx="2194560" cy="347472"/>
          </a:xfrm>
          <a:prstGeom prst="rect">
            <a:avLst/>
          </a:prstGeom>
          <a:noFill/>
        </p:spPr>
        <p:txBody>
          <a:bodyPr wrap="square">
            <a:spAutoFit/>
          </a:bodyPr>
          <a:lstStyle/>
          <a:p>
            <a:pPr algn="l"/>
            <a:r>
              <a:rPr sz="1050" b="1" i="0">
                <a:solidFill>
                  <a:srgbClr val="2D8996"/>
                </a:solidFill>
              </a:rPr>
              <a:t>tampil_di_online</a:t>
            </a:r>
          </a:p>
        </p:txBody>
      </p:sp>
      <p:sp>
        <p:nvSpPr>
          <p:cNvPr id="33" name="Rectangle 32"/>
          <p:cNvSpPr/>
          <p:nvPr/>
        </p:nvSpPr>
        <p:spPr>
          <a:xfrm>
            <a:off x="722376" y="5568696"/>
            <a:ext cx="685800" cy="256032"/>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2376" y="5568696"/>
            <a:ext cx="685800" cy="256032"/>
          </a:xfrm>
          <a:prstGeom prst="rect">
            <a:avLst/>
          </a:prstGeom>
          <a:noFill/>
        </p:spPr>
        <p:txBody>
          <a:bodyPr wrap="square">
            <a:spAutoFit/>
          </a:bodyPr>
          <a:lstStyle/>
          <a:p>
            <a:pPr algn="ctr"/>
            <a:r>
              <a:rPr sz="850" b="1" i="0">
                <a:solidFill>
                  <a:srgbClr val="2D8996"/>
                </a:solidFill>
              </a:rPr>
              <a:t>TINYINT</a:t>
            </a:r>
          </a:p>
        </p:txBody>
      </p:sp>
      <p:sp>
        <p:nvSpPr>
          <p:cNvPr id="35" name="TextBox 34"/>
          <p:cNvSpPr txBox="1"/>
          <p:nvPr/>
        </p:nvSpPr>
        <p:spPr>
          <a:xfrm>
            <a:off x="1472184" y="5586984"/>
            <a:ext cx="4379976" cy="274320"/>
          </a:xfrm>
          <a:prstGeom prst="rect">
            <a:avLst/>
          </a:prstGeom>
          <a:noFill/>
        </p:spPr>
        <p:txBody>
          <a:bodyPr wrap="square">
            <a:spAutoFit/>
          </a:bodyPr>
          <a:lstStyle/>
          <a:p>
            <a:pPr algn="l"/>
            <a:r>
              <a:rPr sz="950" b="0" i="0">
                <a:solidFill>
                  <a:srgbClr val="7A8A90"/>
                </a:solidFill>
              </a:rPr>
              <a:t>Toggle visibilitas E-Commerce per varian</a:t>
            </a:r>
          </a:p>
        </p:txBody>
      </p:sp>
      <p:sp>
        <p:nvSpPr>
          <p:cNvPr id="36" name="Rectangle 35"/>
          <p:cNvSpPr/>
          <p:nvPr/>
        </p:nvSpPr>
        <p:spPr>
          <a:xfrm>
            <a:off x="6217920" y="1463040"/>
            <a:ext cx="5349240" cy="4754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27648" y="1527048"/>
            <a:ext cx="5166360" cy="384048"/>
          </a:xfrm>
          <a:prstGeom prst="rect">
            <a:avLst/>
          </a:prstGeom>
          <a:noFill/>
        </p:spPr>
        <p:txBody>
          <a:bodyPr wrap="square">
            <a:spAutoFit/>
          </a:bodyPr>
          <a:lstStyle/>
          <a:p>
            <a:pPr algn="l"/>
            <a:r>
              <a:rPr sz="1150" b="1" i="0">
                <a:solidFill>
                  <a:srgbClr val="FFFFFF"/>
                </a:solidFill>
              </a:rPr>
              <a:t>stok_batch — Logika FEFO Obat</a:t>
            </a:r>
          </a:p>
        </p:txBody>
      </p:sp>
      <p:sp>
        <p:nvSpPr>
          <p:cNvPr id="38" name="TextBox 37"/>
          <p:cNvSpPr txBox="1"/>
          <p:nvPr/>
        </p:nvSpPr>
        <p:spPr>
          <a:xfrm>
            <a:off x="6217920" y="1993392"/>
            <a:ext cx="5349240" cy="411480"/>
          </a:xfrm>
          <a:prstGeom prst="rect">
            <a:avLst/>
          </a:prstGeom>
          <a:noFill/>
        </p:spPr>
        <p:txBody>
          <a:bodyPr wrap="square">
            <a:spAutoFit/>
          </a:bodyPr>
          <a:lstStyle/>
          <a:p>
            <a:pPr algn="l"/>
            <a:r>
              <a:rPr sz="1000" b="0" i="1">
                <a:solidFill>
                  <a:srgbClr val="7A8A90"/>
                </a:solidFill>
              </a:rPr>
              <a:t>Menyimpan nomor batch dan tanggal kadaluarsa; sistem memotong stok berdasarkan FEFO.</a:t>
            </a:r>
          </a:p>
        </p:txBody>
      </p:sp>
      <p:sp>
        <p:nvSpPr>
          <p:cNvPr id="39" name="Rectangle 38"/>
          <p:cNvSpPr/>
          <p:nvPr/>
        </p:nvSpPr>
        <p:spPr>
          <a:xfrm>
            <a:off x="6217920" y="2468880"/>
            <a:ext cx="534924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17920" y="2468880"/>
            <a:ext cx="36576" cy="8229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45936" y="2523744"/>
            <a:ext cx="2194560" cy="347472"/>
          </a:xfrm>
          <a:prstGeom prst="rect">
            <a:avLst/>
          </a:prstGeom>
          <a:noFill/>
        </p:spPr>
        <p:txBody>
          <a:bodyPr wrap="square">
            <a:spAutoFit/>
          </a:bodyPr>
          <a:lstStyle/>
          <a:p>
            <a:pPr algn="l"/>
            <a:r>
              <a:rPr sz="1050" b="1" i="0">
                <a:solidFill>
                  <a:srgbClr val="2D8996"/>
                </a:solidFill>
              </a:rPr>
              <a:t>no_batch</a:t>
            </a:r>
          </a:p>
        </p:txBody>
      </p:sp>
      <p:sp>
        <p:nvSpPr>
          <p:cNvPr id="42" name="Rectangle 41"/>
          <p:cNvSpPr/>
          <p:nvPr/>
        </p:nvSpPr>
        <p:spPr>
          <a:xfrm>
            <a:off x="6345936" y="2907792"/>
            <a:ext cx="685800" cy="256032"/>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45936" y="2907792"/>
            <a:ext cx="685800" cy="256032"/>
          </a:xfrm>
          <a:prstGeom prst="rect">
            <a:avLst/>
          </a:prstGeom>
          <a:noFill/>
        </p:spPr>
        <p:txBody>
          <a:bodyPr wrap="square">
            <a:spAutoFit/>
          </a:bodyPr>
          <a:lstStyle/>
          <a:p>
            <a:pPr algn="ctr"/>
            <a:r>
              <a:rPr sz="850" b="1" i="0">
                <a:solidFill>
                  <a:srgbClr val="2D8996"/>
                </a:solidFill>
              </a:rPr>
              <a:t>VARCHAR</a:t>
            </a:r>
          </a:p>
        </p:txBody>
      </p:sp>
      <p:sp>
        <p:nvSpPr>
          <p:cNvPr id="44" name="TextBox 43"/>
          <p:cNvSpPr txBox="1"/>
          <p:nvPr/>
        </p:nvSpPr>
        <p:spPr>
          <a:xfrm>
            <a:off x="7095744" y="2926080"/>
            <a:ext cx="4379976" cy="274320"/>
          </a:xfrm>
          <a:prstGeom prst="rect">
            <a:avLst/>
          </a:prstGeom>
          <a:noFill/>
        </p:spPr>
        <p:txBody>
          <a:bodyPr wrap="square">
            <a:spAutoFit/>
          </a:bodyPr>
          <a:lstStyle/>
          <a:p>
            <a:pPr algn="l"/>
            <a:r>
              <a:rPr sz="950" b="0" i="0">
                <a:solidFill>
                  <a:srgbClr val="7A8A90"/>
                </a:solidFill>
              </a:rPr>
              <a:t>Nomor batch dari faktur supplier</a:t>
            </a:r>
          </a:p>
        </p:txBody>
      </p:sp>
      <p:sp>
        <p:nvSpPr>
          <p:cNvPr id="45" name="Rectangle 44"/>
          <p:cNvSpPr/>
          <p:nvPr/>
        </p:nvSpPr>
        <p:spPr>
          <a:xfrm>
            <a:off x="6217920" y="3355848"/>
            <a:ext cx="5349240" cy="822960"/>
          </a:xfrm>
          <a:prstGeom prst="rect">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17920" y="3355848"/>
            <a:ext cx="36576" cy="8229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45936" y="3410712"/>
            <a:ext cx="2194560" cy="347472"/>
          </a:xfrm>
          <a:prstGeom prst="rect">
            <a:avLst/>
          </a:prstGeom>
          <a:noFill/>
        </p:spPr>
        <p:txBody>
          <a:bodyPr wrap="square">
            <a:spAutoFit/>
          </a:bodyPr>
          <a:lstStyle/>
          <a:p>
            <a:pPr algn="l"/>
            <a:r>
              <a:rPr sz="1050" b="1" i="0">
                <a:solidFill>
                  <a:srgbClr val="2D8996"/>
                </a:solidFill>
              </a:rPr>
              <a:t>tgl_exp</a:t>
            </a:r>
          </a:p>
        </p:txBody>
      </p:sp>
      <p:sp>
        <p:nvSpPr>
          <p:cNvPr id="48" name="Rectangle 47"/>
          <p:cNvSpPr/>
          <p:nvPr/>
        </p:nvSpPr>
        <p:spPr>
          <a:xfrm>
            <a:off x="6345936" y="3794760"/>
            <a:ext cx="685800" cy="256032"/>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45936" y="3794760"/>
            <a:ext cx="685800" cy="256032"/>
          </a:xfrm>
          <a:prstGeom prst="rect">
            <a:avLst/>
          </a:prstGeom>
          <a:noFill/>
        </p:spPr>
        <p:txBody>
          <a:bodyPr wrap="square">
            <a:spAutoFit/>
          </a:bodyPr>
          <a:lstStyle/>
          <a:p>
            <a:pPr algn="ctr"/>
            <a:r>
              <a:rPr sz="850" b="1" i="0">
                <a:solidFill>
                  <a:srgbClr val="2D8996"/>
                </a:solidFill>
              </a:rPr>
              <a:t>DATE</a:t>
            </a:r>
          </a:p>
        </p:txBody>
      </p:sp>
      <p:sp>
        <p:nvSpPr>
          <p:cNvPr id="50" name="TextBox 49"/>
          <p:cNvSpPr txBox="1"/>
          <p:nvPr/>
        </p:nvSpPr>
        <p:spPr>
          <a:xfrm>
            <a:off x="7095744" y="3813048"/>
            <a:ext cx="4379976" cy="274320"/>
          </a:xfrm>
          <a:prstGeom prst="rect">
            <a:avLst/>
          </a:prstGeom>
          <a:noFill/>
        </p:spPr>
        <p:txBody>
          <a:bodyPr wrap="square">
            <a:spAutoFit/>
          </a:bodyPr>
          <a:lstStyle/>
          <a:p>
            <a:pPr algn="l"/>
            <a:r>
              <a:rPr sz="950" b="0" i="0">
                <a:solidFill>
                  <a:srgbClr val="7A8A90"/>
                </a:solidFill>
              </a:rPr>
              <a:t>ORDER BY tgl_exp ASC → logika FEFO otomatis</a:t>
            </a:r>
          </a:p>
        </p:txBody>
      </p:sp>
      <p:sp>
        <p:nvSpPr>
          <p:cNvPr id="51" name="Rectangle 50"/>
          <p:cNvSpPr/>
          <p:nvPr/>
        </p:nvSpPr>
        <p:spPr>
          <a:xfrm>
            <a:off x="6217920" y="4242816"/>
            <a:ext cx="534924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17920" y="4242816"/>
            <a:ext cx="36576" cy="8229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45936" y="4297680"/>
            <a:ext cx="2194560" cy="347472"/>
          </a:xfrm>
          <a:prstGeom prst="rect">
            <a:avLst/>
          </a:prstGeom>
          <a:noFill/>
        </p:spPr>
        <p:txBody>
          <a:bodyPr wrap="square">
            <a:spAutoFit/>
          </a:bodyPr>
          <a:lstStyle/>
          <a:p>
            <a:pPr algn="l"/>
            <a:r>
              <a:rPr sz="1050" b="1" i="0">
                <a:solidFill>
                  <a:srgbClr val="2D8996"/>
                </a:solidFill>
              </a:rPr>
              <a:t>stok_sisa</a:t>
            </a:r>
          </a:p>
        </p:txBody>
      </p:sp>
      <p:sp>
        <p:nvSpPr>
          <p:cNvPr id="54" name="Rectangle 53"/>
          <p:cNvSpPr/>
          <p:nvPr/>
        </p:nvSpPr>
        <p:spPr>
          <a:xfrm>
            <a:off x="6345936" y="4681728"/>
            <a:ext cx="685800" cy="256032"/>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45936" y="4681728"/>
            <a:ext cx="685800" cy="256032"/>
          </a:xfrm>
          <a:prstGeom prst="rect">
            <a:avLst/>
          </a:prstGeom>
          <a:noFill/>
        </p:spPr>
        <p:txBody>
          <a:bodyPr wrap="square">
            <a:spAutoFit/>
          </a:bodyPr>
          <a:lstStyle/>
          <a:p>
            <a:pPr algn="ctr"/>
            <a:r>
              <a:rPr sz="850" b="1" i="0">
                <a:solidFill>
                  <a:srgbClr val="2D8996"/>
                </a:solidFill>
              </a:rPr>
              <a:t>INT</a:t>
            </a:r>
          </a:p>
        </p:txBody>
      </p:sp>
      <p:sp>
        <p:nvSpPr>
          <p:cNvPr id="56" name="TextBox 55"/>
          <p:cNvSpPr txBox="1"/>
          <p:nvPr/>
        </p:nvSpPr>
        <p:spPr>
          <a:xfrm>
            <a:off x="7095744" y="4700016"/>
            <a:ext cx="4379976" cy="274320"/>
          </a:xfrm>
          <a:prstGeom prst="rect">
            <a:avLst/>
          </a:prstGeom>
          <a:noFill/>
        </p:spPr>
        <p:txBody>
          <a:bodyPr wrap="square">
            <a:spAutoFit/>
          </a:bodyPr>
          <a:lstStyle/>
          <a:p>
            <a:pPr algn="l"/>
            <a:r>
              <a:rPr sz="950" b="0" i="0">
                <a:solidFill>
                  <a:srgbClr val="7A8A90"/>
                </a:solidFill>
              </a:rPr>
              <a:t>Stok fisik tersisa per batch</a:t>
            </a:r>
          </a:p>
        </p:txBody>
      </p:sp>
      <p:sp>
        <p:nvSpPr>
          <p:cNvPr id="57" name="Rectangle 56"/>
          <p:cNvSpPr/>
          <p:nvPr/>
        </p:nvSpPr>
        <p:spPr>
          <a:xfrm>
            <a:off x="6217920" y="5129784"/>
            <a:ext cx="5349240" cy="822960"/>
          </a:xfrm>
          <a:prstGeom prst="rect">
            <a:avLst/>
          </a:prstGeom>
          <a:solidFill>
            <a:srgbClr val="F5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6217920" y="5129784"/>
            <a:ext cx="36576" cy="822960"/>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45936" y="5184648"/>
            <a:ext cx="2194560" cy="347472"/>
          </a:xfrm>
          <a:prstGeom prst="rect">
            <a:avLst/>
          </a:prstGeom>
          <a:noFill/>
        </p:spPr>
        <p:txBody>
          <a:bodyPr wrap="square">
            <a:spAutoFit/>
          </a:bodyPr>
          <a:lstStyle/>
          <a:p>
            <a:pPr algn="l"/>
            <a:r>
              <a:rPr sz="1050" b="1" i="0">
                <a:solidFill>
                  <a:srgbClr val="2D8996"/>
                </a:solidFill>
              </a:rPr>
              <a:t>(kartu_stok)</a:t>
            </a:r>
          </a:p>
        </p:txBody>
      </p:sp>
      <p:sp>
        <p:nvSpPr>
          <p:cNvPr id="60" name="Rectangle 59"/>
          <p:cNvSpPr/>
          <p:nvPr/>
        </p:nvSpPr>
        <p:spPr>
          <a:xfrm>
            <a:off x="6345936" y="5568696"/>
            <a:ext cx="685800" cy="256032"/>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45936" y="5568696"/>
            <a:ext cx="685800" cy="256032"/>
          </a:xfrm>
          <a:prstGeom prst="rect">
            <a:avLst/>
          </a:prstGeom>
          <a:noFill/>
        </p:spPr>
        <p:txBody>
          <a:bodyPr wrap="square">
            <a:spAutoFit/>
          </a:bodyPr>
          <a:lstStyle/>
          <a:p>
            <a:pPr algn="ctr"/>
            <a:r>
              <a:rPr sz="850" b="1" i="0">
                <a:solidFill>
                  <a:srgbClr val="2D8996"/>
                </a:solidFill>
              </a:rPr>
              <a:t>JOIN</a:t>
            </a:r>
          </a:p>
        </p:txBody>
      </p:sp>
      <p:sp>
        <p:nvSpPr>
          <p:cNvPr id="62" name="TextBox 61"/>
          <p:cNvSpPr txBox="1"/>
          <p:nvPr/>
        </p:nvSpPr>
        <p:spPr>
          <a:xfrm>
            <a:off x="7095744" y="5586984"/>
            <a:ext cx="4379976" cy="274320"/>
          </a:xfrm>
          <a:prstGeom prst="rect">
            <a:avLst/>
          </a:prstGeom>
          <a:noFill/>
        </p:spPr>
        <p:txBody>
          <a:bodyPr wrap="square">
            <a:spAutoFit/>
          </a:bodyPr>
          <a:lstStyle/>
          <a:p>
            <a:pPr algn="l"/>
            <a:r>
              <a:rPr sz="950" b="0" i="0">
                <a:solidFill>
                  <a:srgbClr val="7A8A90"/>
                </a:solidFill>
              </a:rPr>
              <a:t>Jejak audit lengkap setiap mutasi stok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8229600" cy="685800"/>
          </a:xfrm>
          <a:prstGeom prst="rect">
            <a:avLst/>
          </a:prstGeom>
          <a:noFill/>
        </p:spPr>
        <p:txBody>
          <a:bodyPr wrap="square">
            <a:spAutoFit/>
          </a:bodyPr>
          <a:lstStyle/>
          <a:p>
            <a:pPr algn="l"/>
            <a:r>
              <a:rPr sz="2800" b="1" i="0">
                <a:solidFill>
                  <a:srgbClr val="1A2A30"/>
                </a:solidFill>
              </a:rPr>
              <a:t>Kesimpulan</a:t>
            </a:r>
          </a:p>
        </p:txBody>
      </p:sp>
      <p:sp>
        <p:nvSpPr>
          <p:cNvPr id="4" name="Rectangle 3"/>
          <p:cNvSpPr/>
          <p:nvPr/>
        </p:nvSpPr>
        <p:spPr>
          <a:xfrm>
            <a:off x="594360" y="987552"/>
            <a:ext cx="731520" cy="50292"/>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241280" y="137160"/>
            <a:ext cx="178308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59568" y="164592"/>
            <a:ext cx="822960" cy="502920"/>
          </a:xfrm>
          <a:prstGeom prst="rect">
            <a:avLst/>
          </a:prstGeom>
          <a:noFill/>
        </p:spPr>
        <p:txBody>
          <a:bodyPr wrap="square">
            <a:spAutoFit/>
          </a:bodyPr>
          <a:lstStyle/>
          <a:p>
            <a:pPr algn="ctr"/>
            <a:r>
              <a:rPr sz="700" b="1" i="0">
                <a:solidFill>
                  <a:srgbClr val="2D8996"/>
                </a:solidFill>
              </a:rPr>
              <a:t>MA CHUNG</a:t>
            </a:r>
          </a:p>
        </p:txBody>
      </p:sp>
      <p:sp>
        <p:nvSpPr>
          <p:cNvPr id="7" name="Rectangle 6"/>
          <p:cNvSpPr/>
          <p:nvPr/>
        </p:nvSpPr>
        <p:spPr>
          <a:xfrm>
            <a:off x="10287000" y="365760"/>
            <a:ext cx="777240" cy="18288"/>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37392" y="164592"/>
            <a:ext cx="822960" cy="502920"/>
          </a:xfrm>
          <a:prstGeom prst="rect">
            <a:avLst/>
          </a:prstGeom>
          <a:noFill/>
        </p:spPr>
        <p:txBody>
          <a:bodyPr wrap="square">
            <a:spAutoFit/>
          </a:bodyPr>
          <a:lstStyle/>
          <a:p>
            <a:pPr algn="ctr"/>
            <a:r>
              <a:rPr sz="650" b="0" i="0">
                <a:solidFill>
                  <a:srgbClr val="2D8996"/>
                </a:solidFill>
              </a:rPr>
              <a:t>Sistem
Informasi</a:t>
            </a:r>
          </a:p>
        </p:txBody>
      </p:sp>
      <p:sp>
        <p:nvSpPr>
          <p:cNvPr id="9" name="TextBox 8"/>
          <p:cNvSpPr txBox="1"/>
          <p:nvPr/>
        </p:nvSpPr>
        <p:spPr>
          <a:xfrm>
            <a:off x="594360" y="1554480"/>
            <a:ext cx="10972800" cy="2560320"/>
          </a:xfrm>
          <a:prstGeom prst="rect">
            <a:avLst/>
          </a:prstGeom>
          <a:noFill/>
        </p:spPr>
        <p:txBody>
          <a:bodyPr wrap="square">
            <a:spAutoFit/>
          </a:bodyPr>
          <a:lstStyle/>
          <a:p>
            <a:pPr algn="l"/>
            <a:r>
              <a:rPr sz="1300" b="0" i="0">
                <a:solidFill>
                  <a:srgbClr val="2D3A40"/>
                </a:solidFill>
              </a:rPr>
              <a:t>Melalui penelitian ini, dirancang sebuah sistem informasi inventori omnichannel berbasis web yang menjembatani kesenjangan antara transaksi kasir fisik (POS) dan penjualan daring di ZenCare Medical. Dengan metode Rapid Application Development (RAD), sistem ini menjadi solusi atas permasalahan overselling dan inefisiensi konversi multi-satuan.
Implementasi Gatekeeper berlogika First Expired First Out (FEFO) serta pemisahan wewenang (RBAC) yang tegas antara Admin Operasional dan Superadmin diproyeksikan menciptakan tata kelola logistik medis yang akurat, aman, dan transparan.</a:t>
            </a:r>
          </a:p>
        </p:txBody>
      </p:sp>
      <p:sp>
        <p:nvSpPr>
          <p:cNvPr id="10" name="Rectangle 9"/>
          <p:cNvSpPr/>
          <p:nvPr/>
        </p:nvSpPr>
        <p:spPr>
          <a:xfrm>
            <a:off x="594360" y="4480560"/>
            <a:ext cx="2633472"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4480560"/>
            <a:ext cx="2633472"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4590288"/>
            <a:ext cx="365760" cy="502920"/>
          </a:xfrm>
          <a:prstGeom prst="rect">
            <a:avLst/>
          </a:prstGeom>
          <a:noFill/>
        </p:spPr>
        <p:txBody>
          <a:bodyPr wrap="square">
            <a:spAutoFit/>
          </a:bodyPr>
          <a:lstStyle/>
          <a:p>
            <a:pPr algn="l"/>
            <a:r>
              <a:rPr sz="2200" b="1" i="0">
                <a:solidFill>
                  <a:srgbClr val="4AB5BF"/>
                </a:solidFill>
              </a:rPr>
              <a:t>✔</a:t>
            </a:r>
          </a:p>
        </p:txBody>
      </p:sp>
      <p:sp>
        <p:nvSpPr>
          <p:cNvPr id="13" name="TextBox 12"/>
          <p:cNvSpPr txBox="1"/>
          <p:nvPr/>
        </p:nvSpPr>
        <p:spPr>
          <a:xfrm>
            <a:off x="1124712" y="4590288"/>
            <a:ext cx="1993392" cy="411480"/>
          </a:xfrm>
          <a:prstGeom prst="rect">
            <a:avLst/>
          </a:prstGeom>
          <a:noFill/>
        </p:spPr>
        <p:txBody>
          <a:bodyPr wrap="square">
            <a:spAutoFit/>
          </a:bodyPr>
          <a:lstStyle/>
          <a:p>
            <a:pPr algn="l"/>
            <a:r>
              <a:rPr sz="1200" b="1" i="0">
                <a:solidFill>
                  <a:srgbClr val="1A2A30"/>
                </a:solidFill>
              </a:rPr>
              <a:t>Omnichannel Terpadu</a:t>
            </a:r>
          </a:p>
        </p:txBody>
      </p:sp>
      <p:sp>
        <p:nvSpPr>
          <p:cNvPr id="14" name="TextBox 13"/>
          <p:cNvSpPr txBox="1"/>
          <p:nvPr/>
        </p:nvSpPr>
        <p:spPr>
          <a:xfrm>
            <a:off x="1124712" y="5010912"/>
            <a:ext cx="1993392" cy="411480"/>
          </a:xfrm>
          <a:prstGeom prst="rect">
            <a:avLst/>
          </a:prstGeom>
          <a:noFill/>
        </p:spPr>
        <p:txBody>
          <a:bodyPr wrap="square">
            <a:spAutoFit/>
          </a:bodyPr>
          <a:lstStyle/>
          <a:p>
            <a:pPr algn="l"/>
            <a:r>
              <a:rPr sz="1000" b="0" i="0">
                <a:solidFill>
                  <a:srgbClr val="7A8A90"/>
                </a:solidFill>
              </a:rPr>
              <a:t>POS + E-Commerce satu basis data</a:t>
            </a:r>
          </a:p>
        </p:txBody>
      </p:sp>
      <p:sp>
        <p:nvSpPr>
          <p:cNvPr id="15" name="Rectangle 14"/>
          <p:cNvSpPr/>
          <p:nvPr/>
        </p:nvSpPr>
        <p:spPr>
          <a:xfrm>
            <a:off x="3355848" y="4480560"/>
            <a:ext cx="2633472"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55848" y="4480560"/>
            <a:ext cx="2633472"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65576" y="4590288"/>
            <a:ext cx="365760" cy="502920"/>
          </a:xfrm>
          <a:prstGeom prst="rect">
            <a:avLst/>
          </a:prstGeom>
          <a:noFill/>
        </p:spPr>
        <p:txBody>
          <a:bodyPr wrap="square">
            <a:spAutoFit/>
          </a:bodyPr>
          <a:lstStyle/>
          <a:p>
            <a:pPr algn="l"/>
            <a:r>
              <a:rPr sz="2200" b="1" i="0">
                <a:solidFill>
                  <a:srgbClr val="4AB5BF"/>
                </a:solidFill>
              </a:rPr>
              <a:t>✔</a:t>
            </a:r>
          </a:p>
        </p:txBody>
      </p:sp>
      <p:sp>
        <p:nvSpPr>
          <p:cNvPr id="18" name="TextBox 17"/>
          <p:cNvSpPr txBox="1"/>
          <p:nvPr/>
        </p:nvSpPr>
        <p:spPr>
          <a:xfrm>
            <a:off x="3886200" y="4590288"/>
            <a:ext cx="1993392" cy="411480"/>
          </a:xfrm>
          <a:prstGeom prst="rect">
            <a:avLst/>
          </a:prstGeom>
          <a:noFill/>
        </p:spPr>
        <p:txBody>
          <a:bodyPr wrap="square">
            <a:spAutoFit/>
          </a:bodyPr>
          <a:lstStyle/>
          <a:p>
            <a:pPr algn="l"/>
            <a:r>
              <a:rPr sz="1200" b="1" i="0">
                <a:solidFill>
                  <a:srgbClr val="1A2A30"/>
                </a:solidFill>
              </a:rPr>
              <a:t>FEFO &amp; Serial Number</a:t>
            </a:r>
          </a:p>
        </p:txBody>
      </p:sp>
      <p:sp>
        <p:nvSpPr>
          <p:cNvPr id="19" name="TextBox 18"/>
          <p:cNvSpPr txBox="1"/>
          <p:nvPr/>
        </p:nvSpPr>
        <p:spPr>
          <a:xfrm>
            <a:off x="3886200" y="5010912"/>
            <a:ext cx="1993392" cy="411480"/>
          </a:xfrm>
          <a:prstGeom prst="rect">
            <a:avLst/>
          </a:prstGeom>
          <a:noFill/>
        </p:spPr>
        <p:txBody>
          <a:bodyPr wrap="square">
            <a:spAutoFit/>
          </a:bodyPr>
          <a:lstStyle/>
          <a:p>
            <a:pPr algn="l"/>
            <a:r>
              <a:rPr sz="1000" b="0" i="0">
                <a:solidFill>
                  <a:srgbClr val="7A8A90"/>
                </a:solidFill>
              </a:rPr>
              <a:t>Logistik medis tervalidasi</a:t>
            </a:r>
          </a:p>
        </p:txBody>
      </p:sp>
      <p:sp>
        <p:nvSpPr>
          <p:cNvPr id="20" name="Rectangle 19"/>
          <p:cNvSpPr/>
          <p:nvPr/>
        </p:nvSpPr>
        <p:spPr>
          <a:xfrm>
            <a:off x="6117336" y="4480560"/>
            <a:ext cx="2633472"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17336" y="4480560"/>
            <a:ext cx="2633472"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7064" y="4590288"/>
            <a:ext cx="365760" cy="502920"/>
          </a:xfrm>
          <a:prstGeom prst="rect">
            <a:avLst/>
          </a:prstGeom>
          <a:noFill/>
        </p:spPr>
        <p:txBody>
          <a:bodyPr wrap="square">
            <a:spAutoFit/>
          </a:bodyPr>
          <a:lstStyle/>
          <a:p>
            <a:pPr algn="l"/>
            <a:r>
              <a:rPr sz="2200" b="1" i="0">
                <a:solidFill>
                  <a:srgbClr val="4AB5BF"/>
                </a:solidFill>
              </a:rPr>
              <a:t>✔</a:t>
            </a:r>
          </a:p>
        </p:txBody>
      </p:sp>
      <p:sp>
        <p:nvSpPr>
          <p:cNvPr id="23" name="TextBox 22"/>
          <p:cNvSpPr txBox="1"/>
          <p:nvPr/>
        </p:nvSpPr>
        <p:spPr>
          <a:xfrm>
            <a:off x="6647688" y="4590288"/>
            <a:ext cx="1993392" cy="411480"/>
          </a:xfrm>
          <a:prstGeom prst="rect">
            <a:avLst/>
          </a:prstGeom>
          <a:noFill/>
        </p:spPr>
        <p:txBody>
          <a:bodyPr wrap="square">
            <a:spAutoFit/>
          </a:bodyPr>
          <a:lstStyle/>
          <a:p>
            <a:pPr algn="l"/>
            <a:r>
              <a:rPr sz="1200" b="1" i="0">
                <a:solidFill>
                  <a:srgbClr val="1A2A30"/>
                </a:solidFill>
              </a:rPr>
              <a:t>RBAC Tegas</a:t>
            </a:r>
          </a:p>
        </p:txBody>
      </p:sp>
      <p:sp>
        <p:nvSpPr>
          <p:cNvPr id="24" name="TextBox 23"/>
          <p:cNvSpPr txBox="1"/>
          <p:nvPr/>
        </p:nvSpPr>
        <p:spPr>
          <a:xfrm>
            <a:off x="6647688" y="5010912"/>
            <a:ext cx="1993392" cy="411480"/>
          </a:xfrm>
          <a:prstGeom prst="rect">
            <a:avLst/>
          </a:prstGeom>
          <a:noFill/>
        </p:spPr>
        <p:txBody>
          <a:bodyPr wrap="square">
            <a:spAutoFit/>
          </a:bodyPr>
          <a:lstStyle/>
          <a:p>
            <a:pPr algn="l"/>
            <a:r>
              <a:rPr sz="1000" b="0" i="0">
                <a:solidFill>
                  <a:srgbClr val="7A8A90"/>
                </a:solidFill>
              </a:rPr>
              <a:t>Pemisahan wewenang Admin &amp; Superadmin</a:t>
            </a:r>
          </a:p>
        </p:txBody>
      </p:sp>
      <p:sp>
        <p:nvSpPr>
          <p:cNvPr id="25" name="Rectangle 24"/>
          <p:cNvSpPr/>
          <p:nvPr/>
        </p:nvSpPr>
        <p:spPr>
          <a:xfrm>
            <a:off x="8878824" y="4480560"/>
            <a:ext cx="2633472"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78824" y="4480560"/>
            <a:ext cx="2633472"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988552" y="4590288"/>
            <a:ext cx="365760" cy="502920"/>
          </a:xfrm>
          <a:prstGeom prst="rect">
            <a:avLst/>
          </a:prstGeom>
          <a:noFill/>
        </p:spPr>
        <p:txBody>
          <a:bodyPr wrap="square">
            <a:spAutoFit/>
          </a:bodyPr>
          <a:lstStyle/>
          <a:p>
            <a:pPr algn="l"/>
            <a:r>
              <a:rPr sz="2200" b="1" i="0">
                <a:solidFill>
                  <a:srgbClr val="4AB5BF"/>
                </a:solidFill>
              </a:rPr>
              <a:t>✔</a:t>
            </a:r>
          </a:p>
        </p:txBody>
      </p:sp>
      <p:sp>
        <p:nvSpPr>
          <p:cNvPr id="28" name="TextBox 27"/>
          <p:cNvSpPr txBox="1"/>
          <p:nvPr/>
        </p:nvSpPr>
        <p:spPr>
          <a:xfrm>
            <a:off x="9409176" y="4590288"/>
            <a:ext cx="1993392" cy="411480"/>
          </a:xfrm>
          <a:prstGeom prst="rect">
            <a:avLst/>
          </a:prstGeom>
          <a:noFill/>
        </p:spPr>
        <p:txBody>
          <a:bodyPr wrap="square">
            <a:spAutoFit/>
          </a:bodyPr>
          <a:lstStyle/>
          <a:p>
            <a:pPr algn="l"/>
            <a:r>
              <a:rPr sz="1200" b="1" i="0">
                <a:solidFill>
                  <a:srgbClr val="1A2A30"/>
                </a:solidFill>
              </a:rPr>
              <a:t>Dashboard Manajerial</a:t>
            </a:r>
          </a:p>
        </p:txBody>
      </p:sp>
      <p:sp>
        <p:nvSpPr>
          <p:cNvPr id="29" name="TextBox 28"/>
          <p:cNvSpPr txBox="1"/>
          <p:nvPr/>
        </p:nvSpPr>
        <p:spPr>
          <a:xfrm>
            <a:off x="9409176" y="5010912"/>
            <a:ext cx="1993392" cy="411480"/>
          </a:xfrm>
          <a:prstGeom prst="rect">
            <a:avLst/>
          </a:prstGeom>
          <a:noFill/>
        </p:spPr>
        <p:txBody>
          <a:bodyPr wrap="square">
            <a:spAutoFit/>
          </a:bodyPr>
          <a:lstStyle/>
          <a:p>
            <a:pPr algn="l"/>
            <a:r>
              <a:rPr sz="1000" b="0" i="0">
                <a:solidFill>
                  <a:srgbClr val="7A8A90"/>
                </a:solidFill>
              </a:rPr>
              <a:t>Pantau Harga Beli &amp; Kartu Stok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F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11480"/>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46520"/>
            <a:ext cx="12188952" cy="411480"/>
          </a:xfrm>
          <a:prstGeom prst="rect">
            <a:avLst/>
          </a:prstGeom>
          <a:solidFill>
            <a:srgbClr val="2D89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463040"/>
            <a:ext cx="10972800" cy="1188720"/>
          </a:xfrm>
          <a:prstGeom prst="rect">
            <a:avLst/>
          </a:prstGeom>
          <a:noFill/>
        </p:spPr>
        <p:txBody>
          <a:bodyPr wrap="square">
            <a:spAutoFit/>
          </a:bodyPr>
          <a:lstStyle/>
          <a:p>
            <a:pPr algn="ctr"/>
            <a:r>
              <a:rPr sz="6000" b="1" i="0">
                <a:solidFill>
                  <a:srgbClr val="2D8996"/>
                </a:solidFill>
              </a:rPr>
              <a:t>TERIMA KASIH</a:t>
            </a:r>
          </a:p>
        </p:txBody>
      </p:sp>
      <p:sp>
        <p:nvSpPr>
          <p:cNvPr id="6" name="Rectangle 5"/>
          <p:cNvSpPr/>
          <p:nvPr/>
        </p:nvSpPr>
        <p:spPr>
          <a:xfrm>
            <a:off x="3657600" y="2834640"/>
            <a:ext cx="4892040" cy="54864"/>
          </a:xfrm>
          <a:prstGeom prst="rect">
            <a:avLst/>
          </a:prstGeom>
          <a:solidFill>
            <a:srgbClr val="4AB5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3063240"/>
            <a:ext cx="10972800" cy="640080"/>
          </a:xfrm>
          <a:prstGeom prst="rect">
            <a:avLst/>
          </a:prstGeom>
          <a:noFill/>
        </p:spPr>
        <p:txBody>
          <a:bodyPr wrap="square">
            <a:spAutoFit/>
          </a:bodyPr>
          <a:lstStyle/>
          <a:p>
            <a:pPr algn="ctr"/>
            <a:r>
              <a:rPr sz="1500" b="0" i="1">
                <a:solidFill>
                  <a:srgbClr val="7A8A90"/>
                </a:solidFill>
              </a:rPr>
              <a:t>Rancang Bangun Sistem Informasi Inventory Omnichannel Alat Kesehatan dan Obat</a:t>
            </a:r>
          </a:p>
        </p:txBody>
      </p:sp>
      <p:sp>
        <p:nvSpPr>
          <p:cNvPr id="8" name="TextBox 7"/>
          <p:cNvSpPr txBox="1"/>
          <p:nvPr/>
        </p:nvSpPr>
        <p:spPr>
          <a:xfrm>
            <a:off x="594360" y="3840480"/>
            <a:ext cx="10972800" cy="594360"/>
          </a:xfrm>
          <a:prstGeom prst="rect">
            <a:avLst/>
          </a:prstGeom>
          <a:noFill/>
        </p:spPr>
        <p:txBody>
          <a:bodyPr wrap="square">
            <a:spAutoFit/>
          </a:bodyPr>
          <a:lstStyle/>
          <a:p>
            <a:pPr algn="ctr"/>
            <a:r>
              <a:rPr sz="2400" b="1" i="0">
                <a:solidFill>
                  <a:srgbClr val="2D8996"/>
                </a:solidFill>
              </a:rPr>
              <a:t>Sesi Tanya Jawab (Q&amp;A)</a:t>
            </a:r>
          </a:p>
        </p:txBody>
      </p:sp>
      <p:sp>
        <p:nvSpPr>
          <p:cNvPr id="9" name="TextBox 8"/>
          <p:cNvSpPr txBox="1"/>
          <p:nvPr/>
        </p:nvSpPr>
        <p:spPr>
          <a:xfrm>
            <a:off x="594360" y="4663440"/>
            <a:ext cx="10972800" cy="411480"/>
          </a:xfrm>
          <a:prstGeom prst="rect">
            <a:avLst/>
          </a:prstGeom>
          <a:noFill/>
        </p:spPr>
        <p:txBody>
          <a:bodyPr wrap="square">
            <a:spAutoFit/>
          </a:bodyPr>
          <a:lstStyle/>
          <a:p>
            <a:pPr algn="ctr"/>
            <a:r>
              <a:rPr sz="1300" b="0" i="0">
                <a:solidFill>
                  <a:srgbClr val="7A8A90"/>
                </a:solidFill>
              </a:rPr>
              <a:t>Marcell Chandra Kenchana  ·  322310015  ·  Universitas Ma Chung</a:t>
            </a:r>
          </a:p>
        </p:txBody>
      </p:sp>
      <p:sp>
        <p:nvSpPr>
          <p:cNvPr id="10" name="Rectangle 9"/>
          <p:cNvSpPr/>
          <p:nvPr/>
        </p:nvSpPr>
        <p:spPr>
          <a:xfrm>
            <a:off x="5074920" y="5257800"/>
            <a:ext cx="2057400" cy="594360"/>
          </a:xfrm>
          <a:prstGeom prst="rect">
            <a:avLst/>
          </a:prstGeom>
          <a:solidFill>
            <a:srgbClr val="D4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5303520"/>
            <a:ext cx="960120" cy="502920"/>
          </a:xfrm>
          <a:prstGeom prst="rect">
            <a:avLst/>
          </a:prstGeom>
          <a:noFill/>
        </p:spPr>
        <p:txBody>
          <a:bodyPr wrap="square">
            <a:spAutoFit/>
          </a:bodyPr>
          <a:lstStyle/>
          <a:p>
            <a:pPr algn="ctr"/>
            <a:r>
              <a:rPr sz="800" b="1" i="0">
                <a:solidFill>
                  <a:srgbClr val="2D8996"/>
                </a:solidFill>
              </a:rPr>
              <a:t>MA CHUNG</a:t>
            </a:r>
          </a:p>
        </p:txBody>
      </p:sp>
      <p:sp>
        <p:nvSpPr>
          <p:cNvPr id="12" name="TextBox 11"/>
          <p:cNvSpPr txBox="1"/>
          <p:nvPr/>
        </p:nvSpPr>
        <p:spPr>
          <a:xfrm>
            <a:off x="6126480" y="5303520"/>
            <a:ext cx="914400" cy="502920"/>
          </a:xfrm>
          <a:prstGeom prst="rect">
            <a:avLst/>
          </a:prstGeom>
          <a:noFill/>
        </p:spPr>
        <p:txBody>
          <a:bodyPr wrap="square">
            <a:spAutoFit/>
          </a:bodyPr>
          <a:lstStyle/>
          <a:p>
            <a:pPr algn="ctr"/>
            <a:r>
              <a:rPr sz="700" b="0" i="0">
                <a:solidFill>
                  <a:srgbClr val="2D8996"/>
                </a:solidFill>
              </a:rPr>
              <a:t>Sistem
Informasi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