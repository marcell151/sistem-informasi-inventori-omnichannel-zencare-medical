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DM Sans Bold" charset="1" panose="00000000000000000000"/>
      <p:regular r:id="rId27"/>
    </p:embeddedFont>
    <p:embeddedFont>
      <p:font typeface="Merriweather Bold" charset="1" panose="00000800000000000000"/>
      <p:regular r:id="rId28"/>
    </p:embeddedFont>
    <p:embeddedFont>
      <p:font typeface="DM Sans" charset="1" panose="00000000000000000000"/>
      <p:regular r:id="rId29"/>
    </p:embeddedFont>
    <p:embeddedFont>
      <p:font typeface="DM Sans Italics" charset="1" panose="000000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fonts/font38.fntdata" Type="http://schemas.openxmlformats.org/officeDocument/2006/relationships/font"/><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41" Target="notesSlides/notesSlide12.xml" Type="http://schemas.openxmlformats.org/officeDocument/2006/relationships/notesSlide"/><Relationship Id="rId42" Target="notesSlides/notesSlide13.xml" Type="http://schemas.openxmlformats.org/officeDocument/2006/relationships/notesSlide"/><Relationship Id="rId43" Target="notesSlides/notesSlide14.xml" Type="http://schemas.openxmlformats.org/officeDocument/2006/relationships/notesSlide"/><Relationship Id="rId44" Target="notesSlides/notesSlide15.xml" Type="http://schemas.openxmlformats.org/officeDocument/2006/relationships/notesSlide"/><Relationship Id="rId45" Target="notesSlides/notesSlide16.xml" Type="http://schemas.openxmlformats.org/officeDocument/2006/relationships/notesSlide"/><Relationship Id="rId46" Target="notesSlides/notesSlide17.xml" Type="http://schemas.openxmlformats.org/officeDocument/2006/relationships/notesSlide"/><Relationship Id="rId47" Target="notesSlides/notesSlide18.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jpeg" Type="http://schemas.openxmlformats.org/officeDocument/2006/relationships/image"/><Relationship Id="rId7" Target="../media/image6.jpeg" Type="http://schemas.openxmlformats.org/officeDocument/2006/relationships/image"/><Relationship Id="rId8" Target="../media/image7.jpeg" Type="http://schemas.openxmlformats.org/officeDocument/2006/relationships/image"/><Relationship Id="rId9"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 Id="rId5"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2.png" Type="http://schemas.openxmlformats.org/officeDocument/2006/relationships/image"/><Relationship Id="rId2" Target="../notesSlides/notesSlide7.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24.png" Type="http://schemas.openxmlformats.org/officeDocument/2006/relationships/image"/><Relationship Id="rId13" Target="../media/image25.svg" Type="http://schemas.openxmlformats.org/officeDocument/2006/relationships/image"/><Relationship Id="rId14" Target="../media/image2.png" Type="http://schemas.openxmlformats.org/officeDocument/2006/relationships/image"/><Relationship Id="rId2" Target="../notesSlides/notesSlide8.xml" Type="http://schemas.openxmlformats.org/officeDocument/2006/relationships/notesSlide"/><Relationship Id="rId3" Target="../media/image1.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8.png" Type="http://schemas.openxmlformats.org/officeDocument/2006/relationships/image"/><Relationship Id="rId5"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9.png" Type="http://schemas.openxmlformats.org/officeDocument/2006/relationships/image"/><Relationship Id="rId5"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30.png" Type="http://schemas.openxmlformats.org/officeDocument/2006/relationships/image"/><Relationship Id="rId5"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 Id="rId4" Target="../media/image31.png" Type="http://schemas.openxmlformats.org/officeDocument/2006/relationships/image"/><Relationship Id="rId5" Target="../media/image32.jpeg" Type="http://schemas.openxmlformats.org/officeDocument/2006/relationships/image"/><Relationship Id="rId6" Target="../media/image33.jpeg" Type="http://schemas.openxmlformats.org/officeDocument/2006/relationships/image"/><Relationship Id="rId7" Target="../media/image34.jpeg" Type="http://schemas.openxmlformats.org/officeDocument/2006/relationships/image"/><Relationship Id="rId8"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31.png" Type="http://schemas.openxmlformats.org/officeDocument/2006/relationships/image"/><Relationship Id="rId5" Target="../media/image35.png" Type="http://schemas.openxmlformats.org/officeDocument/2006/relationships/image"/><Relationship Id="rId6" Target="../media/image36.jpeg" Type="http://schemas.openxmlformats.org/officeDocument/2006/relationships/image"/><Relationship Id="rId7" Target="../media/image37.jpeg" Type="http://schemas.openxmlformats.org/officeDocument/2006/relationships/image"/><Relationship Id="rId8"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TextBox 5" id="5"/>
          <p:cNvSpPr txBox="true"/>
          <p:nvPr/>
        </p:nvSpPr>
        <p:spPr>
          <a:xfrm rot="0">
            <a:off x="2386984" y="1784462"/>
            <a:ext cx="13514033" cy="3009900"/>
          </a:xfrm>
          <a:prstGeom prst="rect">
            <a:avLst/>
          </a:prstGeom>
        </p:spPr>
        <p:txBody>
          <a:bodyPr anchor="t" rtlCol="false" tIns="0" lIns="0" bIns="0" rIns="0">
            <a:spAutoFit/>
          </a:bodyPr>
          <a:lstStyle/>
          <a:p>
            <a:pPr algn="ctr">
              <a:lnSpc>
                <a:spcPts val="5940"/>
              </a:lnSpc>
            </a:pPr>
            <a:r>
              <a:rPr lang="en-US" b="true" sz="4950">
                <a:solidFill>
                  <a:srgbClr val="005088"/>
                </a:solidFill>
                <a:latin typeface="Merriweather Bold"/>
                <a:ea typeface="Merriweather Bold"/>
                <a:cs typeface="Merriweather Bold"/>
                <a:sym typeface="Merriweather Bold"/>
              </a:rPr>
              <a:t>RANCANG BANGUN SISTEM TATA TERTIB DAN POIN PELANGGARAN SISWA BERBASIS WEB PADA SMPK SANTA MARIA 2 MALANG</a:t>
            </a:r>
          </a:p>
        </p:txBody>
      </p:sp>
      <p:sp>
        <p:nvSpPr>
          <p:cNvPr name="TextBox 6" id="6"/>
          <p:cNvSpPr txBox="true"/>
          <p:nvPr/>
        </p:nvSpPr>
        <p:spPr>
          <a:xfrm rot="0">
            <a:off x="6352538" y="5070489"/>
            <a:ext cx="5582924" cy="685736"/>
          </a:xfrm>
          <a:prstGeom prst="rect">
            <a:avLst/>
          </a:prstGeom>
        </p:spPr>
        <p:txBody>
          <a:bodyPr anchor="t" rtlCol="false" tIns="0" lIns="0" bIns="0" rIns="0">
            <a:spAutoFit/>
          </a:bodyPr>
          <a:lstStyle/>
          <a:p>
            <a:pPr algn="ctr">
              <a:lnSpc>
                <a:spcPts val="5999"/>
              </a:lnSpc>
            </a:pPr>
            <a:r>
              <a:rPr lang="en-US" b="true" sz="3124">
                <a:solidFill>
                  <a:srgbClr val="334155"/>
                </a:solidFill>
                <a:latin typeface="DM Sans Bold"/>
                <a:ea typeface="DM Sans Bold"/>
                <a:cs typeface="DM Sans Bold"/>
                <a:sym typeface="DM Sans Bold"/>
              </a:rPr>
              <a:t>Marcell Chandra Kenchana</a:t>
            </a:r>
          </a:p>
        </p:txBody>
      </p:sp>
      <p:sp>
        <p:nvSpPr>
          <p:cNvPr name="TextBox 7" id="7"/>
          <p:cNvSpPr txBox="true"/>
          <p:nvPr/>
        </p:nvSpPr>
        <p:spPr>
          <a:xfrm rot="0">
            <a:off x="7443783" y="5647186"/>
            <a:ext cx="3400425" cy="584467"/>
          </a:xfrm>
          <a:prstGeom prst="rect">
            <a:avLst/>
          </a:prstGeom>
        </p:spPr>
        <p:txBody>
          <a:bodyPr anchor="t" rtlCol="false" tIns="0" lIns="0" bIns="0" rIns="0">
            <a:spAutoFit/>
          </a:bodyPr>
          <a:lstStyle/>
          <a:p>
            <a:pPr algn="ctr">
              <a:lnSpc>
                <a:spcPts val="5132"/>
              </a:lnSpc>
            </a:pPr>
            <a:r>
              <a:rPr lang="en-US" b="true" sz="2674">
                <a:solidFill>
                  <a:srgbClr val="334155"/>
                </a:solidFill>
                <a:latin typeface="DM Sans Bold"/>
                <a:ea typeface="DM Sans Bold"/>
                <a:cs typeface="DM Sans Bold"/>
                <a:sym typeface="DM Sans Bold"/>
              </a:rPr>
              <a:t>NIM: 322310015</a:t>
            </a:r>
          </a:p>
        </p:txBody>
      </p:sp>
      <p:sp>
        <p:nvSpPr>
          <p:cNvPr name="TextBox 8" id="8"/>
          <p:cNvSpPr txBox="true"/>
          <p:nvPr/>
        </p:nvSpPr>
        <p:spPr>
          <a:xfrm rot="0">
            <a:off x="3832848" y="7770214"/>
            <a:ext cx="7561481" cy="497192"/>
          </a:xfrm>
          <a:prstGeom prst="rect">
            <a:avLst/>
          </a:prstGeom>
        </p:spPr>
        <p:txBody>
          <a:bodyPr anchor="t" rtlCol="false" tIns="0" lIns="0" bIns="0" rIns="0">
            <a:spAutoFit/>
          </a:bodyPr>
          <a:lstStyle/>
          <a:p>
            <a:pPr algn="l">
              <a:lnSpc>
                <a:spcPts val="4365"/>
              </a:lnSpc>
            </a:pPr>
            <a:r>
              <a:rPr lang="en-US" sz="2274">
                <a:solidFill>
                  <a:srgbClr val="64748B"/>
                </a:solidFill>
                <a:latin typeface="DM Sans"/>
                <a:ea typeface="DM Sans"/>
                <a:cs typeface="DM Sans"/>
                <a:sym typeface="DM Sans"/>
              </a:rPr>
              <a:t>Dosen Pembimbing:</a:t>
            </a:r>
          </a:p>
        </p:txBody>
      </p:sp>
      <p:sp>
        <p:nvSpPr>
          <p:cNvPr name="TextBox 9" id="9"/>
          <p:cNvSpPr txBox="true"/>
          <p:nvPr/>
        </p:nvSpPr>
        <p:spPr>
          <a:xfrm rot="0">
            <a:off x="3832848" y="8061546"/>
            <a:ext cx="10622303" cy="588961"/>
          </a:xfrm>
          <a:prstGeom prst="rect">
            <a:avLst/>
          </a:prstGeom>
        </p:spPr>
        <p:txBody>
          <a:bodyPr anchor="t" rtlCol="false" tIns="0" lIns="0" bIns="0" rIns="0">
            <a:spAutoFit/>
          </a:bodyPr>
          <a:lstStyle/>
          <a:p>
            <a:pPr algn="l">
              <a:lnSpc>
                <a:spcPts val="5231"/>
              </a:lnSpc>
            </a:pPr>
            <a:r>
              <a:rPr lang="en-US" b="true" sz="2724">
                <a:solidFill>
                  <a:srgbClr val="334155"/>
                </a:solidFill>
                <a:latin typeface="DM Sans Bold"/>
                <a:ea typeface="DM Sans Bold"/>
                <a:cs typeface="DM Sans Bold"/>
                <a:sym typeface="DM Sans Bold"/>
              </a:rPr>
              <a:t>Dr.Soetam Rizky Wicaksono, S.Kom., MM., MCP., MCTS., MOSM.</a:t>
            </a:r>
          </a:p>
        </p:txBody>
      </p:sp>
      <p:sp>
        <p:nvSpPr>
          <p:cNvPr name="TextBox 10" id="10"/>
          <p:cNvSpPr txBox="true"/>
          <p:nvPr/>
        </p:nvSpPr>
        <p:spPr>
          <a:xfrm rot="0">
            <a:off x="3832848" y="8736233"/>
            <a:ext cx="7561481" cy="497192"/>
          </a:xfrm>
          <a:prstGeom prst="rect">
            <a:avLst/>
          </a:prstGeom>
        </p:spPr>
        <p:txBody>
          <a:bodyPr anchor="t" rtlCol="false" tIns="0" lIns="0" bIns="0" rIns="0">
            <a:spAutoFit/>
          </a:bodyPr>
          <a:lstStyle/>
          <a:p>
            <a:pPr algn="l">
              <a:lnSpc>
                <a:spcPts val="4365"/>
              </a:lnSpc>
            </a:pPr>
            <a:r>
              <a:rPr lang="en-US" sz="2274">
                <a:solidFill>
                  <a:srgbClr val="64748B"/>
                </a:solidFill>
                <a:latin typeface="DM Sans"/>
                <a:ea typeface="DM Sans"/>
                <a:cs typeface="DM Sans"/>
                <a:sym typeface="DM Sans"/>
              </a:rPr>
              <a:t>Dosen Penguji:</a:t>
            </a:r>
          </a:p>
        </p:txBody>
      </p:sp>
      <p:sp>
        <p:nvSpPr>
          <p:cNvPr name="TextBox 11" id="11"/>
          <p:cNvSpPr txBox="true"/>
          <p:nvPr/>
        </p:nvSpPr>
        <p:spPr>
          <a:xfrm rot="0">
            <a:off x="3832848" y="9027564"/>
            <a:ext cx="7561481" cy="588961"/>
          </a:xfrm>
          <a:prstGeom prst="rect">
            <a:avLst/>
          </a:prstGeom>
        </p:spPr>
        <p:txBody>
          <a:bodyPr anchor="t" rtlCol="false" tIns="0" lIns="0" bIns="0" rIns="0">
            <a:spAutoFit/>
          </a:bodyPr>
          <a:lstStyle/>
          <a:p>
            <a:pPr algn="l">
              <a:lnSpc>
                <a:spcPts val="5231"/>
              </a:lnSpc>
            </a:pPr>
            <a:r>
              <a:rPr lang="en-US" b="true" sz="2724">
                <a:solidFill>
                  <a:srgbClr val="334155"/>
                </a:solidFill>
                <a:latin typeface="DM Sans Bold"/>
                <a:ea typeface="DM Sans Bold"/>
                <a:cs typeface="DM Sans Bold"/>
                <a:sym typeface="DM Sans Bold"/>
              </a:rPr>
              <a:t>Meme</a:t>
            </a:r>
            <a:r>
              <a:rPr lang="en-US" b="true" sz="2724">
                <a:solidFill>
                  <a:srgbClr val="334155"/>
                </a:solidFill>
                <a:latin typeface="DM Sans Bold"/>
                <a:ea typeface="DM Sans Bold"/>
                <a:cs typeface="DM Sans Bold"/>
                <a:sym typeface="DM Sans Bold"/>
              </a:rPr>
              <a:t> Susilowati, S.Kom, MMSI</a:t>
            </a:r>
          </a:p>
        </p:txBody>
      </p:sp>
      <p:sp>
        <p:nvSpPr>
          <p:cNvPr name="TextBox 12" id="12"/>
          <p:cNvSpPr txBox="true"/>
          <p:nvPr/>
        </p:nvSpPr>
        <p:spPr>
          <a:xfrm rot="0">
            <a:off x="4203303" y="6454943"/>
            <a:ext cx="9881384" cy="1064432"/>
          </a:xfrm>
          <a:prstGeom prst="rect">
            <a:avLst/>
          </a:prstGeom>
        </p:spPr>
        <p:txBody>
          <a:bodyPr anchor="t" rtlCol="false" tIns="0" lIns="0" bIns="0" rIns="0">
            <a:spAutoFit/>
          </a:bodyPr>
          <a:lstStyle/>
          <a:p>
            <a:pPr algn="ctr">
              <a:lnSpc>
                <a:spcPts val="3718"/>
              </a:lnSpc>
            </a:pPr>
            <a:r>
              <a:rPr lang="en-US" sz="2974" b="true">
                <a:solidFill>
                  <a:srgbClr val="334155"/>
                </a:solidFill>
                <a:latin typeface="DM Sans Bold"/>
                <a:ea typeface="DM Sans Bold"/>
                <a:cs typeface="DM Sans Bold"/>
                <a:sym typeface="DM Sans Bold"/>
              </a:rPr>
              <a:t>Program Studi Sistem Informasi</a:t>
            </a:r>
          </a:p>
          <a:p>
            <a:pPr algn="ctr">
              <a:lnSpc>
                <a:spcPts val="5708"/>
              </a:lnSpc>
            </a:pPr>
            <a:r>
              <a:rPr lang="en-US" b="true" sz="2974">
                <a:solidFill>
                  <a:srgbClr val="334155"/>
                </a:solidFill>
                <a:latin typeface="DM Sans Bold"/>
                <a:ea typeface="DM Sans Bold"/>
                <a:cs typeface="DM Sans Bold"/>
                <a:sym typeface="DM Sans Bold"/>
              </a:rPr>
              <a:t>Universitas Ma Chung</a:t>
            </a:r>
          </a:p>
        </p:txBody>
      </p:sp>
      <p:sp>
        <p:nvSpPr>
          <p:cNvPr name="AutoShape 13" id="13"/>
          <p:cNvSpPr/>
          <p:nvPr/>
        </p:nvSpPr>
        <p:spPr>
          <a:xfrm>
            <a:off x="2284309" y="4867275"/>
            <a:ext cx="13719383" cy="0"/>
          </a:xfrm>
          <a:prstGeom prst="line">
            <a:avLst/>
          </a:prstGeom>
          <a:ln cap="flat" w="38100">
            <a:solidFill>
              <a:srgbClr val="64748B"/>
            </a:solidFill>
            <a:prstDash val="solid"/>
            <a:headEnd type="none" len="sm" w="sm"/>
            <a:tailEnd type="none" len="sm" w="sm"/>
          </a:ln>
        </p:spPr>
      </p:sp>
      <p:sp>
        <p:nvSpPr>
          <p:cNvPr name="Freeform 14" id="14"/>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3614738"/>
            <a:ext cx="16002000" cy="28575"/>
            <a:chOff x="0" y="0"/>
            <a:chExt cx="21336000" cy="38100"/>
          </a:xfrm>
        </p:grpSpPr>
        <p:sp>
          <p:nvSpPr>
            <p:cNvPr name="Freeform 5" id="5"/>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sp>
        <p:nvSpPr>
          <p:cNvPr name="TextBox 6" id="6"/>
          <p:cNvSpPr txBox="true"/>
          <p:nvPr/>
        </p:nvSpPr>
        <p:spPr>
          <a:xfrm rot="0">
            <a:off x="1143000" y="2657475"/>
            <a:ext cx="7893844"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Daftar Isi</a:t>
            </a:r>
          </a:p>
        </p:txBody>
      </p:sp>
      <p:sp>
        <p:nvSpPr>
          <p:cNvPr name="TextBox 7" id="7"/>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grpSp>
        <p:nvGrpSpPr>
          <p:cNvPr name="Group 8" id="8"/>
          <p:cNvGrpSpPr/>
          <p:nvPr/>
        </p:nvGrpSpPr>
        <p:grpSpPr>
          <a:xfrm rot="0">
            <a:off x="1143000" y="4071938"/>
            <a:ext cx="7893844" cy="728662"/>
            <a:chOff x="0" y="0"/>
            <a:chExt cx="10525125" cy="971550"/>
          </a:xfrm>
        </p:grpSpPr>
        <p:grpSp>
          <p:nvGrpSpPr>
            <p:cNvPr name="Group 9" id="9"/>
            <p:cNvGrpSpPr/>
            <p:nvPr/>
          </p:nvGrpSpPr>
          <p:grpSpPr>
            <a:xfrm rot="0">
              <a:off x="0" y="0"/>
              <a:ext cx="10525125" cy="971550"/>
              <a:chOff x="0" y="0"/>
              <a:chExt cx="2078990" cy="191643"/>
            </a:xfrm>
          </p:grpSpPr>
          <p:sp>
            <p:nvSpPr>
              <p:cNvPr name="Freeform 10" id="10"/>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11" id="11"/>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12" id="12"/>
            <p:cNvGrpSpPr/>
            <p:nvPr/>
          </p:nvGrpSpPr>
          <p:grpSpPr>
            <a:xfrm rot="0">
              <a:off x="76373" y="0"/>
              <a:ext cx="10448752" cy="971550"/>
              <a:chOff x="0" y="0"/>
              <a:chExt cx="2063904" cy="191643"/>
            </a:xfrm>
          </p:grpSpPr>
          <p:sp>
            <p:nvSpPr>
              <p:cNvPr name="Freeform 13" id="13"/>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14" id="14"/>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15" id="15"/>
            <p:cNvSpPr txBox="true"/>
            <p:nvPr/>
          </p:nvSpPr>
          <p:spPr>
            <a:xfrm rot="0">
              <a:off x="506292" y="210418"/>
              <a:ext cx="592244"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01</a:t>
              </a:r>
              <a:r>
                <a:rPr lang="en-US" sz="2399" b="true">
                  <a:solidFill>
                    <a:srgbClr val="000000"/>
                  </a:solidFill>
                  <a:latin typeface="DM Sans Bold"/>
                  <a:ea typeface="DM Sans Bold"/>
                  <a:cs typeface="DM Sans Bold"/>
                  <a:sym typeface="DM Sans Bold"/>
                </a:rPr>
                <a:t>  </a:t>
              </a:r>
            </a:p>
          </p:txBody>
        </p:sp>
      </p:grpSp>
      <p:grpSp>
        <p:nvGrpSpPr>
          <p:cNvPr name="Group 16" id="16"/>
          <p:cNvGrpSpPr/>
          <p:nvPr/>
        </p:nvGrpSpPr>
        <p:grpSpPr>
          <a:xfrm rot="0">
            <a:off x="1143000" y="5014912"/>
            <a:ext cx="7893844" cy="728662"/>
            <a:chOff x="0" y="0"/>
            <a:chExt cx="10525125" cy="971550"/>
          </a:xfrm>
        </p:grpSpPr>
        <p:grpSp>
          <p:nvGrpSpPr>
            <p:cNvPr name="Group 17" id="17"/>
            <p:cNvGrpSpPr/>
            <p:nvPr/>
          </p:nvGrpSpPr>
          <p:grpSpPr>
            <a:xfrm rot="0">
              <a:off x="0" y="0"/>
              <a:ext cx="10525125" cy="971550"/>
              <a:chOff x="0" y="0"/>
              <a:chExt cx="2078990" cy="191643"/>
            </a:xfrm>
          </p:grpSpPr>
          <p:sp>
            <p:nvSpPr>
              <p:cNvPr name="Freeform 18" id="18"/>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19" id="19"/>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20" id="20"/>
            <p:cNvGrpSpPr/>
            <p:nvPr/>
          </p:nvGrpSpPr>
          <p:grpSpPr>
            <a:xfrm rot="0">
              <a:off x="76373" y="0"/>
              <a:ext cx="10448752" cy="971550"/>
              <a:chOff x="0" y="0"/>
              <a:chExt cx="2063904" cy="191643"/>
            </a:xfrm>
          </p:grpSpPr>
          <p:sp>
            <p:nvSpPr>
              <p:cNvPr name="Freeform 21" id="21"/>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22" id="22"/>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23" id="23"/>
            <p:cNvSpPr txBox="true"/>
            <p:nvPr/>
          </p:nvSpPr>
          <p:spPr>
            <a:xfrm rot="0">
              <a:off x="506292" y="210418"/>
              <a:ext cx="588831"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02</a:t>
              </a:r>
            </a:p>
          </p:txBody>
        </p:sp>
      </p:grpSp>
      <p:grpSp>
        <p:nvGrpSpPr>
          <p:cNvPr name="Group 24" id="24"/>
          <p:cNvGrpSpPr/>
          <p:nvPr/>
        </p:nvGrpSpPr>
        <p:grpSpPr>
          <a:xfrm rot="0">
            <a:off x="1143000" y="5962650"/>
            <a:ext cx="7893844" cy="728662"/>
            <a:chOff x="0" y="0"/>
            <a:chExt cx="10525125" cy="971550"/>
          </a:xfrm>
        </p:grpSpPr>
        <p:grpSp>
          <p:nvGrpSpPr>
            <p:cNvPr name="Group 25" id="25"/>
            <p:cNvGrpSpPr/>
            <p:nvPr/>
          </p:nvGrpSpPr>
          <p:grpSpPr>
            <a:xfrm rot="0">
              <a:off x="0" y="0"/>
              <a:ext cx="10525125" cy="971550"/>
              <a:chOff x="0" y="0"/>
              <a:chExt cx="2078990" cy="191643"/>
            </a:xfrm>
          </p:grpSpPr>
          <p:sp>
            <p:nvSpPr>
              <p:cNvPr name="Freeform 26" id="26"/>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27" id="27"/>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28" id="28"/>
            <p:cNvGrpSpPr/>
            <p:nvPr/>
          </p:nvGrpSpPr>
          <p:grpSpPr>
            <a:xfrm rot="0">
              <a:off x="76373" y="0"/>
              <a:ext cx="10448752" cy="971550"/>
              <a:chOff x="0" y="0"/>
              <a:chExt cx="2063904" cy="191643"/>
            </a:xfrm>
          </p:grpSpPr>
          <p:sp>
            <p:nvSpPr>
              <p:cNvPr name="Freeform 29" id="29"/>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30" id="30"/>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31" id="31"/>
            <p:cNvSpPr txBox="true"/>
            <p:nvPr/>
          </p:nvSpPr>
          <p:spPr>
            <a:xfrm rot="0">
              <a:off x="506292" y="210418"/>
              <a:ext cx="637007"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03</a:t>
              </a:r>
            </a:p>
          </p:txBody>
        </p:sp>
      </p:grpSp>
      <p:grpSp>
        <p:nvGrpSpPr>
          <p:cNvPr name="Group 32" id="32"/>
          <p:cNvGrpSpPr/>
          <p:nvPr/>
        </p:nvGrpSpPr>
        <p:grpSpPr>
          <a:xfrm rot="0">
            <a:off x="1143000" y="6905625"/>
            <a:ext cx="7893844" cy="728662"/>
            <a:chOff x="0" y="0"/>
            <a:chExt cx="10525125" cy="971550"/>
          </a:xfrm>
        </p:grpSpPr>
        <p:grpSp>
          <p:nvGrpSpPr>
            <p:cNvPr name="Group 33" id="33"/>
            <p:cNvGrpSpPr/>
            <p:nvPr/>
          </p:nvGrpSpPr>
          <p:grpSpPr>
            <a:xfrm rot="0">
              <a:off x="0" y="0"/>
              <a:ext cx="10525125" cy="971550"/>
              <a:chOff x="0" y="0"/>
              <a:chExt cx="2078990" cy="191643"/>
            </a:xfrm>
          </p:grpSpPr>
          <p:sp>
            <p:nvSpPr>
              <p:cNvPr name="Freeform 34" id="34"/>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35" id="35"/>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36" id="36"/>
            <p:cNvGrpSpPr/>
            <p:nvPr/>
          </p:nvGrpSpPr>
          <p:grpSpPr>
            <a:xfrm rot="0">
              <a:off x="76373" y="0"/>
              <a:ext cx="10448752" cy="971550"/>
              <a:chOff x="0" y="0"/>
              <a:chExt cx="2063904" cy="191643"/>
            </a:xfrm>
          </p:grpSpPr>
          <p:sp>
            <p:nvSpPr>
              <p:cNvPr name="Freeform 37" id="37"/>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38" id="38"/>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39" id="39"/>
            <p:cNvSpPr txBox="true"/>
            <p:nvPr/>
          </p:nvSpPr>
          <p:spPr>
            <a:xfrm rot="0">
              <a:off x="506292" y="210418"/>
              <a:ext cx="592244"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04</a:t>
              </a:r>
            </a:p>
          </p:txBody>
        </p:sp>
      </p:grpSp>
      <p:grpSp>
        <p:nvGrpSpPr>
          <p:cNvPr name="Group 40" id="40"/>
          <p:cNvGrpSpPr/>
          <p:nvPr/>
        </p:nvGrpSpPr>
        <p:grpSpPr>
          <a:xfrm rot="0">
            <a:off x="9251156" y="5014912"/>
            <a:ext cx="7893844" cy="728662"/>
            <a:chOff x="0" y="0"/>
            <a:chExt cx="10525125" cy="971550"/>
          </a:xfrm>
        </p:grpSpPr>
        <p:grpSp>
          <p:nvGrpSpPr>
            <p:cNvPr name="Group 41" id="41"/>
            <p:cNvGrpSpPr/>
            <p:nvPr/>
          </p:nvGrpSpPr>
          <p:grpSpPr>
            <a:xfrm rot="0">
              <a:off x="0" y="0"/>
              <a:ext cx="10525125" cy="971550"/>
              <a:chOff x="0" y="0"/>
              <a:chExt cx="2078990" cy="191643"/>
            </a:xfrm>
          </p:grpSpPr>
          <p:sp>
            <p:nvSpPr>
              <p:cNvPr name="Freeform 42" id="42"/>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43" id="43"/>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44" id="44"/>
            <p:cNvGrpSpPr/>
            <p:nvPr/>
          </p:nvGrpSpPr>
          <p:grpSpPr>
            <a:xfrm rot="0">
              <a:off x="76373" y="0"/>
              <a:ext cx="10448752" cy="971550"/>
              <a:chOff x="0" y="0"/>
              <a:chExt cx="2063904" cy="191643"/>
            </a:xfrm>
          </p:grpSpPr>
          <p:sp>
            <p:nvSpPr>
              <p:cNvPr name="Freeform 45" id="45"/>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46" id="46"/>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47" id="47"/>
            <p:cNvSpPr txBox="true"/>
            <p:nvPr/>
          </p:nvSpPr>
          <p:spPr>
            <a:xfrm rot="0">
              <a:off x="506292" y="210418"/>
              <a:ext cx="624992" cy="525146"/>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07</a:t>
              </a:r>
            </a:p>
          </p:txBody>
        </p:sp>
      </p:grpSp>
      <p:grpSp>
        <p:nvGrpSpPr>
          <p:cNvPr name="Group 48" id="48"/>
          <p:cNvGrpSpPr/>
          <p:nvPr/>
        </p:nvGrpSpPr>
        <p:grpSpPr>
          <a:xfrm rot="0">
            <a:off x="9251156" y="5957888"/>
            <a:ext cx="7893844" cy="728662"/>
            <a:chOff x="0" y="0"/>
            <a:chExt cx="10525125" cy="971550"/>
          </a:xfrm>
        </p:grpSpPr>
        <p:grpSp>
          <p:nvGrpSpPr>
            <p:cNvPr name="Group 49" id="49"/>
            <p:cNvGrpSpPr/>
            <p:nvPr/>
          </p:nvGrpSpPr>
          <p:grpSpPr>
            <a:xfrm rot="0">
              <a:off x="0" y="0"/>
              <a:ext cx="10525125" cy="971550"/>
              <a:chOff x="0" y="0"/>
              <a:chExt cx="2078990" cy="191643"/>
            </a:xfrm>
          </p:grpSpPr>
          <p:sp>
            <p:nvSpPr>
              <p:cNvPr name="Freeform 50" id="50"/>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51" id="51"/>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52" id="52"/>
            <p:cNvGrpSpPr/>
            <p:nvPr/>
          </p:nvGrpSpPr>
          <p:grpSpPr>
            <a:xfrm rot="0">
              <a:off x="76373" y="0"/>
              <a:ext cx="10448752" cy="971550"/>
              <a:chOff x="0" y="0"/>
              <a:chExt cx="2063904" cy="191643"/>
            </a:xfrm>
          </p:grpSpPr>
          <p:sp>
            <p:nvSpPr>
              <p:cNvPr name="Freeform 53" id="53"/>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54" id="54"/>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55" id="55"/>
            <p:cNvSpPr txBox="true"/>
            <p:nvPr/>
          </p:nvSpPr>
          <p:spPr>
            <a:xfrm rot="0">
              <a:off x="506292" y="210418"/>
              <a:ext cx="801136"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08</a:t>
              </a:r>
            </a:p>
          </p:txBody>
        </p:sp>
      </p:grpSp>
      <p:sp>
        <p:nvSpPr>
          <p:cNvPr name="TextBox 56" id="56"/>
          <p:cNvSpPr txBox="true"/>
          <p:nvPr/>
        </p:nvSpPr>
        <p:spPr>
          <a:xfrm rot="0">
            <a:off x="2268224" y="4209607"/>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Latar Belakang Masalah</a:t>
            </a:r>
          </a:p>
        </p:txBody>
      </p:sp>
      <p:sp>
        <p:nvSpPr>
          <p:cNvPr name="TextBox 57" id="57"/>
          <p:cNvSpPr txBox="true"/>
          <p:nvPr/>
        </p:nvSpPr>
        <p:spPr>
          <a:xfrm rot="0">
            <a:off x="2268224" y="5152582"/>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Tujuan &amp; Manfaat</a:t>
            </a:r>
          </a:p>
        </p:txBody>
      </p:sp>
      <p:sp>
        <p:nvSpPr>
          <p:cNvPr name="TextBox 58" id="58"/>
          <p:cNvSpPr txBox="true"/>
          <p:nvPr/>
        </p:nvSpPr>
        <p:spPr>
          <a:xfrm rot="0">
            <a:off x="2268224" y="6100319"/>
            <a:ext cx="6207377" cy="405699"/>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Profil Mitra</a:t>
            </a:r>
          </a:p>
        </p:txBody>
      </p:sp>
      <p:sp>
        <p:nvSpPr>
          <p:cNvPr name="TextBox 59" id="59"/>
          <p:cNvSpPr txBox="true"/>
          <p:nvPr/>
        </p:nvSpPr>
        <p:spPr>
          <a:xfrm rot="0">
            <a:off x="2268224" y="7043294"/>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Landasan Teori &amp; Teknologi</a:t>
            </a:r>
          </a:p>
        </p:txBody>
      </p:sp>
      <p:grpSp>
        <p:nvGrpSpPr>
          <p:cNvPr name="Group 60" id="60"/>
          <p:cNvGrpSpPr/>
          <p:nvPr/>
        </p:nvGrpSpPr>
        <p:grpSpPr>
          <a:xfrm rot="0">
            <a:off x="1143000" y="7853362"/>
            <a:ext cx="7893844" cy="728662"/>
            <a:chOff x="0" y="0"/>
            <a:chExt cx="10525125" cy="971550"/>
          </a:xfrm>
        </p:grpSpPr>
        <p:grpSp>
          <p:nvGrpSpPr>
            <p:cNvPr name="Group 61" id="61"/>
            <p:cNvGrpSpPr/>
            <p:nvPr/>
          </p:nvGrpSpPr>
          <p:grpSpPr>
            <a:xfrm rot="0">
              <a:off x="0" y="0"/>
              <a:ext cx="10525125" cy="971550"/>
              <a:chOff x="0" y="0"/>
              <a:chExt cx="2078990" cy="191643"/>
            </a:xfrm>
          </p:grpSpPr>
          <p:sp>
            <p:nvSpPr>
              <p:cNvPr name="Freeform 62" id="62"/>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63" id="63"/>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64" id="64"/>
            <p:cNvGrpSpPr/>
            <p:nvPr/>
          </p:nvGrpSpPr>
          <p:grpSpPr>
            <a:xfrm rot="0">
              <a:off x="76373" y="0"/>
              <a:ext cx="10448752" cy="971550"/>
              <a:chOff x="0" y="0"/>
              <a:chExt cx="2063904" cy="191643"/>
            </a:xfrm>
          </p:grpSpPr>
          <p:sp>
            <p:nvSpPr>
              <p:cNvPr name="Freeform 65" id="65"/>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66" id="66"/>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67" id="67"/>
            <p:cNvSpPr txBox="true"/>
            <p:nvPr/>
          </p:nvSpPr>
          <p:spPr>
            <a:xfrm rot="0">
              <a:off x="506292" y="210418"/>
              <a:ext cx="592244"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05</a:t>
              </a:r>
            </a:p>
          </p:txBody>
        </p:sp>
      </p:grpSp>
      <p:sp>
        <p:nvSpPr>
          <p:cNvPr name="TextBox 68" id="68"/>
          <p:cNvSpPr txBox="true"/>
          <p:nvPr/>
        </p:nvSpPr>
        <p:spPr>
          <a:xfrm rot="0">
            <a:off x="2268224" y="7991032"/>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Metodologi Pengembangan</a:t>
            </a:r>
          </a:p>
        </p:txBody>
      </p:sp>
      <p:grpSp>
        <p:nvGrpSpPr>
          <p:cNvPr name="Group 69" id="69"/>
          <p:cNvGrpSpPr/>
          <p:nvPr/>
        </p:nvGrpSpPr>
        <p:grpSpPr>
          <a:xfrm rot="0">
            <a:off x="9251156" y="4067175"/>
            <a:ext cx="7893844" cy="728662"/>
            <a:chOff x="0" y="0"/>
            <a:chExt cx="10525125" cy="971550"/>
          </a:xfrm>
        </p:grpSpPr>
        <p:grpSp>
          <p:nvGrpSpPr>
            <p:cNvPr name="Group 70" id="70"/>
            <p:cNvGrpSpPr/>
            <p:nvPr/>
          </p:nvGrpSpPr>
          <p:grpSpPr>
            <a:xfrm rot="0">
              <a:off x="0" y="0"/>
              <a:ext cx="10525125" cy="971550"/>
              <a:chOff x="0" y="0"/>
              <a:chExt cx="2078990" cy="191643"/>
            </a:xfrm>
          </p:grpSpPr>
          <p:sp>
            <p:nvSpPr>
              <p:cNvPr name="Freeform 71" id="71"/>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72" id="72"/>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73" id="73"/>
            <p:cNvGrpSpPr/>
            <p:nvPr/>
          </p:nvGrpSpPr>
          <p:grpSpPr>
            <a:xfrm rot="0">
              <a:off x="76373" y="0"/>
              <a:ext cx="10448752" cy="971550"/>
              <a:chOff x="0" y="0"/>
              <a:chExt cx="2063904" cy="191643"/>
            </a:xfrm>
          </p:grpSpPr>
          <p:sp>
            <p:nvSpPr>
              <p:cNvPr name="Freeform 74" id="74"/>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75" id="75"/>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76" id="76"/>
            <p:cNvSpPr txBox="true"/>
            <p:nvPr/>
          </p:nvSpPr>
          <p:spPr>
            <a:xfrm rot="0">
              <a:off x="506292" y="210418"/>
              <a:ext cx="637007"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06</a:t>
              </a:r>
              <a:r>
                <a:rPr lang="en-US" sz="2399" b="true">
                  <a:solidFill>
                    <a:srgbClr val="000000"/>
                  </a:solidFill>
                  <a:latin typeface="DM Sans Bold"/>
                  <a:ea typeface="DM Sans Bold"/>
                  <a:cs typeface="DM Sans Bold"/>
                  <a:sym typeface="DM Sans Bold"/>
                </a:rPr>
                <a:t>  </a:t>
              </a:r>
            </a:p>
          </p:txBody>
        </p:sp>
      </p:grpSp>
      <p:sp>
        <p:nvSpPr>
          <p:cNvPr name="TextBox 77" id="77"/>
          <p:cNvSpPr txBox="true"/>
          <p:nvPr/>
        </p:nvSpPr>
        <p:spPr>
          <a:xfrm rot="0">
            <a:off x="10376380" y="4204844"/>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Use Case Diagram</a:t>
            </a:r>
          </a:p>
        </p:txBody>
      </p:sp>
      <p:sp>
        <p:nvSpPr>
          <p:cNvPr name="TextBox 78" id="78"/>
          <p:cNvSpPr txBox="true"/>
          <p:nvPr/>
        </p:nvSpPr>
        <p:spPr>
          <a:xfrm rot="0">
            <a:off x="10376380" y="5152582"/>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Workflow</a:t>
            </a:r>
          </a:p>
        </p:txBody>
      </p:sp>
      <p:sp>
        <p:nvSpPr>
          <p:cNvPr name="TextBox 79" id="79"/>
          <p:cNvSpPr txBox="true"/>
          <p:nvPr/>
        </p:nvSpPr>
        <p:spPr>
          <a:xfrm rot="0">
            <a:off x="10376380" y="6100319"/>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Hasil Evaluasi</a:t>
            </a:r>
          </a:p>
        </p:txBody>
      </p:sp>
      <p:grpSp>
        <p:nvGrpSpPr>
          <p:cNvPr name="Group 80" id="80"/>
          <p:cNvGrpSpPr/>
          <p:nvPr/>
        </p:nvGrpSpPr>
        <p:grpSpPr>
          <a:xfrm rot="0">
            <a:off x="9251156" y="6905625"/>
            <a:ext cx="7893844" cy="728662"/>
            <a:chOff x="0" y="0"/>
            <a:chExt cx="10525125" cy="971550"/>
          </a:xfrm>
        </p:grpSpPr>
        <p:grpSp>
          <p:nvGrpSpPr>
            <p:cNvPr name="Group 81" id="81"/>
            <p:cNvGrpSpPr/>
            <p:nvPr/>
          </p:nvGrpSpPr>
          <p:grpSpPr>
            <a:xfrm rot="0">
              <a:off x="0" y="0"/>
              <a:ext cx="10525125" cy="971550"/>
              <a:chOff x="0" y="0"/>
              <a:chExt cx="2078990" cy="191643"/>
            </a:xfrm>
          </p:grpSpPr>
          <p:sp>
            <p:nvSpPr>
              <p:cNvPr name="Freeform 82" id="82"/>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83" id="83"/>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84" id="84"/>
            <p:cNvGrpSpPr/>
            <p:nvPr/>
          </p:nvGrpSpPr>
          <p:grpSpPr>
            <a:xfrm rot="0">
              <a:off x="76373" y="0"/>
              <a:ext cx="10448752" cy="971550"/>
              <a:chOff x="0" y="0"/>
              <a:chExt cx="2063904" cy="191643"/>
            </a:xfrm>
          </p:grpSpPr>
          <p:sp>
            <p:nvSpPr>
              <p:cNvPr name="Freeform 85" id="85"/>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86" id="86"/>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87" id="87"/>
            <p:cNvSpPr txBox="true"/>
            <p:nvPr/>
          </p:nvSpPr>
          <p:spPr>
            <a:xfrm rot="0">
              <a:off x="506292" y="210418"/>
              <a:ext cx="801136"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09</a:t>
              </a:r>
            </a:p>
          </p:txBody>
        </p:sp>
      </p:grpSp>
      <p:sp>
        <p:nvSpPr>
          <p:cNvPr name="TextBox 88" id="88"/>
          <p:cNvSpPr txBox="true"/>
          <p:nvPr/>
        </p:nvSpPr>
        <p:spPr>
          <a:xfrm rot="0">
            <a:off x="10376380" y="7048057"/>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Kesimpulan</a:t>
            </a:r>
          </a:p>
        </p:txBody>
      </p:sp>
      <p:grpSp>
        <p:nvGrpSpPr>
          <p:cNvPr name="Group 89" id="89"/>
          <p:cNvGrpSpPr/>
          <p:nvPr/>
        </p:nvGrpSpPr>
        <p:grpSpPr>
          <a:xfrm rot="0">
            <a:off x="9251156" y="7853362"/>
            <a:ext cx="7893844" cy="728662"/>
            <a:chOff x="0" y="0"/>
            <a:chExt cx="10525125" cy="971550"/>
          </a:xfrm>
        </p:grpSpPr>
        <p:grpSp>
          <p:nvGrpSpPr>
            <p:cNvPr name="Group 90" id="90"/>
            <p:cNvGrpSpPr/>
            <p:nvPr/>
          </p:nvGrpSpPr>
          <p:grpSpPr>
            <a:xfrm rot="0">
              <a:off x="0" y="0"/>
              <a:ext cx="10525125" cy="971550"/>
              <a:chOff x="0" y="0"/>
              <a:chExt cx="2078990" cy="191643"/>
            </a:xfrm>
          </p:grpSpPr>
          <p:sp>
            <p:nvSpPr>
              <p:cNvPr name="Freeform 91" id="91"/>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92" id="92"/>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93" id="93"/>
            <p:cNvGrpSpPr/>
            <p:nvPr/>
          </p:nvGrpSpPr>
          <p:grpSpPr>
            <a:xfrm rot="0">
              <a:off x="76373" y="0"/>
              <a:ext cx="10448752" cy="971550"/>
              <a:chOff x="0" y="0"/>
              <a:chExt cx="2063904" cy="191643"/>
            </a:xfrm>
          </p:grpSpPr>
          <p:sp>
            <p:nvSpPr>
              <p:cNvPr name="Freeform 94" id="94"/>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95" id="95"/>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96" id="96"/>
            <p:cNvSpPr txBox="true"/>
            <p:nvPr/>
          </p:nvSpPr>
          <p:spPr>
            <a:xfrm rot="0">
              <a:off x="599546" y="210418"/>
              <a:ext cx="495261"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10</a:t>
              </a:r>
            </a:p>
          </p:txBody>
        </p:sp>
      </p:grpSp>
      <p:sp>
        <p:nvSpPr>
          <p:cNvPr name="TextBox 97" id="97"/>
          <p:cNvSpPr txBox="true"/>
          <p:nvPr/>
        </p:nvSpPr>
        <p:spPr>
          <a:xfrm rot="0">
            <a:off x="10376380" y="7995794"/>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Dokumentasi</a:t>
            </a:r>
          </a:p>
        </p:txBody>
      </p:sp>
      <p:sp>
        <p:nvSpPr>
          <p:cNvPr name="Freeform 98" id="98"/>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3614738"/>
            <a:ext cx="16002000" cy="28575"/>
            <a:chOff x="0" y="0"/>
            <a:chExt cx="21336000" cy="38100"/>
          </a:xfrm>
        </p:grpSpPr>
        <p:sp>
          <p:nvSpPr>
            <p:cNvPr name="Freeform 5" id="5"/>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sp>
        <p:nvSpPr>
          <p:cNvPr name="TextBox 6" id="6"/>
          <p:cNvSpPr txBox="true"/>
          <p:nvPr/>
        </p:nvSpPr>
        <p:spPr>
          <a:xfrm rot="0">
            <a:off x="1143000" y="2657475"/>
            <a:ext cx="7893844"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Daftar Isi</a:t>
            </a:r>
          </a:p>
        </p:txBody>
      </p:sp>
      <p:sp>
        <p:nvSpPr>
          <p:cNvPr name="TextBox 7" id="7"/>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grpSp>
        <p:nvGrpSpPr>
          <p:cNvPr name="Group 8" id="8"/>
          <p:cNvGrpSpPr/>
          <p:nvPr/>
        </p:nvGrpSpPr>
        <p:grpSpPr>
          <a:xfrm rot="0">
            <a:off x="1143000" y="4071938"/>
            <a:ext cx="7893844" cy="728662"/>
            <a:chOff x="0" y="0"/>
            <a:chExt cx="10525125" cy="971550"/>
          </a:xfrm>
        </p:grpSpPr>
        <p:grpSp>
          <p:nvGrpSpPr>
            <p:cNvPr name="Group 9" id="9"/>
            <p:cNvGrpSpPr/>
            <p:nvPr/>
          </p:nvGrpSpPr>
          <p:grpSpPr>
            <a:xfrm rot="0">
              <a:off x="0" y="0"/>
              <a:ext cx="10525125" cy="971550"/>
              <a:chOff x="0" y="0"/>
              <a:chExt cx="2078990" cy="191643"/>
            </a:xfrm>
          </p:grpSpPr>
          <p:sp>
            <p:nvSpPr>
              <p:cNvPr name="Freeform 10" id="10"/>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11" id="11"/>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12" id="12"/>
            <p:cNvGrpSpPr/>
            <p:nvPr/>
          </p:nvGrpSpPr>
          <p:grpSpPr>
            <a:xfrm rot="0">
              <a:off x="76373" y="0"/>
              <a:ext cx="10448752" cy="971550"/>
              <a:chOff x="0" y="0"/>
              <a:chExt cx="2063904" cy="191643"/>
            </a:xfrm>
          </p:grpSpPr>
          <p:sp>
            <p:nvSpPr>
              <p:cNvPr name="Freeform 13" id="13"/>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14" id="14"/>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15" id="15"/>
            <p:cNvSpPr txBox="true"/>
            <p:nvPr/>
          </p:nvSpPr>
          <p:spPr>
            <a:xfrm rot="0">
              <a:off x="506292" y="210418"/>
              <a:ext cx="592244"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01</a:t>
              </a:r>
              <a:r>
                <a:rPr lang="en-US" sz="2399" b="true">
                  <a:solidFill>
                    <a:srgbClr val="000000"/>
                  </a:solidFill>
                  <a:latin typeface="DM Sans Bold"/>
                  <a:ea typeface="DM Sans Bold"/>
                  <a:cs typeface="DM Sans Bold"/>
                  <a:sym typeface="DM Sans Bold"/>
                </a:rPr>
                <a:t>  </a:t>
              </a:r>
            </a:p>
          </p:txBody>
        </p:sp>
      </p:grpSp>
      <p:grpSp>
        <p:nvGrpSpPr>
          <p:cNvPr name="Group 16" id="16"/>
          <p:cNvGrpSpPr/>
          <p:nvPr/>
        </p:nvGrpSpPr>
        <p:grpSpPr>
          <a:xfrm rot="0">
            <a:off x="1143000" y="5014912"/>
            <a:ext cx="7893844" cy="728662"/>
            <a:chOff x="0" y="0"/>
            <a:chExt cx="10525125" cy="971550"/>
          </a:xfrm>
        </p:grpSpPr>
        <p:grpSp>
          <p:nvGrpSpPr>
            <p:cNvPr name="Group 17" id="17"/>
            <p:cNvGrpSpPr/>
            <p:nvPr/>
          </p:nvGrpSpPr>
          <p:grpSpPr>
            <a:xfrm rot="0">
              <a:off x="0" y="0"/>
              <a:ext cx="10525125" cy="971550"/>
              <a:chOff x="0" y="0"/>
              <a:chExt cx="2078990" cy="191643"/>
            </a:xfrm>
          </p:grpSpPr>
          <p:sp>
            <p:nvSpPr>
              <p:cNvPr name="Freeform 18" id="18"/>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19" id="19"/>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20" id="20"/>
            <p:cNvGrpSpPr/>
            <p:nvPr/>
          </p:nvGrpSpPr>
          <p:grpSpPr>
            <a:xfrm rot="0">
              <a:off x="76373" y="0"/>
              <a:ext cx="10448752" cy="971550"/>
              <a:chOff x="0" y="0"/>
              <a:chExt cx="2063904" cy="191643"/>
            </a:xfrm>
          </p:grpSpPr>
          <p:sp>
            <p:nvSpPr>
              <p:cNvPr name="Freeform 21" id="21"/>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22" id="22"/>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23" id="23"/>
            <p:cNvSpPr txBox="true"/>
            <p:nvPr/>
          </p:nvSpPr>
          <p:spPr>
            <a:xfrm rot="0">
              <a:off x="506292" y="210418"/>
              <a:ext cx="588831"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02</a:t>
              </a:r>
            </a:p>
          </p:txBody>
        </p:sp>
      </p:grpSp>
      <p:grpSp>
        <p:nvGrpSpPr>
          <p:cNvPr name="Group 24" id="24"/>
          <p:cNvGrpSpPr/>
          <p:nvPr/>
        </p:nvGrpSpPr>
        <p:grpSpPr>
          <a:xfrm rot="0">
            <a:off x="1143000" y="5962650"/>
            <a:ext cx="7893844" cy="728662"/>
            <a:chOff x="0" y="0"/>
            <a:chExt cx="10525125" cy="971550"/>
          </a:xfrm>
        </p:grpSpPr>
        <p:grpSp>
          <p:nvGrpSpPr>
            <p:cNvPr name="Group 25" id="25"/>
            <p:cNvGrpSpPr/>
            <p:nvPr/>
          </p:nvGrpSpPr>
          <p:grpSpPr>
            <a:xfrm rot="0">
              <a:off x="0" y="0"/>
              <a:ext cx="10525125" cy="971550"/>
              <a:chOff x="0" y="0"/>
              <a:chExt cx="2078990" cy="191643"/>
            </a:xfrm>
          </p:grpSpPr>
          <p:sp>
            <p:nvSpPr>
              <p:cNvPr name="Freeform 26" id="26"/>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27" id="27"/>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28" id="28"/>
            <p:cNvGrpSpPr/>
            <p:nvPr/>
          </p:nvGrpSpPr>
          <p:grpSpPr>
            <a:xfrm rot="0">
              <a:off x="76373" y="0"/>
              <a:ext cx="10448752" cy="971550"/>
              <a:chOff x="0" y="0"/>
              <a:chExt cx="2063904" cy="191643"/>
            </a:xfrm>
          </p:grpSpPr>
          <p:sp>
            <p:nvSpPr>
              <p:cNvPr name="Freeform 29" id="29"/>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30" id="30"/>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31" id="31"/>
            <p:cNvSpPr txBox="true"/>
            <p:nvPr/>
          </p:nvSpPr>
          <p:spPr>
            <a:xfrm rot="0">
              <a:off x="506292" y="210418"/>
              <a:ext cx="637007"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03</a:t>
              </a:r>
            </a:p>
          </p:txBody>
        </p:sp>
      </p:grpSp>
      <p:grpSp>
        <p:nvGrpSpPr>
          <p:cNvPr name="Group 32" id="32"/>
          <p:cNvGrpSpPr/>
          <p:nvPr/>
        </p:nvGrpSpPr>
        <p:grpSpPr>
          <a:xfrm rot="0">
            <a:off x="1143000" y="6905625"/>
            <a:ext cx="7893844" cy="728662"/>
            <a:chOff x="0" y="0"/>
            <a:chExt cx="10525125" cy="971550"/>
          </a:xfrm>
        </p:grpSpPr>
        <p:grpSp>
          <p:nvGrpSpPr>
            <p:cNvPr name="Group 33" id="33"/>
            <p:cNvGrpSpPr/>
            <p:nvPr/>
          </p:nvGrpSpPr>
          <p:grpSpPr>
            <a:xfrm rot="0">
              <a:off x="0" y="0"/>
              <a:ext cx="10525125" cy="971550"/>
              <a:chOff x="0" y="0"/>
              <a:chExt cx="2078990" cy="191643"/>
            </a:xfrm>
          </p:grpSpPr>
          <p:sp>
            <p:nvSpPr>
              <p:cNvPr name="Freeform 34" id="34"/>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35" id="35"/>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36" id="36"/>
            <p:cNvGrpSpPr/>
            <p:nvPr/>
          </p:nvGrpSpPr>
          <p:grpSpPr>
            <a:xfrm rot="0">
              <a:off x="76373" y="0"/>
              <a:ext cx="10448752" cy="971550"/>
              <a:chOff x="0" y="0"/>
              <a:chExt cx="2063904" cy="191643"/>
            </a:xfrm>
          </p:grpSpPr>
          <p:sp>
            <p:nvSpPr>
              <p:cNvPr name="Freeform 37" id="37"/>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38" id="38"/>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39" id="39"/>
            <p:cNvSpPr txBox="true"/>
            <p:nvPr/>
          </p:nvSpPr>
          <p:spPr>
            <a:xfrm rot="0">
              <a:off x="506292" y="210418"/>
              <a:ext cx="592244"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04</a:t>
              </a:r>
            </a:p>
          </p:txBody>
        </p:sp>
      </p:grpSp>
      <p:grpSp>
        <p:nvGrpSpPr>
          <p:cNvPr name="Group 40" id="40"/>
          <p:cNvGrpSpPr/>
          <p:nvPr/>
        </p:nvGrpSpPr>
        <p:grpSpPr>
          <a:xfrm rot="0">
            <a:off x="9251156" y="5014912"/>
            <a:ext cx="7893844" cy="728662"/>
            <a:chOff x="0" y="0"/>
            <a:chExt cx="10525125" cy="971550"/>
          </a:xfrm>
        </p:grpSpPr>
        <p:grpSp>
          <p:nvGrpSpPr>
            <p:cNvPr name="Group 41" id="41"/>
            <p:cNvGrpSpPr/>
            <p:nvPr/>
          </p:nvGrpSpPr>
          <p:grpSpPr>
            <a:xfrm rot="0">
              <a:off x="0" y="0"/>
              <a:ext cx="10525125" cy="971550"/>
              <a:chOff x="0" y="0"/>
              <a:chExt cx="2078990" cy="191643"/>
            </a:xfrm>
          </p:grpSpPr>
          <p:sp>
            <p:nvSpPr>
              <p:cNvPr name="Freeform 42" id="42"/>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43" id="43"/>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44" id="44"/>
            <p:cNvGrpSpPr/>
            <p:nvPr/>
          </p:nvGrpSpPr>
          <p:grpSpPr>
            <a:xfrm rot="0">
              <a:off x="76373" y="0"/>
              <a:ext cx="10448752" cy="971550"/>
              <a:chOff x="0" y="0"/>
              <a:chExt cx="2063904" cy="191643"/>
            </a:xfrm>
          </p:grpSpPr>
          <p:sp>
            <p:nvSpPr>
              <p:cNvPr name="Freeform 45" id="45"/>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46" id="46"/>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47" id="47"/>
            <p:cNvSpPr txBox="true"/>
            <p:nvPr/>
          </p:nvSpPr>
          <p:spPr>
            <a:xfrm rot="0">
              <a:off x="506292" y="210418"/>
              <a:ext cx="624992" cy="525146"/>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07</a:t>
              </a:r>
            </a:p>
          </p:txBody>
        </p:sp>
      </p:grpSp>
      <p:grpSp>
        <p:nvGrpSpPr>
          <p:cNvPr name="Group 48" id="48"/>
          <p:cNvGrpSpPr/>
          <p:nvPr/>
        </p:nvGrpSpPr>
        <p:grpSpPr>
          <a:xfrm rot="0">
            <a:off x="9251156" y="5957888"/>
            <a:ext cx="7893844" cy="728662"/>
            <a:chOff x="0" y="0"/>
            <a:chExt cx="10525125" cy="971550"/>
          </a:xfrm>
        </p:grpSpPr>
        <p:grpSp>
          <p:nvGrpSpPr>
            <p:cNvPr name="Group 49" id="49"/>
            <p:cNvGrpSpPr/>
            <p:nvPr/>
          </p:nvGrpSpPr>
          <p:grpSpPr>
            <a:xfrm rot="0">
              <a:off x="0" y="0"/>
              <a:ext cx="10525125" cy="971550"/>
              <a:chOff x="0" y="0"/>
              <a:chExt cx="2078990" cy="191643"/>
            </a:xfrm>
          </p:grpSpPr>
          <p:sp>
            <p:nvSpPr>
              <p:cNvPr name="Freeform 50" id="50"/>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51" id="51"/>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52" id="52"/>
            <p:cNvGrpSpPr/>
            <p:nvPr/>
          </p:nvGrpSpPr>
          <p:grpSpPr>
            <a:xfrm rot="0">
              <a:off x="76373" y="0"/>
              <a:ext cx="10448752" cy="971550"/>
              <a:chOff x="0" y="0"/>
              <a:chExt cx="2063904" cy="191643"/>
            </a:xfrm>
          </p:grpSpPr>
          <p:sp>
            <p:nvSpPr>
              <p:cNvPr name="Freeform 53" id="53"/>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54" id="54"/>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55" id="55"/>
            <p:cNvSpPr txBox="true"/>
            <p:nvPr/>
          </p:nvSpPr>
          <p:spPr>
            <a:xfrm rot="0">
              <a:off x="506292" y="210418"/>
              <a:ext cx="801136"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08</a:t>
              </a:r>
            </a:p>
          </p:txBody>
        </p:sp>
      </p:grpSp>
      <p:sp>
        <p:nvSpPr>
          <p:cNvPr name="TextBox 56" id="56"/>
          <p:cNvSpPr txBox="true"/>
          <p:nvPr/>
        </p:nvSpPr>
        <p:spPr>
          <a:xfrm rot="0">
            <a:off x="2268224" y="4209607"/>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Latar Belakang Masalah</a:t>
            </a:r>
          </a:p>
        </p:txBody>
      </p:sp>
      <p:sp>
        <p:nvSpPr>
          <p:cNvPr name="TextBox 57" id="57"/>
          <p:cNvSpPr txBox="true"/>
          <p:nvPr/>
        </p:nvSpPr>
        <p:spPr>
          <a:xfrm rot="0">
            <a:off x="2268224" y="5152582"/>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Tujuan &amp; Manfaat</a:t>
            </a:r>
          </a:p>
        </p:txBody>
      </p:sp>
      <p:sp>
        <p:nvSpPr>
          <p:cNvPr name="TextBox 58" id="58"/>
          <p:cNvSpPr txBox="true"/>
          <p:nvPr/>
        </p:nvSpPr>
        <p:spPr>
          <a:xfrm rot="0">
            <a:off x="2268224" y="6100319"/>
            <a:ext cx="6207377" cy="405699"/>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Profil Mitra</a:t>
            </a:r>
          </a:p>
        </p:txBody>
      </p:sp>
      <p:sp>
        <p:nvSpPr>
          <p:cNvPr name="TextBox 59" id="59"/>
          <p:cNvSpPr txBox="true"/>
          <p:nvPr/>
        </p:nvSpPr>
        <p:spPr>
          <a:xfrm rot="0">
            <a:off x="2268224" y="7043294"/>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Landasan Teori &amp; Teknologi</a:t>
            </a:r>
          </a:p>
        </p:txBody>
      </p:sp>
      <p:grpSp>
        <p:nvGrpSpPr>
          <p:cNvPr name="Group 60" id="60"/>
          <p:cNvGrpSpPr/>
          <p:nvPr/>
        </p:nvGrpSpPr>
        <p:grpSpPr>
          <a:xfrm rot="0">
            <a:off x="1143000" y="7853362"/>
            <a:ext cx="7893844" cy="728662"/>
            <a:chOff x="0" y="0"/>
            <a:chExt cx="10525125" cy="971550"/>
          </a:xfrm>
        </p:grpSpPr>
        <p:grpSp>
          <p:nvGrpSpPr>
            <p:cNvPr name="Group 61" id="61"/>
            <p:cNvGrpSpPr/>
            <p:nvPr/>
          </p:nvGrpSpPr>
          <p:grpSpPr>
            <a:xfrm rot="0">
              <a:off x="0" y="0"/>
              <a:ext cx="10525125" cy="971550"/>
              <a:chOff x="0" y="0"/>
              <a:chExt cx="2078990" cy="191643"/>
            </a:xfrm>
          </p:grpSpPr>
          <p:sp>
            <p:nvSpPr>
              <p:cNvPr name="Freeform 62" id="62"/>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63" id="63"/>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64" id="64"/>
            <p:cNvGrpSpPr/>
            <p:nvPr/>
          </p:nvGrpSpPr>
          <p:grpSpPr>
            <a:xfrm rot="0">
              <a:off x="76373" y="0"/>
              <a:ext cx="10448752" cy="971550"/>
              <a:chOff x="0" y="0"/>
              <a:chExt cx="2063904" cy="191643"/>
            </a:xfrm>
          </p:grpSpPr>
          <p:sp>
            <p:nvSpPr>
              <p:cNvPr name="Freeform 65" id="65"/>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66" id="66"/>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67" id="67"/>
            <p:cNvSpPr txBox="true"/>
            <p:nvPr/>
          </p:nvSpPr>
          <p:spPr>
            <a:xfrm rot="0">
              <a:off x="506292" y="210418"/>
              <a:ext cx="592244"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05</a:t>
              </a:r>
            </a:p>
          </p:txBody>
        </p:sp>
      </p:grpSp>
      <p:sp>
        <p:nvSpPr>
          <p:cNvPr name="TextBox 68" id="68"/>
          <p:cNvSpPr txBox="true"/>
          <p:nvPr/>
        </p:nvSpPr>
        <p:spPr>
          <a:xfrm rot="0">
            <a:off x="2268224" y="7991032"/>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Metodologi Pengembangan</a:t>
            </a:r>
          </a:p>
        </p:txBody>
      </p:sp>
      <p:grpSp>
        <p:nvGrpSpPr>
          <p:cNvPr name="Group 69" id="69"/>
          <p:cNvGrpSpPr/>
          <p:nvPr/>
        </p:nvGrpSpPr>
        <p:grpSpPr>
          <a:xfrm rot="0">
            <a:off x="9251156" y="4067175"/>
            <a:ext cx="7893844" cy="728662"/>
            <a:chOff x="0" y="0"/>
            <a:chExt cx="10525125" cy="971550"/>
          </a:xfrm>
        </p:grpSpPr>
        <p:grpSp>
          <p:nvGrpSpPr>
            <p:cNvPr name="Group 70" id="70"/>
            <p:cNvGrpSpPr/>
            <p:nvPr/>
          </p:nvGrpSpPr>
          <p:grpSpPr>
            <a:xfrm rot="0">
              <a:off x="0" y="0"/>
              <a:ext cx="10525125" cy="971550"/>
              <a:chOff x="0" y="0"/>
              <a:chExt cx="2078990" cy="191643"/>
            </a:xfrm>
          </p:grpSpPr>
          <p:sp>
            <p:nvSpPr>
              <p:cNvPr name="Freeform 71" id="71"/>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72" id="72"/>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73" id="73"/>
            <p:cNvGrpSpPr/>
            <p:nvPr/>
          </p:nvGrpSpPr>
          <p:grpSpPr>
            <a:xfrm rot="0">
              <a:off x="76373" y="0"/>
              <a:ext cx="10448752" cy="971550"/>
              <a:chOff x="0" y="0"/>
              <a:chExt cx="2063904" cy="191643"/>
            </a:xfrm>
          </p:grpSpPr>
          <p:sp>
            <p:nvSpPr>
              <p:cNvPr name="Freeform 74" id="74"/>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75" id="75"/>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76" id="76"/>
            <p:cNvSpPr txBox="true"/>
            <p:nvPr/>
          </p:nvSpPr>
          <p:spPr>
            <a:xfrm rot="0">
              <a:off x="506292" y="210418"/>
              <a:ext cx="637007"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06</a:t>
              </a:r>
              <a:r>
                <a:rPr lang="en-US" sz="2399" b="true">
                  <a:solidFill>
                    <a:srgbClr val="000000"/>
                  </a:solidFill>
                  <a:latin typeface="DM Sans Bold"/>
                  <a:ea typeface="DM Sans Bold"/>
                  <a:cs typeface="DM Sans Bold"/>
                  <a:sym typeface="DM Sans Bold"/>
                </a:rPr>
                <a:t>  </a:t>
              </a:r>
            </a:p>
          </p:txBody>
        </p:sp>
      </p:grpSp>
      <p:sp>
        <p:nvSpPr>
          <p:cNvPr name="TextBox 77" id="77"/>
          <p:cNvSpPr txBox="true"/>
          <p:nvPr/>
        </p:nvSpPr>
        <p:spPr>
          <a:xfrm rot="0">
            <a:off x="10376380" y="4204844"/>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Use Case Diagram</a:t>
            </a:r>
          </a:p>
        </p:txBody>
      </p:sp>
      <p:sp>
        <p:nvSpPr>
          <p:cNvPr name="TextBox 78" id="78"/>
          <p:cNvSpPr txBox="true"/>
          <p:nvPr/>
        </p:nvSpPr>
        <p:spPr>
          <a:xfrm rot="0">
            <a:off x="10376380" y="5152582"/>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Hasil Evaluasi</a:t>
            </a:r>
          </a:p>
        </p:txBody>
      </p:sp>
      <p:sp>
        <p:nvSpPr>
          <p:cNvPr name="TextBox 79" id="79"/>
          <p:cNvSpPr txBox="true"/>
          <p:nvPr/>
        </p:nvSpPr>
        <p:spPr>
          <a:xfrm rot="0">
            <a:off x="10376380" y="6100319"/>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Kesimpulan</a:t>
            </a:r>
          </a:p>
        </p:txBody>
      </p:sp>
      <p:grpSp>
        <p:nvGrpSpPr>
          <p:cNvPr name="Group 80" id="80"/>
          <p:cNvGrpSpPr/>
          <p:nvPr/>
        </p:nvGrpSpPr>
        <p:grpSpPr>
          <a:xfrm rot="0">
            <a:off x="9251156" y="6905625"/>
            <a:ext cx="7893844" cy="728662"/>
            <a:chOff x="0" y="0"/>
            <a:chExt cx="10525125" cy="971550"/>
          </a:xfrm>
        </p:grpSpPr>
        <p:grpSp>
          <p:nvGrpSpPr>
            <p:cNvPr name="Group 81" id="81"/>
            <p:cNvGrpSpPr/>
            <p:nvPr/>
          </p:nvGrpSpPr>
          <p:grpSpPr>
            <a:xfrm rot="0">
              <a:off x="0" y="0"/>
              <a:ext cx="10525125" cy="971550"/>
              <a:chOff x="0" y="0"/>
              <a:chExt cx="2078990" cy="191643"/>
            </a:xfrm>
          </p:grpSpPr>
          <p:sp>
            <p:nvSpPr>
              <p:cNvPr name="Freeform 82" id="82"/>
              <p:cNvSpPr/>
              <p:nvPr/>
            </p:nvSpPr>
            <p:spPr>
              <a:xfrm flipH="false" flipV="false" rot="0">
                <a:off x="0" y="0"/>
                <a:ext cx="2078990" cy="191643"/>
              </a:xfrm>
              <a:custGeom>
                <a:avLst/>
                <a:gdLst/>
                <a:ahLst/>
                <a:cxnLst/>
                <a:rect r="r" b="b" t="t" l="l"/>
                <a:pathLst>
                  <a:path h="191643" w="2078990">
                    <a:moveTo>
                      <a:pt x="2078990" y="4904"/>
                    </a:moveTo>
                    <a:lnTo>
                      <a:pt x="2078990" y="186739"/>
                    </a:lnTo>
                    <a:cubicBezTo>
                      <a:pt x="2078990" y="189448"/>
                      <a:pt x="2076795" y="191643"/>
                      <a:pt x="2074086" y="191643"/>
                    </a:cubicBezTo>
                    <a:lnTo>
                      <a:pt x="4904" y="191643"/>
                    </a:lnTo>
                    <a:cubicBezTo>
                      <a:pt x="3603" y="191643"/>
                      <a:pt x="2356" y="191126"/>
                      <a:pt x="1436" y="190207"/>
                    </a:cubicBezTo>
                    <a:cubicBezTo>
                      <a:pt x="517" y="189287"/>
                      <a:pt x="0" y="188040"/>
                      <a:pt x="0" y="186739"/>
                    </a:cubicBezTo>
                    <a:lnTo>
                      <a:pt x="0" y="4904"/>
                    </a:lnTo>
                    <a:cubicBezTo>
                      <a:pt x="0" y="3603"/>
                      <a:pt x="517" y="2356"/>
                      <a:pt x="1436" y="1436"/>
                    </a:cubicBezTo>
                    <a:cubicBezTo>
                      <a:pt x="2356" y="517"/>
                      <a:pt x="3603" y="0"/>
                      <a:pt x="4904" y="0"/>
                    </a:cubicBezTo>
                    <a:lnTo>
                      <a:pt x="2074086" y="0"/>
                    </a:lnTo>
                    <a:cubicBezTo>
                      <a:pt x="2075387" y="0"/>
                      <a:pt x="2076634" y="517"/>
                      <a:pt x="2077554" y="1436"/>
                    </a:cubicBezTo>
                    <a:cubicBezTo>
                      <a:pt x="2078473" y="2356"/>
                      <a:pt x="2078990" y="3603"/>
                      <a:pt x="2078990" y="4904"/>
                    </a:cubicBezTo>
                    <a:close/>
                  </a:path>
                </a:pathLst>
              </a:custGeom>
              <a:solidFill>
                <a:srgbClr val="105086"/>
              </a:solidFill>
            </p:spPr>
          </p:sp>
          <p:sp>
            <p:nvSpPr>
              <p:cNvPr name="TextBox 83" id="83"/>
              <p:cNvSpPr txBox="true"/>
              <p:nvPr/>
            </p:nvSpPr>
            <p:spPr>
              <a:xfrm>
                <a:off x="0" y="-133350"/>
                <a:ext cx="2078990" cy="324993"/>
              </a:xfrm>
              <a:prstGeom prst="rect">
                <a:avLst/>
              </a:prstGeom>
            </p:spPr>
            <p:txBody>
              <a:bodyPr anchor="ctr" rtlCol="false" tIns="50800" lIns="50800" bIns="50800" rIns="50800"/>
              <a:lstStyle/>
              <a:p>
                <a:pPr algn="ctr">
                  <a:lnSpc>
                    <a:spcPts val="3887"/>
                  </a:lnSpc>
                </a:pPr>
              </a:p>
            </p:txBody>
          </p:sp>
        </p:grpSp>
        <p:grpSp>
          <p:nvGrpSpPr>
            <p:cNvPr name="Group 84" id="84"/>
            <p:cNvGrpSpPr/>
            <p:nvPr/>
          </p:nvGrpSpPr>
          <p:grpSpPr>
            <a:xfrm rot="0">
              <a:off x="76373" y="0"/>
              <a:ext cx="10448752" cy="971550"/>
              <a:chOff x="0" y="0"/>
              <a:chExt cx="2063904" cy="191643"/>
            </a:xfrm>
          </p:grpSpPr>
          <p:sp>
            <p:nvSpPr>
              <p:cNvPr name="Freeform 85" id="85"/>
              <p:cNvSpPr/>
              <p:nvPr/>
            </p:nvSpPr>
            <p:spPr>
              <a:xfrm flipH="false" flipV="false" rot="0">
                <a:off x="0" y="0"/>
                <a:ext cx="2063904" cy="191643"/>
              </a:xfrm>
              <a:custGeom>
                <a:avLst/>
                <a:gdLst/>
                <a:ahLst/>
                <a:cxnLst/>
                <a:rect r="r" b="b" t="t" l="l"/>
                <a:pathLst>
                  <a:path h="191643" w="2063904">
                    <a:moveTo>
                      <a:pt x="2063904" y="4940"/>
                    </a:moveTo>
                    <a:lnTo>
                      <a:pt x="2063904" y="186703"/>
                    </a:lnTo>
                    <a:cubicBezTo>
                      <a:pt x="2063904" y="189431"/>
                      <a:pt x="2061693" y="191643"/>
                      <a:pt x="2058965" y="191643"/>
                    </a:cubicBezTo>
                    <a:lnTo>
                      <a:pt x="4940" y="191643"/>
                    </a:lnTo>
                    <a:cubicBezTo>
                      <a:pt x="2212" y="191643"/>
                      <a:pt x="0" y="189431"/>
                      <a:pt x="0" y="186703"/>
                    </a:cubicBezTo>
                    <a:lnTo>
                      <a:pt x="0" y="4940"/>
                    </a:lnTo>
                    <a:cubicBezTo>
                      <a:pt x="0" y="2212"/>
                      <a:pt x="2212" y="0"/>
                      <a:pt x="4940" y="0"/>
                    </a:cubicBezTo>
                    <a:lnTo>
                      <a:pt x="2058965" y="0"/>
                    </a:lnTo>
                    <a:cubicBezTo>
                      <a:pt x="2061693" y="0"/>
                      <a:pt x="2063904" y="2212"/>
                      <a:pt x="2063904" y="4940"/>
                    </a:cubicBezTo>
                    <a:close/>
                  </a:path>
                </a:pathLst>
              </a:custGeom>
              <a:solidFill>
                <a:srgbClr val="F1F5F9"/>
              </a:solidFill>
            </p:spPr>
          </p:sp>
          <p:sp>
            <p:nvSpPr>
              <p:cNvPr name="TextBox 86" id="86"/>
              <p:cNvSpPr txBox="true"/>
              <p:nvPr/>
            </p:nvSpPr>
            <p:spPr>
              <a:xfrm>
                <a:off x="0" y="-133350"/>
                <a:ext cx="2063904" cy="324993"/>
              </a:xfrm>
              <a:prstGeom prst="rect">
                <a:avLst/>
              </a:prstGeom>
            </p:spPr>
            <p:txBody>
              <a:bodyPr anchor="ctr" rtlCol="false" tIns="50800" lIns="50800" bIns="50800" rIns="50800"/>
              <a:lstStyle/>
              <a:p>
                <a:pPr algn="ctr">
                  <a:lnSpc>
                    <a:spcPts val="3887"/>
                  </a:lnSpc>
                </a:pPr>
              </a:p>
            </p:txBody>
          </p:sp>
        </p:grpSp>
        <p:sp>
          <p:nvSpPr>
            <p:cNvPr name="TextBox 87" id="87"/>
            <p:cNvSpPr txBox="true"/>
            <p:nvPr/>
          </p:nvSpPr>
          <p:spPr>
            <a:xfrm rot="0">
              <a:off x="506292" y="210418"/>
              <a:ext cx="801136" cy="525058"/>
            </a:xfrm>
            <a:prstGeom prst="rect">
              <a:avLst/>
            </a:prstGeom>
          </p:spPr>
          <p:txBody>
            <a:bodyPr anchor="t" rtlCol="false" tIns="0" lIns="0" bIns="0" rIns="0">
              <a:spAutoFit/>
            </a:bodyPr>
            <a:lstStyle/>
            <a:p>
              <a:pPr algn="l">
                <a:lnSpc>
                  <a:spcPts val="3359"/>
                </a:lnSpc>
              </a:pPr>
              <a:r>
                <a:rPr lang="en-US" sz="2399" b="true">
                  <a:solidFill>
                    <a:srgbClr val="2C5C8B"/>
                  </a:solidFill>
                  <a:latin typeface="DM Sans Bold"/>
                  <a:ea typeface="DM Sans Bold"/>
                  <a:cs typeface="DM Sans Bold"/>
                  <a:sym typeface="DM Sans Bold"/>
                </a:rPr>
                <a:t>09</a:t>
              </a:r>
            </a:p>
          </p:txBody>
        </p:sp>
      </p:grpSp>
      <p:sp>
        <p:nvSpPr>
          <p:cNvPr name="TextBox 88" id="88"/>
          <p:cNvSpPr txBox="true"/>
          <p:nvPr/>
        </p:nvSpPr>
        <p:spPr>
          <a:xfrm rot="0">
            <a:off x="10376380" y="7048057"/>
            <a:ext cx="6207377" cy="405766"/>
          </a:xfrm>
          <a:prstGeom prst="rect">
            <a:avLst/>
          </a:prstGeom>
        </p:spPr>
        <p:txBody>
          <a:bodyPr anchor="t" rtlCol="false" tIns="0" lIns="0" bIns="0" rIns="0">
            <a:spAutoFit/>
          </a:bodyPr>
          <a:lstStyle/>
          <a:p>
            <a:pPr algn="l">
              <a:lnSpc>
                <a:spcPts val="3359"/>
              </a:lnSpc>
            </a:pPr>
            <a:r>
              <a:rPr lang="en-US" sz="2399" b="true">
                <a:solidFill>
                  <a:srgbClr val="0F172A"/>
                </a:solidFill>
                <a:latin typeface="DM Sans Bold"/>
                <a:ea typeface="DM Sans Bold"/>
                <a:cs typeface="DM Sans Bold"/>
                <a:sym typeface="DM Sans Bold"/>
              </a:rPr>
              <a:t>Dokumentasi</a:t>
            </a:r>
          </a:p>
        </p:txBody>
      </p:sp>
      <p:sp>
        <p:nvSpPr>
          <p:cNvPr name="Freeform 89" id="89"/>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7670626"/>
            <a:ext cx="7643812" cy="1714281"/>
            <a:chOff x="0" y="0"/>
            <a:chExt cx="10191750" cy="2285708"/>
          </a:xfrm>
        </p:grpSpPr>
        <p:sp>
          <p:nvSpPr>
            <p:cNvPr name="Freeform 5" id="5" descr="image.png"/>
            <p:cNvSpPr/>
            <p:nvPr/>
          </p:nvSpPr>
          <p:spPr>
            <a:xfrm flipH="false" flipV="false" rot="0">
              <a:off x="0" y="0"/>
              <a:ext cx="10191750" cy="2285746"/>
            </a:xfrm>
            <a:custGeom>
              <a:avLst/>
              <a:gdLst/>
              <a:ahLst/>
              <a:cxnLst/>
              <a:rect r="r" b="b" t="t" l="l"/>
              <a:pathLst>
                <a:path h="2285746" w="10191750">
                  <a:moveTo>
                    <a:pt x="0" y="0"/>
                  </a:moveTo>
                  <a:lnTo>
                    <a:pt x="10191750" y="0"/>
                  </a:lnTo>
                  <a:lnTo>
                    <a:pt x="10191750" y="2285746"/>
                  </a:lnTo>
                  <a:lnTo>
                    <a:pt x="0" y="2285746"/>
                  </a:lnTo>
                  <a:lnTo>
                    <a:pt x="0" y="0"/>
                  </a:lnTo>
                  <a:close/>
                </a:path>
              </a:pathLst>
            </a:custGeom>
            <a:blipFill>
              <a:blip r:embed="rId4"/>
              <a:stretch>
                <a:fillRect l="0" t="0" r="0" b="-844"/>
              </a:stretch>
            </a:blipFill>
          </p:spPr>
        </p:sp>
      </p:grpSp>
      <p:grpSp>
        <p:nvGrpSpPr>
          <p:cNvPr name="Group 6" id="6"/>
          <p:cNvGrpSpPr/>
          <p:nvPr/>
        </p:nvGrpSpPr>
        <p:grpSpPr>
          <a:xfrm rot="0">
            <a:off x="1143000" y="2849325"/>
            <a:ext cx="7550164" cy="47625"/>
            <a:chOff x="0" y="0"/>
            <a:chExt cx="10066886" cy="63500"/>
          </a:xfrm>
        </p:grpSpPr>
        <p:sp>
          <p:nvSpPr>
            <p:cNvPr name="Freeform 7" id="7"/>
            <p:cNvSpPr/>
            <p:nvPr/>
          </p:nvSpPr>
          <p:spPr>
            <a:xfrm flipH="false" flipV="false" rot="0">
              <a:off x="0" y="0"/>
              <a:ext cx="10066886" cy="63500"/>
            </a:xfrm>
            <a:custGeom>
              <a:avLst/>
              <a:gdLst/>
              <a:ahLst/>
              <a:cxnLst/>
              <a:rect r="r" b="b" t="t" l="l"/>
              <a:pathLst>
                <a:path h="63500" w="10066886">
                  <a:moveTo>
                    <a:pt x="0" y="0"/>
                  </a:moveTo>
                  <a:lnTo>
                    <a:pt x="10066886" y="0"/>
                  </a:lnTo>
                  <a:lnTo>
                    <a:pt x="10066886" y="63500"/>
                  </a:lnTo>
                  <a:lnTo>
                    <a:pt x="0" y="63500"/>
                  </a:lnTo>
                  <a:close/>
                </a:path>
              </a:pathLst>
            </a:custGeom>
            <a:solidFill>
              <a:srgbClr val="E2E8F0"/>
            </a:solidFill>
          </p:spPr>
        </p:sp>
      </p:grpSp>
      <p:sp>
        <p:nvSpPr>
          <p:cNvPr name="Freeform 8" id="8"/>
          <p:cNvSpPr/>
          <p:nvPr/>
        </p:nvSpPr>
        <p:spPr>
          <a:xfrm flipH="false" flipV="false" rot="0">
            <a:off x="9002308" y="4905375"/>
            <a:ext cx="6261064" cy="4140891"/>
          </a:xfrm>
          <a:custGeom>
            <a:avLst/>
            <a:gdLst/>
            <a:ahLst/>
            <a:cxnLst/>
            <a:rect r="r" b="b" t="t" l="l"/>
            <a:pathLst>
              <a:path h="4140891" w="6261064">
                <a:moveTo>
                  <a:pt x="0" y="0"/>
                </a:moveTo>
                <a:lnTo>
                  <a:pt x="6261064" y="0"/>
                </a:lnTo>
                <a:lnTo>
                  <a:pt x="6261064" y="4140891"/>
                </a:lnTo>
                <a:lnTo>
                  <a:pt x="0" y="4140891"/>
                </a:lnTo>
                <a:lnTo>
                  <a:pt x="0" y="0"/>
                </a:lnTo>
                <a:close/>
              </a:path>
            </a:pathLst>
          </a:custGeom>
          <a:blipFill>
            <a:blip r:embed="rId5"/>
            <a:stretch>
              <a:fillRect l="0" t="0" r="-49462" b="0"/>
            </a:stretch>
          </a:blipFill>
        </p:spPr>
      </p:sp>
      <p:sp>
        <p:nvSpPr>
          <p:cNvPr name="TextBox 9" id="9"/>
          <p:cNvSpPr txBox="true"/>
          <p:nvPr/>
        </p:nvSpPr>
        <p:spPr>
          <a:xfrm rot="0">
            <a:off x="1143000" y="2992200"/>
            <a:ext cx="7643812" cy="5008626"/>
          </a:xfrm>
          <a:prstGeom prst="rect">
            <a:avLst/>
          </a:prstGeom>
        </p:spPr>
        <p:txBody>
          <a:bodyPr anchor="t" rtlCol="false" tIns="0" lIns="0" bIns="0" rIns="0">
            <a:spAutoFit/>
          </a:bodyPr>
          <a:lstStyle/>
          <a:p>
            <a:pPr algn="l" marL="453390" indent="-226695" lvl="1">
              <a:lnSpc>
                <a:spcPts val="4032"/>
              </a:lnSpc>
              <a:buFont typeface="Arial"/>
              <a:buChar char="•"/>
            </a:pPr>
            <a:r>
              <a:rPr lang="en-US" b="true" sz="2100">
                <a:solidFill>
                  <a:srgbClr val="334155"/>
                </a:solidFill>
                <a:latin typeface="DM Sans Bold"/>
                <a:ea typeface="DM Sans Bold"/>
                <a:cs typeface="DM Sans Bold"/>
                <a:sym typeface="DM Sans Bold"/>
              </a:rPr>
              <a:t>Pencatatan Terpisah: </a:t>
            </a:r>
            <a:r>
              <a:rPr lang="en-US" sz="2100">
                <a:solidFill>
                  <a:srgbClr val="334155"/>
                </a:solidFill>
                <a:latin typeface="DM Sans"/>
                <a:ea typeface="DM Sans"/>
                <a:cs typeface="DM Sans"/>
                <a:sym typeface="DM Sans"/>
              </a:rPr>
              <a:t>Laporan pelanggaran tidak terpusat, karena masih menggunakan "Kitir Kuning" untuk di luar kelas dan "Buku Catatan" untuk di dalam kelas.</a:t>
            </a:r>
          </a:p>
          <a:p>
            <a:pPr algn="l" marL="453390" indent="-226695" lvl="1">
              <a:lnSpc>
                <a:spcPts val="4032"/>
              </a:lnSpc>
              <a:buFont typeface="Arial"/>
              <a:buChar char="•"/>
            </a:pPr>
            <a:r>
              <a:rPr lang="en-US" b="true" sz="2100">
                <a:solidFill>
                  <a:srgbClr val="334155"/>
                </a:solidFill>
                <a:latin typeface="DM Sans Bold"/>
                <a:ea typeface="DM Sans Bold"/>
                <a:cs typeface="DM Sans Bold"/>
                <a:sym typeface="DM Sans Bold"/>
              </a:rPr>
              <a:t>Beban R</a:t>
            </a:r>
            <a:r>
              <a:rPr lang="en-US" b="true" sz="2100">
                <a:solidFill>
                  <a:srgbClr val="334155"/>
                </a:solidFill>
                <a:latin typeface="DM Sans Bold"/>
                <a:ea typeface="DM Sans Bold"/>
                <a:cs typeface="DM Sans Bold"/>
                <a:sym typeface="DM Sans Bold"/>
              </a:rPr>
              <a:t>ekapitulasi:</a:t>
            </a:r>
            <a:r>
              <a:rPr lang="en-US" sz="2100">
                <a:solidFill>
                  <a:srgbClr val="334155"/>
                </a:solidFill>
                <a:latin typeface="DM Sans"/>
                <a:ea typeface="DM Sans"/>
                <a:cs typeface="DM Sans"/>
                <a:sym typeface="DM Sans"/>
              </a:rPr>
              <a:t> Proses memindahkan data dari kertas ke dalam Excel secara manual sangat menyita waktu dan rentan terjadi kesalahan.</a:t>
            </a:r>
          </a:p>
          <a:p>
            <a:pPr algn="l" marL="453390" indent="-226695" lvl="1">
              <a:lnSpc>
                <a:spcPts val="4032"/>
              </a:lnSpc>
              <a:buFont typeface="Arial"/>
              <a:buChar char="•"/>
            </a:pPr>
            <a:r>
              <a:rPr lang="en-US" b="true" sz="2100">
                <a:solidFill>
                  <a:srgbClr val="334155"/>
                </a:solidFill>
                <a:latin typeface="DM Sans Bold"/>
                <a:ea typeface="DM Sans Bold"/>
                <a:cs typeface="DM Sans Bold"/>
                <a:sym typeface="DM Sans Bold"/>
              </a:rPr>
              <a:t>Keterlambatan Info</a:t>
            </a:r>
            <a:r>
              <a:rPr lang="en-US" b="true" sz="2100">
                <a:solidFill>
                  <a:srgbClr val="334155"/>
                </a:solidFill>
                <a:latin typeface="DM Sans Bold"/>
                <a:ea typeface="DM Sans Bold"/>
                <a:cs typeface="DM Sans Bold"/>
                <a:sym typeface="DM Sans Bold"/>
              </a:rPr>
              <a:t>rmasi: </a:t>
            </a:r>
            <a:r>
              <a:rPr lang="en-US" sz="2100">
                <a:solidFill>
                  <a:srgbClr val="334155"/>
                </a:solidFill>
                <a:latin typeface="DM Sans"/>
                <a:ea typeface="DM Sans"/>
                <a:cs typeface="DM Sans"/>
                <a:sym typeface="DM Sans"/>
              </a:rPr>
              <a:t>Proses rekap yang panjang membuat orang tua sering terlambat mengetahui riwayat pelanggaran anaknya.</a:t>
            </a:r>
          </a:p>
          <a:p>
            <a:pPr algn="l">
              <a:lnSpc>
                <a:spcPts val="4032"/>
              </a:lnSpc>
            </a:pPr>
          </a:p>
        </p:txBody>
      </p:sp>
      <p:sp>
        <p:nvSpPr>
          <p:cNvPr name="TextBox 10" id="10"/>
          <p:cNvSpPr txBox="true"/>
          <p:nvPr/>
        </p:nvSpPr>
        <p:spPr>
          <a:xfrm rot="0">
            <a:off x="1514475" y="7721023"/>
            <a:ext cx="6986588" cy="544782"/>
          </a:xfrm>
          <a:prstGeom prst="rect">
            <a:avLst/>
          </a:prstGeom>
        </p:spPr>
        <p:txBody>
          <a:bodyPr anchor="t" rtlCol="false" tIns="0" lIns="0" bIns="0" rIns="0">
            <a:spAutoFit/>
          </a:bodyPr>
          <a:lstStyle/>
          <a:p>
            <a:pPr algn="l">
              <a:lnSpc>
                <a:spcPts val="3887"/>
              </a:lnSpc>
            </a:pPr>
            <a:r>
              <a:rPr lang="en-US" b="true" sz="2025">
                <a:solidFill>
                  <a:srgbClr val="9F1239"/>
                </a:solidFill>
                <a:latin typeface="DM Sans Bold"/>
                <a:ea typeface="DM Sans Bold"/>
                <a:cs typeface="DM Sans Bold"/>
                <a:sym typeface="DM Sans Bold"/>
              </a:rPr>
              <a:t>Masalah Utama:</a:t>
            </a:r>
          </a:p>
        </p:txBody>
      </p:sp>
      <p:sp>
        <p:nvSpPr>
          <p:cNvPr name="TextBox 11" id="11"/>
          <p:cNvSpPr txBox="true"/>
          <p:nvPr/>
        </p:nvSpPr>
        <p:spPr>
          <a:xfrm rot="0">
            <a:off x="1514475" y="8237230"/>
            <a:ext cx="6986588" cy="963930"/>
          </a:xfrm>
          <a:prstGeom prst="rect">
            <a:avLst/>
          </a:prstGeom>
        </p:spPr>
        <p:txBody>
          <a:bodyPr anchor="t" rtlCol="false" tIns="0" lIns="0" bIns="0" rIns="0">
            <a:spAutoFit/>
          </a:bodyPr>
          <a:lstStyle/>
          <a:p>
            <a:pPr algn="l">
              <a:lnSpc>
                <a:spcPts val="2564"/>
              </a:lnSpc>
            </a:pPr>
            <a:r>
              <a:rPr lang="en-US" sz="1899">
                <a:solidFill>
                  <a:srgbClr val="9F1239"/>
                </a:solidFill>
                <a:latin typeface="DM Sans"/>
                <a:ea typeface="DM Sans"/>
                <a:cs typeface="DM Sans"/>
                <a:sym typeface="DM Sans"/>
              </a:rPr>
              <a:t>Pengelolaan data manual menghambat evaluasi kedisiplinan oleh sekolah dan menunda penyampaian informasi kepada orang tua.</a:t>
            </a:r>
          </a:p>
        </p:txBody>
      </p:sp>
      <p:sp>
        <p:nvSpPr>
          <p:cNvPr name="TextBox 12" id="12"/>
          <p:cNvSpPr txBox="true"/>
          <p:nvPr/>
        </p:nvSpPr>
        <p:spPr>
          <a:xfrm rot="0">
            <a:off x="1143000" y="1911113"/>
            <a:ext cx="9049455"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Latar Belakang Masalah</a:t>
            </a:r>
          </a:p>
        </p:txBody>
      </p:sp>
      <p:sp>
        <p:nvSpPr>
          <p:cNvPr name="TextBox 13" id="13"/>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14" id="14"/>
          <p:cNvSpPr/>
          <p:nvPr/>
        </p:nvSpPr>
        <p:spPr>
          <a:xfrm flipH="false" flipV="false" rot="0">
            <a:off x="15232945" y="4902031"/>
            <a:ext cx="2883045" cy="4140891"/>
          </a:xfrm>
          <a:custGeom>
            <a:avLst/>
            <a:gdLst/>
            <a:ahLst/>
            <a:cxnLst/>
            <a:rect r="r" b="b" t="t" l="l"/>
            <a:pathLst>
              <a:path h="4140891" w="2883045">
                <a:moveTo>
                  <a:pt x="0" y="0"/>
                </a:moveTo>
                <a:lnTo>
                  <a:pt x="2883046" y="0"/>
                </a:lnTo>
                <a:lnTo>
                  <a:pt x="2883046" y="4140890"/>
                </a:lnTo>
                <a:lnTo>
                  <a:pt x="0" y="4140890"/>
                </a:lnTo>
                <a:lnTo>
                  <a:pt x="0" y="0"/>
                </a:lnTo>
                <a:close/>
              </a:path>
            </a:pathLst>
          </a:custGeom>
          <a:blipFill>
            <a:blip r:embed="rId6"/>
            <a:stretch>
              <a:fillRect l="0" t="0" r="0" b="-23775"/>
            </a:stretch>
          </a:blipFill>
        </p:spPr>
      </p:sp>
      <p:sp>
        <p:nvSpPr>
          <p:cNvPr name="Freeform 15" id="15"/>
          <p:cNvSpPr/>
          <p:nvPr/>
        </p:nvSpPr>
        <p:spPr>
          <a:xfrm flipH="false" flipV="false" rot="0">
            <a:off x="9002308" y="2099161"/>
            <a:ext cx="4645762" cy="2806214"/>
          </a:xfrm>
          <a:custGeom>
            <a:avLst/>
            <a:gdLst/>
            <a:ahLst/>
            <a:cxnLst/>
            <a:rect r="r" b="b" t="t" l="l"/>
            <a:pathLst>
              <a:path h="2806214" w="4645762">
                <a:moveTo>
                  <a:pt x="0" y="0"/>
                </a:moveTo>
                <a:lnTo>
                  <a:pt x="4645762" y="0"/>
                </a:lnTo>
                <a:lnTo>
                  <a:pt x="4645762" y="2806214"/>
                </a:lnTo>
                <a:lnTo>
                  <a:pt x="0" y="2806214"/>
                </a:lnTo>
                <a:lnTo>
                  <a:pt x="0" y="0"/>
                </a:lnTo>
                <a:close/>
              </a:path>
            </a:pathLst>
          </a:custGeom>
          <a:blipFill>
            <a:blip r:embed="rId7"/>
            <a:stretch>
              <a:fillRect l="-1156" t="0" r="-6227" b="0"/>
            </a:stretch>
          </a:blipFill>
        </p:spPr>
      </p:sp>
      <p:sp>
        <p:nvSpPr>
          <p:cNvPr name="Freeform 16" id="16"/>
          <p:cNvSpPr/>
          <p:nvPr/>
        </p:nvSpPr>
        <p:spPr>
          <a:xfrm flipH="false" flipV="false" rot="0">
            <a:off x="13635010" y="2099161"/>
            <a:ext cx="4480981" cy="2806214"/>
          </a:xfrm>
          <a:custGeom>
            <a:avLst/>
            <a:gdLst/>
            <a:ahLst/>
            <a:cxnLst/>
            <a:rect r="r" b="b" t="t" l="l"/>
            <a:pathLst>
              <a:path h="2806214" w="4480981">
                <a:moveTo>
                  <a:pt x="0" y="0"/>
                </a:moveTo>
                <a:lnTo>
                  <a:pt x="4480981" y="0"/>
                </a:lnTo>
                <a:lnTo>
                  <a:pt x="4480981" y="2806214"/>
                </a:lnTo>
                <a:lnTo>
                  <a:pt x="0" y="2806214"/>
                </a:lnTo>
                <a:lnTo>
                  <a:pt x="0" y="0"/>
                </a:lnTo>
                <a:close/>
              </a:path>
            </a:pathLst>
          </a:custGeom>
          <a:blipFill>
            <a:blip r:embed="rId8"/>
            <a:stretch>
              <a:fillRect l="0" t="0" r="0" b="0"/>
            </a:stretch>
          </a:blipFill>
        </p:spPr>
      </p:sp>
      <p:sp>
        <p:nvSpPr>
          <p:cNvPr name="Freeform 17" id="17"/>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9"/>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2868375"/>
            <a:ext cx="16002000" cy="28575"/>
            <a:chOff x="0" y="0"/>
            <a:chExt cx="21336000" cy="38100"/>
          </a:xfrm>
        </p:grpSpPr>
        <p:sp>
          <p:nvSpPr>
            <p:cNvPr name="Freeform 5" id="5"/>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grpSp>
        <p:nvGrpSpPr>
          <p:cNvPr name="Group 6" id="6"/>
          <p:cNvGrpSpPr/>
          <p:nvPr/>
        </p:nvGrpSpPr>
        <p:grpSpPr>
          <a:xfrm rot="0">
            <a:off x="1681820" y="3410540"/>
            <a:ext cx="14924361" cy="5966404"/>
            <a:chOff x="0" y="0"/>
            <a:chExt cx="3930696" cy="1571399"/>
          </a:xfrm>
        </p:grpSpPr>
        <p:sp>
          <p:nvSpPr>
            <p:cNvPr name="Freeform 7" id="7"/>
            <p:cNvSpPr/>
            <p:nvPr/>
          </p:nvSpPr>
          <p:spPr>
            <a:xfrm flipH="false" flipV="false" rot="0">
              <a:off x="0" y="0"/>
              <a:ext cx="3930696" cy="1571399"/>
            </a:xfrm>
            <a:custGeom>
              <a:avLst/>
              <a:gdLst/>
              <a:ahLst/>
              <a:cxnLst/>
              <a:rect r="r" b="b" t="t" l="l"/>
              <a:pathLst>
                <a:path h="1571399" w="3930696">
                  <a:moveTo>
                    <a:pt x="26456" y="0"/>
                  </a:moveTo>
                  <a:lnTo>
                    <a:pt x="3904240" y="0"/>
                  </a:lnTo>
                  <a:cubicBezTo>
                    <a:pt x="3918851" y="0"/>
                    <a:pt x="3930696" y="11845"/>
                    <a:pt x="3930696" y="26456"/>
                  </a:cubicBezTo>
                  <a:lnTo>
                    <a:pt x="3930696" y="1544943"/>
                  </a:lnTo>
                  <a:cubicBezTo>
                    <a:pt x="3930696" y="1559554"/>
                    <a:pt x="3918851" y="1571399"/>
                    <a:pt x="3904240" y="1571399"/>
                  </a:cubicBezTo>
                  <a:lnTo>
                    <a:pt x="26456" y="1571399"/>
                  </a:lnTo>
                  <a:cubicBezTo>
                    <a:pt x="11845" y="1571399"/>
                    <a:pt x="0" y="1559554"/>
                    <a:pt x="0" y="1544943"/>
                  </a:cubicBezTo>
                  <a:lnTo>
                    <a:pt x="0" y="26456"/>
                  </a:lnTo>
                  <a:cubicBezTo>
                    <a:pt x="0" y="11845"/>
                    <a:pt x="11845" y="0"/>
                    <a:pt x="26456" y="0"/>
                  </a:cubicBezTo>
                  <a:close/>
                </a:path>
              </a:pathLst>
            </a:custGeom>
            <a:solidFill>
              <a:srgbClr val="F1F5F9"/>
            </a:solidFill>
          </p:spPr>
        </p:sp>
        <p:sp>
          <p:nvSpPr>
            <p:cNvPr name="TextBox 8" id="8"/>
            <p:cNvSpPr txBox="true"/>
            <p:nvPr/>
          </p:nvSpPr>
          <p:spPr>
            <a:xfrm>
              <a:off x="0" y="-133350"/>
              <a:ext cx="3930696" cy="1704749"/>
            </a:xfrm>
            <a:prstGeom prst="rect">
              <a:avLst/>
            </a:prstGeom>
          </p:spPr>
          <p:txBody>
            <a:bodyPr anchor="ctr" rtlCol="false" tIns="50800" lIns="50800" bIns="50800" rIns="50800"/>
            <a:lstStyle/>
            <a:p>
              <a:pPr algn="ctr">
                <a:lnSpc>
                  <a:spcPts val="3887"/>
                </a:lnSpc>
              </a:pPr>
            </a:p>
          </p:txBody>
        </p:sp>
      </p:grpSp>
      <p:grpSp>
        <p:nvGrpSpPr>
          <p:cNvPr name="Group 9" id="9"/>
          <p:cNvGrpSpPr/>
          <p:nvPr/>
        </p:nvGrpSpPr>
        <p:grpSpPr>
          <a:xfrm rot="0">
            <a:off x="2304827" y="4794808"/>
            <a:ext cx="6140488" cy="3766611"/>
            <a:chOff x="0" y="0"/>
            <a:chExt cx="1617248" cy="992029"/>
          </a:xfrm>
        </p:grpSpPr>
        <p:sp>
          <p:nvSpPr>
            <p:cNvPr name="Freeform 10" id="10"/>
            <p:cNvSpPr/>
            <p:nvPr/>
          </p:nvSpPr>
          <p:spPr>
            <a:xfrm flipH="false" flipV="false" rot="0">
              <a:off x="0" y="0"/>
              <a:ext cx="1617248" cy="992029"/>
            </a:xfrm>
            <a:custGeom>
              <a:avLst/>
              <a:gdLst/>
              <a:ahLst/>
              <a:cxnLst/>
              <a:rect r="r" b="b" t="t" l="l"/>
              <a:pathLst>
                <a:path h="992029" w="1617248">
                  <a:moveTo>
                    <a:pt x="64301" y="0"/>
                  </a:moveTo>
                  <a:lnTo>
                    <a:pt x="1552947" y="0"/>
                  </a:lnTo>
                  <a:cubicBezTo>
                    <a:pt x="1570001" y="0"/>
                    <a:pt x="1586356" y="6775"/>
                    <a:pt x="1598415" y="18833"/>
                  </a:cubicBezTo>
                  <a:cubicBezTo>
                    <a:pt x="1610473" y="30892"/>
                    <a:pt x="1617248" y="47247"/>
                    <a:pt x="1617248" y="64301"/>
                  </a:cubicBezTo>
                  <a:lnTo>
                    <a:pt x="1617248" y="927729"/>
                  </a:lnTo>
                  <a:cubicBezTo>
                    <a:pt x="1617248" y="944782"/>
                    <a:pt x="1610473" y="961137"/>
                    <a:pt x="1598415" y="973196"/>
                  </a:cubicBezTo>
                  <a:cubicBezTo>
                    <a:pt x="1586356" y="985255"/>
                    <a:pt x="1570001" y="992029"/>
                    <a:pt x="1552947" y="992029"/>
                  </a:cubicBezTo>
                  <a:lnTo>
                    <a:pt x="64301" y="992029"/>
                  </a:lnTo>
                  <a:cubicBezTo>
                    <a:pt x="47247" y="992029"/>
                    <a:pt x="30892" y="985255"/>
                    <a:pt x="18833" y="973196"/>
                  </a:cubicBezTo>
                  <a:cubicBezTo>
                    <a:pt x="6775" y="961137"/>
                    <a:pt x="0" y="944782"/>
                    <a:pt x="0" y="927729"/>
                  </a:cubicBezTo>
                  <a:lnTo>
                    <a:pt x="0" y="64301"/>
                  </a:lnTo>
                  <a:cubicBezTo>
                    <a:pt x="0" y="47247"/>
                    <a:pt x="6775" y="30892"/>
                    <a:pt x="18833" y="18833"/>
                  </a:cubicBezTo>
                  <a:cubicBezTo>
                    <a:pt x="30892" y="6775"/>
                    <a:pt x="47247" y="0"/>
                    <a:pt x="64301" y="0"/>
                  </a:cubicBezTo>
                  <a:close/>
                </a:path>
              </a:pathLst>
            </a:custGeom>
            <a:solidFill>
              <a:srgbClr val="CFD7E7"/>
            </a:solidFill>
          </p:spPr>
        </p:sp>
        <p:sp>
          <p:nvSpPr>
            <p:cNvPr name="TextBox 11" id="11"/>
            <p:cNvSpPr txBox="true"/>
            <p:nvPr/>
          </p:nvSpPr>
          <p:spPr>
            <a:xfrm>
              <a:off x="0" y="-133350"/>
              <a:ext cx="1617248" cy="1125379"/>
            </a:xfrm>
            <a:prstGeom prst="rect">
              <a:avLst/>
            </a:prstGeom>
          </p:spPr>
          <p:txBody>
            <a:bodyPr anchor="ctr" rtlCol="false" tIns="50800" lIns="50800" bIns="50800" rIns="50800"/>
            <a:lstStyle/>
            <a:p>
              <a:pPr algn="ctr">
                <a:lnSpc>
                  <a:spcPts val="3887"/>
                </a:lnSpc>
              </a:pPr>
            </a:p>
          </p:txBody>
        </p:sp>
      </p:grpSp>
      <p:sp>
        <p:nvSpPr>
          <p:cNvPr name="TextBox 12" id="12"/>
          <p:cNvSpPr txBox="true"/>
          <p:nvPr/>
        </p:nvSpPr>
        <p:spPr>
          <a:xfrm rot="0">
            <a:off x="1143000" y="1911113"/>
            <a:ext cx="8325975"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Tuju</a:t>
            </a:r>
            <a:r>
              <a:rPr lang="en-US" b="true" sz="4725">
                <a:solidFill>
                  <a:srgbClr val="005088"/>
                </a:solidFill>
                <a:latin typeface="Merriweather Bold"/>
                <a:ea typeface="Merriweather Bold"/>
                <a:cs typeface="Merriweather Bold"/>
                <a:sym typeface="Merriweather Bold"/>
              </a:rPr>
              <a:t>an &amp; Manfaat</a:t>
            </a:r>
          </a:p>
        </p:txBody>
      </p:sp>
      <p:sp>
        <p:nvSpPr>
          <p:cNvPr name="TextBox 13" id="13"/>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TextBox 14" id="14"/>
          <p:cNvSpPr txBox="true"/>
          <p:nvPr/>
        </p:nvSpPr>
        <p:spPr>
          <a:xfrm rot="0">
            <a:off x="4469080" y="3842308"/>
            <a:ext cx="2050416" cy="619125"/>
          </a:xfrm>
          <a:prstGeom prst="rect">
            <a:avLst/>
          </a:prstGeom>
        </p:spPr>
        <p:txBody>
          <a:bodyPr anchor="t" rtlCol="false" tIns="0" lIns="0" bIns="0" rIns="0">
            <a:spAutoFit/>
          </a:bodyPr>
          <a:lstStyle/>
          <a:p>
            <a:pPr algn="l">
              <a:lnSpc>
                <a:spcPts val="4800"/>
              </a:lnSpc>
            </a:pPr>
            <a:r>
              <a:rPr lang="en-US" b="true" sz="4000">
                <a:solidFill>
                  <a:srgbClr val="334155"/>
                </a:solidFill>
                <a:latin typeface="Merriweather Bold"/>
                <a:ea typeface="Merriweather Bold"/>
                <a:cs typeface="Merriweather Bold"/>
                <a:sym typeface="Merriweather Bold"/>
              </a:rPr>
              <a:t>Tujuan</a:t>
            </a:r>
          </a:p>
        </p:txBody>
      </p:sp>
      <p:grpSp>
        <p:nvGrpSpPr>
          <p:cNvPr name="Group 15" id="15"/>
          <p:cNvGrpSpPr/>
          <p:nvPr/>
        </p:nvGrpSpPr>
        <p:grpSpPr>
          <a:xfrm rot="0">
            <a:off x="9850673" y="4794808"/>
            <a:ext cx="6140488" cy="3766611"/>
            <a:chOff x="0" y="0"/>
            <a:chExt cx="1617248" cy="992029"/>
          </a:xfrm>
        </p:grpSpPr>
        <p:sp>
          <p:nvSpPr>
            <p:cNvPr name="Freeform 16" id="16"/>
            <p:cNvSpPr/>
            <p:nvPr/>
          </p:nvSpPr>
          <p:spPr>
            <a:xfrm flipH="false" flipV="false" rot="0">
              <a:off x="0" y="0"/>
              <a:ext cx="1617248" cy="992029"/>
            </a:xfrm>
            <a:custGeom>
              <a:avLst/>
              <a:gdLst/>
              <a:ahLst/>
              <a:cxnLst/>
              <a:rect r="r" b="b" t="t" l="l"/>
              <a:pathLst>
                <a:path h="992029" w="1617248">
                  <a:moveTo>
                    <a:pt x="64301" y="0"/>
                  </a:moveTo>
                  <a:lnTo>
                    <a:pt x="1552947" y="0"/>
                  </a:lnTo>
                  <a:cubicBezTo>
                    <a:pt x="1570001" y="0"/>
                    <a:pt x="1586356" y="6775"/>
                    <a:pt x="1598415" y="18833"/>
                  </a:cubicBezTo>
                  <a:cubicBezTo>
                    <a:pt x="1610473" y="30892"/>
                    <a:pt x="1617248" y="47247"/>
                    <a:pt x="1617248" y="64301"/>
                  </a:cubicBezTo>
                  <a:lnTo>
                    <a:pt x="1617248" y="927729"/>
                  </a:lnTo>
                  <a:cubicBezTo>
                    <a:pt x="1617248" y="944782"/>
                    <a:pt x="1610473" y="961137"/>
                    <a:pt x="1598415" y="973196"/>
                  </a:cubicBezTo>
                  <a:cubicBezTo>
                    <a:pt x="1586356" y="985255"/>
                    <a:pt x="1570001" y="992029"/>
                    <a:pt x="1552947" y="992029"/>
                  </a:cubicBezTo>
                  <a:lnTo>
                    <a:pt x="64301" y="992029"/>
                  </a:lnTo>
                  <a:cubicBezTo>
                    <a:pt x="47247" y="992029"/>
                    <a:pt x="30892" y="985255"/>
                    <a:pt x="18833" y="973196"/>
                  </a:cubicBezTo>
                  <a:cubicBezTo>
                    <a:pt x="6775" y="961137"/>
                    <a:pt x="0" y="944782"/>
                    <a:pt x="0" y="927729"/>
                  </a:cubicBezTo>
                  <a:lnTo>
                    <a:pt x="0" y="64301"/>
                  </a:lnTo>
                  <a:cubicBezTo>
                    <a:pt x="0" y="47247"/>
                    <a:pt x="6775" y="30892"/>
                    <a:pt x="18833" y="18833"/>
                  </a:cubicBezTo>
                  <a:cubicBezTo>
                    <a:pt x="30892" y="6775"/>
                    <a:pt x="47247" y="0"/>
                    <a:pt x="64301" y="0"/>
                  </a:cubicBezTo>
                  <a:close/>
                </a:path>
              </a:pathLst>
            </a:custGeom>
            <a:solidFill>
              <a:srgbClr val="CFD7E7"/>
            </a:solidFill>
          </p:spPr>
        </p:sp>
        <p:sp>
          <p:nvSpPr>
            <p:cNvPr name="TextBox 17" id="17"/>
            <p:cNvSpPr txBox="true"/>
            <p:nvPr/>
          </p:nvSpPr>
          <p:spPr>
            <a:xfrm>
              <a:off x="0" y="-133350"/>
              <a:ext cx="1617248" cy="1125379"/>
            </a:xfrm>
            <a:prstGeom prst="rect">
              <a:avLst/>
            </a:prstGeom>
          </p:spPr>
          <p:txBody>
            <a:bodyPr anchor="ctr" rtlCol="false" tIns="50800" lIns="50800" bIns="50800" rIns="50800"/>
            <a:lstStyle/>
            <a:p>
              <a:pPr algn="ctr">
                <a:lnSpc>
                  <a:spcPts val="3887"/>
                </a:lnSpc>
              </a:pPr>
            </a:p>
          </p:txBody>
        </p:sp>
      </p:grpSp>
      <p:sp>
        <p:nvSpPr>
          <p:cNvPr name="TextBox 18" id="18"/>
          <p:cNvSpPr txBox="true"/>
          <p:nvPr/>
        </p:nvSpPr>
        <p:spPr>
          <a:xfrm rot="0">
            <a:off x="11851066" y="3842308"/>
            <a:ext cx="2433158" cy="619125"/>
          </a:xfrm>
          <a:prstGeom prst="rect">
            <a:avLst/>
          </a:prstGeom>
        </p:spPr>
        <p:txBody>
          <a:bodyPr anchor="t" rtlCol="false" tIns="0" lIns="0" bIns="0" rIns="0">
            <a:spAutoFit/>
          </a:bodyPr>
          <a:lstStyle/>
          <a:p>
            <a:pPr algn="l">
              <a:lnSpc>
                <a:spcPts val="4800"/>
              </a:lnSpc>
            </a:pPr>
            <a:r>
              <a:rPr lang="en-US" b="true" sz="4000">
                <a:solidFill>
                  <a:srgbClr val="334155"/>
                </a:solidFill>
                <a:latin typeface="Merriweather Bold"/>
                <a:ea typeface="Merriweather Bold"/>
                <a:cs typeface="Merriweather Bold"/>
                <a:sym typeface="Merriweather Bold"/>
              </a:rPr>
              <a:t>Manfaat</a:t>
            </a:r>
          </a:p>
        </p:txBody>
      </p:sp>
      <p:sp>
        <p:nvSpPr>
          <p:cNvPr name="TextBox 19" id="19"/>
          <p:cNvSpPr txBox="true"/>
          <p:nvPr/>
        </p:nvSpPr>
        <p:spPr>
          <a:xfrm rot="0">
            <a:off x="2743863" y="4925692"/>
            <a:ext cx="5262416" cy="3161157"/>
          </a:xfrm>
          <a:prstGeom prst="rect">
            <a:avLst/>
          </a:prstGeom>
        </p:spPr>
        <p:txBody>
          <a:bodyPr anchor="t" rtlCol="false" tIns="0" lIns="0" bIns="0" rIns="0">
            <a:spAutoFit/>
          </a:bodyPr>
          <a:lstStyle/>
          <a:p>
            <a:pPr algn="ctr">
              <a:lnSpc>
                <a:spcPts val="4223"/>
              </a:lnSpc>
            </a:pPr>
            <a:r>
              <a:rPr lang="en-US" sz="2199">
                <a:solidFill>
                  <a:srgbClr val="334155"/>
                </a:solidFill>
                <a:latin typeface="DM Sans"/>
                <a:ea typeface="DM Sans"/>
                <a:cs typeface="DM Sans"/>
                <a:sym typeface="DM Sans"/>
              </a:rPr>
              <a:t>Membangun aplikasi w</a:t>
            </a:r>
            <a:r>
              <a:rPr lang="en-US" sz="2199">
                <a:solidFill>
                  <a:srgbClr val="334155"/>
                </a:solidFill>
                <a:latin typeface="DM Sans"/>
                <a:ea typeface="DM Sans"/>
                <a:cs typeface="DM Sans"/>
                <a:sym typeface="DM Sans"/>
              </a:rPr>
              <a:t>eb ter</a:t>
            </a:r>
            <a:r>
              <a:rPr lang="en-US" sz="2199">
                <a:solidFill>
                  <a:srgbClr val="334155"/>
                </a:solidFill>
                <a:latin typeface="DM Sans"/>
                <a:ea typeface="DM Sans"/>
                <a:cs typeface="DM Sans"/>
                <a:sym typeface="DM Sans"/>
              </a:rPr>
              <a:t>padu untuk mendigitalisasi pencatatan pelanggaran, serta mengotomatisasi perhitungan poin dan pemicu Surat Peringatan (SP) ber</a:t>
            </a:r>
            <a:r>
              <a:rPr lang="en-US" sz="2199">
                <a:solidFill>
                  <a:srgbClr val="334155"/>
                </a:solidFill>
                <a:latin typeface="DM Sans"/>
                <a:ea typeface="DM Sans"/>
                <a:cs typeface="DM Sans"/>
                <a:sym typeface="DM Sans"/>
              </a:rPr>
              <a:t>dasarkan tiga kategori: Kelakuan, Kerajinan, dan Kerapian.</a:t>
            </a:r>
          </a:p>
        </p:txBody>
      </p:sp>
      <p:sp>
        <p:nvSpPr>
          <p:cNvPr name="TextBox 20" id="20"/>
          <p:cNvSpPr txBox="true"/>
          <p:nvPr/>
        </p:nvSpPr>
        <p:spPr>
          <a:xfrm rot="0">
            <a:off x="10289709" y="4945357"/>
            <a:ext cx="5262416" cy="3161157"/>
          </a:xfrm>
          <a:prstGeom prst="rect">
            <a:avLst/>
          </a:prstGeom>
        </p:spPr>
        <p:txBody>
          <a:bodyPr anchor="t" rtlCol="false" tIns="0" lIns="0" bIns="0" rIns="0">
            <a:spAutoFit/>
          </a:bodyPr>
          <a:lstStyle/>
          <a:p>
            <a:pPr algn="ctr">
              <a:lnSpc>
                <a:spcPts val="4223"/>
              </a:lnSpc>
            </a:pPr>
            <a:r>
              <a:rPr lang="en-US" sz="2199">
                <a:solidFill>
                  <a:srgbClr val="334155"/>
                </a:solidFill>
                <a:latin typeface="DM Sans"/>
                <a:ea typeface="DM Sans"/>
                <a:cs typeface="DM Sans"/>
                <a:sym typeface="DM Sans"/>
              </a:rPr>
              <a:t>Meringankan beban administrasi </a:t>
            </a:r>
            <a:r>
              <a:rPr lang="en-US" sz="2199">
                <a:solidFill>
                  <a:srgbClr val="334155"/>
                </a:solidFill>
                <a:latin typeface="DM Sans"/>
                <a:ea typeface="DM Sans"/>
                <a:cs typeface="DM Sans"/>
                <a:sym typeface="DM Sans"/>
              </a:rPr>
              <a:t>reka</a:t>
            </a:r>
            <a:r>
              <a:rPr lang="en-US" sz="2199">
                <a:solidFill>
                  <a:srgbClr val="334155"/>
                </a:solidFill>
                <a:latin typeface="DM Sans"/>
                <a:ea typeface="DM Sans"/>
                <a:cs typeface="DM Sans"/>
                <a:sym typeface="DM Sans"/>
              </a:rPr>
              <a:t>pitulasi data bagi tim kedisiplinan sekolah, serta menyediakan portal informasi yang transparan bagi orang tua un</a:t>
            </a:r>
            <a:r>
              <a:rPr lang="en-US" sz="2199">
                <a:solidFill>
                  <a:srgbClr val="334155"/>
                </a:solidFill>
                <a:latin typeface="DM Sans"/>
                <a:ea typeface="DM Sans"/>
                <a:cs typeface="DM Sans"/>
                <a:sym typeface="DM Sans"/>
              </a:rPr>
              <a:t>tuk memantau rekam jejak anak secara real-time.</a:t>
            </a:r>
          </a:p>
        </p:txBody>
      </p:sp>
      <p:sp>
        <p:nvSpPr>
          <p:cNvPr name="Freeform 21" id="21"/>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3305093"/>
            <a:ext cx="7643812" cy="5715000"/>
            <a:chOff x="0" y="0"/>
            <a:chExt cx="10191750" cy="7620000"/>
          </a:xfrm>
        </p:grpSpPr>
        <p:sp>
          <p:nvSpPr>
            <p:cNvPr name="Freeform 5" id="5"/>
            <p:cNvSpPr/>
            <p:nvPr/>
          </p:nvSpPr>
          <p:spPr>
            <a:xfrm flipH="false" flipV="false" rot="0">
              <a:off x="0" y="0"/>
              <a:ext cx="10191750" cy="7620000"/>
            </a:xfrm>
            <a:custGeom>
              <a:avLst/>
              <a:gdLst/>
              <a:ahLst/>
              <a:cxnLst/>
              <a:rect r="r" b="b" t="t" l="l"/>
              <a:pathLst>
                <a:path h="7620000" w="10191750">
                  <a:moveTo>
                    <a:pt x="0" y="0"/>
                  </a:moveTo>
                  <a:lnTo>
                    <a:pt x="10191750" y="0"/>
                  </a:lnTo>
                  <a:lnTo>
                    <a:pt x="10191750" y="7620000"/>
                  </a:lnTo>
                  <a:lnTo>
                    <a:pt x="0" y="7620000"/>
                  </a:lnTo>
                  <a:lnTo>
                    <a:pt x="0" y="0"/>
                  </a:lnTo>
                  <a:close/>
                </a:path>
              </a:pathLst>
            </a:custGeom>
            <a:blipFill>
              <a:blip r:embed="rId4"/>
              <a:stretch>
                <a:fillRect l="-9642" t="0" r="-23571" b="0"/>
              </a:stretch>
            </a:blipFill>
          </p:spPr>
        </p:sp>
      </p:grpSp>
      <p:grpSp>
        <p:nvGrpSpPr>
          <p:cNvPr name="Group 6" id="6"/>
          <p:cNvGrpSpPr/>
          <p:nvPr/>
        </p:nvGrpSpPr>
        <p:grpSpPr>
          <a:xfrm rot="0">
            <a:off x="1143000" y="2847893"/>
            <a:ext cx="16002000" cy="28575"/>
            <a:chOff x="0" y="0"/>
            <a:chExt cx="21336000" cy="38100"/>
          </a:xfrm>
        </p:grpSpPr>
        <p:sp>
          <p:nvSpPr>
            <p:cNvPr name="Freeform 7" id="7"/>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sp>
        <p:nvSpPr>
          <p:cNvPr name="TextBox 8" id="8"/>
          <p:cNvSpPr txBox="true"/>
          <p:nvPr/>
        </p:nvSpPr>
        <p:spPr>
          <a:xfrm rot="0">
            <a:off x="9501188" y="3329667"/>
            <a:ext cx="7643812" cy="5513451"/>
          </a:xfrm>
          <a:prstGeom prst="rect">
            <a:avLst/>
          </a:prstGeom>
        </p:spPr>
        <p:txBody>
          <a:bodyPr anchor="t" rtlCol="false" tIns="0" lIns="0" bIns="0" rIns="0">
            <a:spAutoFit/>
          </a:bodyPr>
          <a:lstStyle/>
          <a:p>
            <a:pPr algn="l">
              <a:lnSpc>
                <a:spcPts val="4032"/>
              </a:lnSpc>
            </a:pPr>
            <a:r>
              <a:rPr lang="en-US" b="true" sz="2100">
                <a:solidFill>
                  <a:srgbClr val="334155"/>
                </a:solidFill>
                <a:latin typeface="DM Sans Bold"/>
                <a:ea typeface="DM Sans Bold"/>
                <a:cs typeface="DM Sans Bold"/>
                <a:sym typeface="DM Sans Bold"/>
              </a:rPr>
              <a:t>Identitas:</a:t>
            </a:r>
          </a:p>
          <a:p>
            <a:pPr algn="l">
              <a:lnSpc>
                <a:spcPts val="4032"/>
              </a:lnSpc>
            </a:pPr>
            <a:r>
              <a:rPr lang="en-US" sz="2100">
                <a:solidFill>
                  <a:srgbClr val="334155"/>
                </a:solidFill>
                <a:latin typeface="DM Sans"/>
                <a:ea typeface="DM Sans"/>
                <a:cs typeface="DM Sans"/>
                <a:sym typeface="DM Sans"/>
              </a:rPr>
              <a:t>SMP Katolik Santa Maria 2 Malang adalah lembaga pendidikan menengah pertama swasta di bawah naungan Perkumpulan Dharmaputri (Kongregasi Suster SPM) yang mengedepankan pembentukan karakter peserta didik melalui motto "Unggul, Kasih, Bermartabat".</a:t>
            </a:r>
          </a:p>
          <a:p>
            <a:pPr algn="l">
              <a:lnSpc>
                <a:spcPts val="4032"/>
              </a:lnSpc>
            </a:pPr>
          </a:p>
          <a:p>
            <a:pPr algn="l">
              <a:lnSpc>
                <a:spcPts val="4032"/>
              </a:lnSpc>
            </a:pPr>
            <a:r>
              <a:rPr lang="en-US" b="true" sz="2100">
                <a:solidFill>
                  <a:srgbClr val="334155"/>
                </a:solidFill>
                <a:latin typeface="DM Sans Bold"/>
                <a:ea typeface="DM Sans Bold"/>
                <a:cs typeface="DM Sans Bold"/>
                <a:sym typeface="DM Sans Bold"/>
              </a:rPr>
              <a:t>Lokasi:</a:t>
            </a:r>
          </a:p>
          <a:p>
            <a:pPr algn="l">
              <a:lnSpc>
                <a:spcPts val="4032"/>
              </a:lnSpc>
            </a:pPr>
            <a:r>
              <a:rPr lang="en-US" sz="2100">
                <a:solidFill>
                  <a:srgbClr val="334155"/>
                </a:solidFill>
                <a:latin typeface="DM Sans"/>
                <a:ea typeface="DM Sans"/>
                <a:cs typeface="DM Sans"/>
                <a:sym typeface="DM Sans"/>
              </a:rPr>
              <a:t>Sekolah ini secara administratif berlokasi di Jalan Panderman No. 7A, Kelurahan Gading Kasri, Kecamatan Klojen, Kota Malang, Provinsi Jawa Timur, dengan kode pos 65115.</a:t>
            </a:r>
          </a:p>
        </p:txBody>
      </p:sp>
      <p:sp>
        <p:nvSpPr>
          <p:cNvPr name="TextBox 9" id="9"/>
          <p:cNvSpPr txBox="true"/>
          <p:nvPr/>
        </p:nvSpPr>
        <p:spPr>
          <a:xfrm rot="0">
            <a:off x="1143000" y="1890630"/>
            <a:ext cx="8181940"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Profil Mitra</a:t>
            </a:r>
          </a:p>
        </p:txBody>
      </p:sp>
      <p:sp>
        <p:nvSpPr>
          <p:cNvPr name="TextBox 10" id="10"/>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11" id="11"/>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4050506"/>
            <a:ext cx="5143500" cy="3600450"/>
            <a:chOff x="0" y="0"/>
            <a:chExt cx="6858000" cy="4800600"/>
          </a:xfrm>
        </p:grpSpPr>
        <p:sp>
          <p:nvSpPr>
            <p:cNvPr name="Freeform 5" id="5" descr="image.png"/>
            <p:cNvSpPr/>
            <p:nvPr/>
          </p:nvSpPr>
          <p:spPr>
            <a:xfrm flipH="false" flipV="false" rot="0">
              <a:off x="0" y="0"/>
              <a:ext cx="6858000" cy="4800600"/>
            </a:xfrm>
            <a:custGeom>
              <a:avLst/>
              <a:gdLst/>
              <a:ahLst/>
              <a:cxnLst/>
              <a:rect r="r" b="b" t="t" l="l"/>
              <a:pathLst>
                <a:path h="4800600" w="6858000">
                  <a:moveTo>
                    <a:pt x="0" y="0"/>
                  </a:moveTo>
                  <a:lnTo>
                    <a:pt x="6858000" y="0"/>
                  </a:lnTo>
                  <a:lnTo>
                    <a:pt x="6858000" y="4800600"/>
                  </a:lnTo>
                  <a:lnTo>
                    <a:pt x="0" y="4800600"/>
                  </a:lnTo>
                  <a:lnTo>
                    <a:pt x="0" y="0"/>
                  </a:lnTo>
                  <a:close/>
                </a:path>
              </a:pathLst>
            </a:custGeom>
            <a:blipFill>
              <a:blip r:embed="rId4"/>
              <a:stretch>
                <a:fillRect l="0" t="0" r="0" b="-396"/>
              </a:stretch>
            </a:blipFill>
          </p:spPr>
        </p:sp>
      </p:grpSp>
      <p:grpSp>
        <p:nvGrpSpPr>
          <p:cNvPr name="Group 6" id="6"/>
          <p:cNvGrpSpPr/>
          <p:nvPr/>
        </p:nvGrpSpPr>
        <p:grpSpPr>
          <a:xfrm rot="0">
            <a:off x="1514475" y="4479131"/>
            <a:ext cx="542925" cy="428625"/>
            <a:chOff x="0" y="0"/>
            <a:chExt cx="723900" cy="571500"/>
          </a:xfrm>
        </p:grpSpPr>
        <p:sp>
          <p:nvSpPr>
            <p:cNvPr name="Freeform 7" id="7" descr="image.png"/>
            <p:cNvSpPr/>
            <p:nvPr/>
          </p:nvSpPr>
          <p:spPr>
            <a:xfrm flipH="false" flipV="false" rot="0">
              <a:off x="0" y="0"/>
              <a:ext cx="723900" cy="571500"/>
            </a:xfrm>
            <a:custGeom>
              <a:avLst/>
              <a:gdLst/>
              <a:ahLst/>
              <a:cxnLst/>
              <a:rect r="r" b="b" t="t" l="l"/>
              <a:pathLst>
                <a:path h="571500" w="723900">
                  <a:moveTo>
                    <a:pt x="0" y="0"/>
                  </a:moveTo>
                  <a:lnTo>
                    <a:pt x="723900" y="0"/>
                  </a:lnTo>
                  <a:lnTo>
                    <a:pt x="723900" y="571500"/>
                  </a:lnTo>
                  <a:lnTo>
                    <a:pt x="0" y="571500"/>
                  </a:lnTo>
                  <a:lnTo>
                    <a:pt x="0" y="0"/>
                  </a:lnTo>
                  <a:close/>
                </a:path>
              </a:pathLst>
            </a:custGeom>
            <a:blipFill>
              <a:blip r:embed="rId5"/>
              <a:stretch>
                <a:fillRect l="0" t="0" r="0" b="-684"/>
              </a:stretch>
            </a:blipFill>
          </p:spPr>
        </p:sp>
      </p:grpSp>
      <p:grpSp>
        <p:nvGrpSpPr>
          <p:cNvPr name="Group 8" id="8"/>
          <p:cNvGrpSpPr/>
          <p:nvPr/>
        </p:nvGrpSpPr>
        <p:grpSpPr>
          <a:xfrm rot="0">
            <a:off x="1143000" y="3593306"/>
            <a:ext cx="16002000" cy="28575"/>
            <a:chOff x="0" y="0"/>
            <a:chExt cx="21336000" cy="38100"/>
          </a:xfrm>
        </p:grpSpPr>
        <p:sp>
          <p:nvSpPr>
            <p:cNvPr name="Freeform 9" id="9"/>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grpSp>
        <p:nvGrpSpPr>
          <p:cNvPr name="Group 10" id="10"/>
          <p:cNvGrpSpPr/>
          <p:nvPr/>
        </p:nvGrpSpPr>
        <p:grpSpPr>
          <a:xfrm rot="0">
            <a:off x="12001500" y="4050506"/>
            <a:ext cx="5143500" cy="3600450"/>
            <a:chOff x="0" y="0"/>
            <a:chExt cx="6858000" cy="4800600"/>
          </a:xfrm>
        </p:grpSpPr>
        <p:sp>
          <p:nvSpPr>
            <p:cNvPr name="Freeform 11" id="11" descr="image.png"/>
            <p:cNvSpPr/>
            <p:nvPr/>
          </p:nvSpPr>
          <p:spPr>
            <a:xfrm flipH="false" flipV="false" rot="0">
              <a:off x="0" y="0"/>
              <a:ext cx="6858000" cy="4800600"/>
            </a:xfrm>
            <a:custGeom>
              <a:avLst/>
              <a:gdLst/>
              <a:ahLst/>
              <a:cxnLst/>
              <a:rect r="r" b="b" t="t" l="l"/>
              <a:pathLst>
                <a:path h="4800600" w="6858000">
                  <a:moveTo>
                    <a:pt x="0" y="0"/>
                  </a:moveTo>
                  <a:lnTo>
                    <a:pt x="6858000" y="0"/>
                  </a:lnTo>
                  <a:lnTo>
                    <a:pt x="6858000" y="4800600"/>
                  </a:lnTo>
                  <a:lnTo>
                    <a:pt x="0" y="4800600"/>
                  </a:lnTo>
                  <a:lnTo>
                    <a:pt x="0" y="0"/>
                  </a:lnTo>
                  <a:close/>
                </a:path>
              </a:pathLst>
            </a:custGeom>
            <a:blipFill>
              <a:blip r:embed="rId4"/>
              <a:stretch>
                <a:fillRect l="0" t="0" r="0" b="-396"/>
              </a:stretch>
            </a:blipFill>
          </p:spPr>
        </p:sp>
      </p:grpSp>
      <p:grpSp>
        <p:nvGrpSpPr>
          <p:cNvPr name="Group 12" id="12"/>
          <p:cNvGrpSpPr/>
          <p:nvPr/>
        </p:nvGrpSpPr>
        <p:grpSpPr>
          <a:xfrm rot="0">
            <a:off x="12372975" y="4479131"/>
            <a:ext cx="485775" cy="428625"/>
            <a:chOff x="0" y="0"/>
            <a:chExt cx="647700" cy="571500"/>
          </a:xfrm>
        </p:grpSpPr>
        <p:sp>
          <p:nvSpPr>
            <p:cNvPr name="Freeform 13" id="13" descr="image.png"/>
            <p:cNvSpPr/>
            <p:nvPr/>
          </p:nvSpPr>
          <p:spPr>
            <a:xfrm flipH="false" flipV="false" rot="0">
              <a:off x="0" y="0"/>
              <a:ext cx="647700" cy="571500"/>
            </a:xfrm>
            <a:custGeom>
              <a:avLst/>
              <a:gdLst/>
              <a:ahLst/>
              <a:cxnLst/>
              <a:rect r="r" b="b" t="t" l="l"/>
              <a:pathLst>
                <a:path h="571500" w="647700">
                  <a:moveTo>
                    <a:pt x="0" y="0"/>
                  </a:moveTo>
                  <a:lnTo>
                    <a:pt x="647700" y="0"/>
                  </a:lnTo>
                  <a:lnTo>
                    <a:pt x="647700" y="571500"/>
                  </a:lnTo>
                  <a:lnTo>
                    <a:pt x="0" y="571500"/>
                  </a:lnTo>
                  <a:lnTo>
                    <a:pt x="0" y="0"/>
                  </a:lnTo>
                  <a:close/>
                </a:path>
              </a:pathLst>
            </a:custGeom>
            <a:blipFill>
              <a:blip r:embed="rId6"/>
              <a:stretch>
                <a:fillRect l="0" t="0" r="0" b="-3333"/>
              </a:stretch>
            </a:blipFill>
          </p:spPr>
        </p:sp>
      </p:grpSp>
      <p:grpSp>
        <p:nvGrpSpPr>
          <p:cNvPr name="Group 14" id="14"/>
          <p:cNvGrpSpPr/>
          <p:nvPr/>
        </p:nvGrpSpPr>
        <p:grpSpPr>
          <a:xfrm rot="0">
            <a:off x="6572250" y="4050506"/>
            <a:ext cx="5143500" cy="3600450"/>
            <a:chOff x="0" y="0"/>
            <a:chExt cx="6858000" cy="4800600"/>
          </a:xfrm>
        </p:grpSpPr>
        <p:sp>
          <p:nvSpPr>
            <p:cNvPr name="Freeform 15" id="15" descr="image.png"/>
            <p:cNvSpPr/>
            <p:nvPr/>
          </p:nvSpPr>
          <p:spPr>
            <a:xfrm flipH="false" flipV="false" rot="0">
              <a:off x="0" y="0"/>
              <a:ext cx="6858000" cy="4800600"/>
            </a:xfrm>
            <a:custGeom>
              <a:avLst/>
              <a:gdLst/>
              <a:ahLst/>
              <a:cxnLst/>
              <a:rect r="r" b="b" t="t" l="l"/>
              <a:pathLst>
                <a:path h="4800600" w="6858000">
                  <a:moveTo>
                    <a:pt x="0" y="0"/>
                  </a:moveTo>
                  <a:lnTo>
                    <a:pt x="6858000" y="0"/>
                  </a:lnTo>
                  <a:lnTo>
                    <a:pt x="6858000" y="4800600"/>
                  </a:lnTo>
                  <a:lnTo>
                    <a:pt x="0" y="4800600"/>
                  </a:lnTo>
                  <a:lnTo>
                    <a:pt x="0" y="0"/>
                  </a:lnTo>
                  <a:close/>
                </a:path>
              </a:pathLst>
            </a:custGeom>
            <a:blipFill>
              <a:blip r:embed="rId4"/>
              <a:stretch>
                <a:fillRect l="0" t="0" r="0" b="-396"/>
              </a:stretch>
            </a:blipFill>
          </p:spPr>
        </p:sp>
      </p:grpSp>
      <p:grpSp>
        <p:nvGrpSpPr>
          <p:cNvPr name="Group 16" id="16"/>
          <p:cNvGrpSpPr/>
          <p:nvPr/>
        </p:nvGrpSpPr>
        <p:grpSpPr>
          <a:xfrm rot="0">
            <a:off x="6943725" y="4479131"/>
            <a:ext cx="485775" cy="428625"/>
            <a:chOff x="0" y="0"/>
            <a:chExt cx="647700" cy="571500"/>
          </a:xfrm>
        </p:grpSpPr>
        <p:sp>
          <p:nvSpPr>
            <p:cNvPr name="Freeform 17" id="17" descr="image.png"/>
            <p:cNvSpPr/>
            <p:nvPr/>
          </p:nvSpPr>
          <p:spPr>
            <a:xfrm flipH="false" flipV="false" rot="0">
              <a:off x="0" y="0"/>
              <a:ext cx="647700" cy="571500"/>
            </a:xfrm>
            <a:custGeom>
              <a:avLst/>
              <a:gdLst/>
              <a:ahLst/>
              <a:cxnLst/>
              <a:rect r="r" b="b" t="t" l="l"/>
              <a:pathLst>
                <a:path h="571500" w="647700">
                  <a:moveTo>
                    <a:pt x="0" y="0"/>
                  </a:moveTo>
                  <a:lnTo>
                    <a:pt x="647700" y="0"/>
                  </a:lnTo>
                  <a:lnTo>
                    <a:pt x="647700" y="571500"/>
                  </a:lnTo>
                  <a:lnTo>
                    <a:pt x="0" y="571500"/>
                  </a:lnTo>
                  <a:lnTo>
                    <a:pt x="0" y="0"/>
                  </a:lnTo>
                  <a:close/>
                </a:path>
              </a:pathLst>
            </a:custGeom>
            <a:blipFill>
              <a:blip r:embed="rId7"/>
              <a:stretch>
                <a:fillRect l="0" t="0" r="0" b="-379"/>
              </a:stretch>
            </a:blipFill>
          </p:spPr>
        </p:sp>
      </p:grpSp>
      <p:sp>
        <p:nvSpPr>
          <p:cNvPr name="Freeform 18" id="18"/>
          <p:cNvSpPr/>
          <p:nvPr/>
        </p:nvSpPr>
        <p:spPr>
          <a:xfrm flipH="false" flipV="false" rot="0">
            <a:off x="5032362" y="4372861"/>
            <a:ext cx="1040922" cy="641166"/>
          </a:xfrm>
          <a:custGeom>
            <a:avLst/>
            <a:gdLst/>
            <a:ahLst/>
            <a:cxnLst/>
            <a:rect r="r" b="b" t="t" l="l"/>
            <a:pathLst>
              <a:path h="641166" w="1040922">
                <a:moveTo>
                  <a:pt x="0" y="0"/>
                </a:moveTo>
                <a:lnTo>
                  <a:pt x="1040921" y="0"/>
                </a:lnTo>
                <a:lnTo>
                  <a:pt x="1040921" y="641166"/>
                </a:lnTo>
                <a:lnTo>
                  <a:pt x="0" y="641166"/>
                </a:lnTo>
                <a:lnTo>
                  <a:pt x="0" y="0"/>
                </a:lnTo>
                <a:close/>
              </a:path>
            </a:pathLst>
          </a:custGeom>
          <a:blipFill>
            <a:blip r:embed="rId8"/>
            <a:stretch>
              <a:fillRect l="0" t="0" r="0" b="-1467"/>
            </a:stretch>
          </a:blipFill>
        </p:spPr>
      </p:sp>
      <p:sp>
        <p:nvSpPr>
          <p:cNvPr name="Freeform 19" id="19"/>
          <p:cNvSpPr/>
          <p:nvPr/>
        </p:nvSpPr>
        <p:spPr>
          <a:xfrm flipH="false" flipV="false" rot="0">
            <a:off x="10534463" y="4372861"/>
            <a:ext cx="1029839" cy="749208"/>
          </a:xfrm>
          <a:custGeom>
            <a:avLst/>
            <a:gdLst/>
            <a:ahLst/>
            <a:cxnLst/>
            <a:rect r="r" b="b" t="t" l="l"/>
            <a:pathLst>
              <a:path h="749208" w="1029839">
                <a:moveTo>
                  <a:pt x="0" y="0"/>
                </a:moveTo>
                <a:lnTo>
                  <a:pt x="1029839" y="0"/>
                </a:lnTo>
                <a:lnTo>
                  <a:pt x="1029839" y="749208"/>
                </a:lnTo>
                <a:lnTo>
                  <a:pt x="0" y="749208"/>
                </a:lnTo>
                <a:lnTo>
                  <a:pt x="0" y="0"/>
                </a:lnTo>
                <a:close/>
              </a:path>
            </a:pathLst>
          </a:custGeom>
          <a:blipFill>
            <a:blip r:embed="rId9"/>
            <a:stretch>
              <a:fillRect l="0" t="0" r="0" b="0"/>
            </a:stretch>
          </a:blipFill>
        </p:spPr>
      </p:sp>
      <p:sp>
        <p:nvSpPr>
          <p:cNvPr name="Freeform 20" id="20"/>
          <p:cNvSpPr/>
          <p:nvPr/>
        </p:nvSpPr>
        <p:spPr>
          <a:xfrm flipH="false" flipV="false" rot="0">
            <a:off x="16125422" y="4552545"/>
            <a:ext cx="868131" cy="389840"/>
          </a:xfrm>
          <a:custGeom>
            <a:avLst/>
            <a:gdLst/>
            <a:ahLst/>
            <a:cxnLst/>
            <a:rect r="r" b="b" t="t" l="l"/>
            <a:pathLst>
              <a:path h="389840" w="868131">
                <a:moveTo>
                  <a:pt x="0" y="0"/>
                </a:moveTo>
                <a:lnTo>
                  <a:pt x="868131" y="0"/>
                </a:lnTo>
                <a:lnTo>
                  <a:pt x="868131" y="389840"/>
                </a:lnTo>
                <a:lnTo>
                  <a:pt x="0" y="389840"/>
                </a:lnTo>
                <a:lnTo>
                  <a:pt x="0" y="0"/>
                </a:lnTo>
                <a:close/>
              </a:path>
            </a:pathLst>
          </a:custGeom>
          <a:blipFill>
            <a:blip r:embed="rId10"/>
            <a:stretch>
              <a:fillRect l="-18130" t="-107311" r="-18507" b="-120371"/>
            </a:stretch>
          </a:blipFill>
        </p:spPr>
      </p:sp>
      <p:sp>
        <p:nvSpPr>
          <p:cNvPr name="TextBox 21" id="21"/>
          <p:cNvSpPr txBox="true"/>
          <p:nvPr/>
        </p:nvSpPr>
        <p:spPr>
          <a:xfrm rot="0">
            <a:off x="1514475" y="5122069"/>
            <a:ext cx="2977568" cy="342900"/>
          </a:xfrm>
          <a:prstGeom prst="rect">
            <a:avLst/>
          </a:prstGeom>
        </p:spPr>
        <p:txBody>
          <a:bodyPr anchor="t" rtlCol="false" tIns="0" lIns="0" bIns="0" rIns="0">
            <a:spAutoFit/>
          </a:bodyPr>
          <a:lstStyle/>
          <a:p>
            <a:pPr algn="l">
              <a:lnSpc>
                <a:spcPts val="2700"/>
              </a:lnSpc>
            </a:pPr>
            <a:r>
              <a:rPr lang="en-US" b="true" sz="2250">
                <a:solidFill>
                  <a:srgbClr val="005088"/>
                </a:solidFill>
                <a:latin typeface="Merriweather Bold"/>
                <a:ea typeface="Merriweather Bold"/>
                <a:cs typeface="Merriweather Bold"/>
                <a:sym typeface="Merriweather Bold"/>
              </a:rPr>
              <a:t>PHP</a:t>
            </a:r>
            <a:r>
              <a:rPr lang="en-US" b="true" sz="2250">
                <a:solidFill>
                  <a:srgbClr val="005088"/>
                </a:solidFill>
                <a:latin typeface="Merriweather Bold"/>
                <a:ea typeface="Merriweather Bold"/>
                <a:cs typeface="Merriweather Bold"/>
                <a:sym typeface="Merriweather Bold"/>
              </a:rPr>
              <a:t> &amp; MySQL</a:t>
            </a:r>
          </a:p>
        </p:txBody>
      </p:sp>
      <p:sp>
        <p:nvSpPr>
          <p:cNvPr name="TextBox 22" id="22"/>
          <p:cNvSpPr txBox="true"/>
          <p:nvPr/>
        </p:nvSpPr>
        <p:spPr>
          <a:xfrm rot="0">
            <a:off x="1514475" y="5469731"/>
            <a:ext cx="4558808" cy="1979676"/>
          </a:xfrm>
          <a:prstGeom prst="rect">
            <a:avLst/>
          </a:prstGeom>
        </p:spPr>
        <p:txBody>
          <a:bodyPr anchor="t" rtlCol="false" tIns="0" lIns="0" bIns="0" rIns="0">
            <a:spAutoFit/>
          </a:bodyPr>
          <a:lstStyle/>
          <a:p>
            <a:pPr algn="just">
              <a:lnSpc>
                <a:spcPts val="4032"/>
              </a:lnSpc>
            </a:pPr>
            <a:r>
              <a:rPr lang="en-US" sz="2100">
                <a:solidFill>
                  <a:srgbClr val="334155"/>
                </a:solidFill>
                <a:latin typeface="DM Sans"/>
                <a:ea typeface="DM Sans"/>
                <a:cs typeface="DM Sans"/>
                <a:sym typeface="DM Sans"/>
              </a:rPr>
              <a:t>Bahasa pemrograman dan database relasional untuk memproses logika perhitungan poin serta menyimpan data sekolah secara aman.</a:t>
            </a:r>
          </a:p>
        </p:txBody>
      </p:sp>
      <p:sp>
        <p:nvSpPr>
          <p:cNvPr name="TextBox 23" id="23"/>
          <p:cNvSpPr txBox="true"/>
          <p:nvPr/>
        </p:nvSpPr>
        <p:spPr>
          <a:xfrm rot="0">
            <a:off x="1143000" y="2636044"/>
            <a:ext cx="12115949"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Landasan Teori &amp; Teknologi</a:t>
            </a:r>
          </a:p>
        </p:txBody>
      </p:sp>
      <p:sp>
        <p:nvSpPr>
          <p:cNvPr name="TextBox 24" id="24"/>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TextBox 25" id="25"/>
          <p:cNvSpPr txBox="true"/>
          <p:nvPr/>
        </p:nvSpPr>
        <p:spPr>
          <a:xfrm rot="0">
            <a:off x="12372975" y="5122069"/>
            <a:ext cx="2597293" cy="342900"/>
          </a:xfrm>
          <a:prstGeom prst="rect">
            <a:avLst/>
          </a:prstGeom>
        </p:spPr>
        <p:txBody>
          <a:bodyPr anchor="t" rtlCol="false" tIns="0" lIns="0" bIns="0" rIns="0">
            <a:spAutoFit/>
          </a:bodyPr>
          <a:lstStyle/>
          <a:p>
            <a:pPr algn="l">
              <a:lnSpc>
                <a:spcPts val="2700"/>
              </a:lnSpc>
            </a:pPr>
            <a:r>
              <a:rPr lang="en-US" b="true" sz="2250">
                <a:solidFill>
                  <a:srgbClr val="005088"/>
                </a:solidFill>
                <a:latin typeface="Merriweather Bold"/>
                <a:ea typeface="Merriweather Bold"/>
                <a:cs typeface="Merriweather Bold"/>
                <a:sym typeface="Merriweather Bold"/>
              </a:rPr>
              <a:t>Metode RAD</a:t>
            </a:r>
          </a:p>
        </p:txBody>
      </p:sp>
      <p:sp>
        <p:nvSpPr>
          <p:cNvPr name="TextBox 26" id="26"/>
          <p:cNvSpPr txBox="true"/>
          <p:nvPr/>
        </p:nvSpPr>
        <p:spPr>
          <a:xfrm rot="0">
            <a:off x="12372975" y="5469731"/>
            <a:ext cx="4400550" cy="1979676"/>
          </a:xfrm>
          <a:prstGeom prst="rect">
            <a:avLst/>
          </a:prstGeom>
        </p:spPr>
        <p:txBody>
          <a:bodyPr anchor="t" rtlCol="false" tIns="0" lIns="0" bIns="0" rIns="0">
            <a:spAutoFit/>
          </a:bodyPr>
          <a:lstStyle/>
          <a:p>
            <a:pPr algn="just">
              <a:lnSpc>
                <a:spcPts val="4032"/>
              </a:lnSpc>
            </a:pPr>
            <a:r>
              <a:rPr lang="en-US" sz="2100">
                <a:solidFill>
                  <a:srgbClr val="334155"/>
                </a:solidFill>
                <a:latin typeface="DM Sans"/>
                <a:ea typeface="DM Sans"/>
                <a:cs typeface="DM Sans"/>
                <a:sym typeface="DM Sans"/>
              </a:rPr>
              <a:t>Meto</a:t>
            </a:r>
            <a:r>
              <a:rPr lang="en-US" sz="2100">
                <a:solidFill>
                  <a:srgbClr val="334155"/>
                </a:solidFill>
                <a:latin typeface="DM Sans"/>
                <a:ea typeface="DM Sans"/>
                <a:cs typeface="DM Sans"/>
                <a:sym typeface="DM Sans"/>
              </a:rPr>
              <a:t>de</a:t>
            </a:r>
            <a:r>
              <a:rPr lang="en-US" sz="2100">
                <a:solidFill>
                  <a:srgbClr val="334155"/>
                </a:solidFill>
                <a:latin typeface="DM Sans"/>
                <a:ea typeface="DM Sans"/>
                <a:cs typeface="DM Sans"/>
                <a:sym typeface="DM Sans"/>
              </a:rPr>
              <a:t> peng</a:t>
            </a:r>
            <a:r>
              <a:rPr lang="en-US" sz="2100">
                <a:solidFill>
                  <a:srgbClr val="334155"/>
                </a:solidFill>
                <a:latin typeface="DM Sans"/>
                <a:ea typeface="DM Sans"/>
                <a:cs typeface="DM Sans"/>
                <a:sym typeface="DM Sans"/>
              </a:rPr>
              <a:t>embang</a:t>
            </a:r>
            <a:r>
              <a:rPr lang="en-US" sz="2100">
                <a:solidFill>
                  <a:srgbClr val="334155"/>
                </a:solidFill>
                <a:latin typeface="DM Sans"/>
                <a:ea typeface="DM Sans"/>
                <a:cs typeface="DM Sans"/>
                <a:sym typeface="DM Sans"/>
              </a:rPr>
              <a:t>an per</a:t>
            </a:r>
            <a:r>
              <a:rPr lang="en-US" sz="2100">
                <a:solidFill>
                  <a:srgbClr val="334155"/>
                </a:solidFill>
                <a:latin typeface="DM Sans"/>
                <a:ea typeface="DM Sans"/>
                <a:cs typeface="DM Sans"/>
                <a:sym typeface="DM Sans"/>
              </a:rPr>
              <a:t>angkat </a:t>
            </a:r>
            <a:r>
              <a:rPr lang="en-US" sz="2100">
                <a:solidFill>
                  <a:srgbClr val="334155"/>
                </a:solidFill>
                <a:latin typeface="DM Sans"/>
                <a:ea typeface="DM Sans"/>
                <a:cs typeface="DM Sans"/>
                <a:sym typeface="DM Sans"/>
              </a:rPr>
              <a:t>luna</a:t>
            </a:r>
            <a:r>
              <a:rPr lang="en-US" sz="2100">
                <a:solidFill>
                  <a:srgbClr val="334155"/>
                </a:solidFill>
                <a:latin typeface="DM Sans"/>
                <a:ea typeface="DM Sans"/>
                <a:cs typeface="DM Sans"/>
                <a:sym typeface="DM Sans"/>
              </a:rPr>
              <a:t>k dengan siklus pengerjaan yang singkat dan cepat melalui pelibatan aktif pengguna. </a:t>
            </a:r>
          </a:p>
        </p:txBody>
      </p:sp>
      <p:sp>
        <p:nvSpPr>
          <p:cNvPr name="TextBox 27" id="27"/>
          <p:cNvSpPr txBox="true"/>
          <p:nvPr/>
        </p:nvSpPr>
        <p:spPr>
          <a:xfrm rot="0">
            <a:off x="6943725" y="5122069"/>
            <a:ext cx="4620578" cy="357188"/>
          </a:xfrm>
          <a:prstGeom prst="rect">
            <a:avLst/>
          </a:prstGeom>
        </p:spPr>
        <p:txBody>
          <a:bodyPr anchor="t" rtlCol="false" tIns="0" lIns="0" bIns="0" rIns="0">
            <a:spAutoFit/>
          </a:bodyPr>
          <a:lstStyle/>
          <a:p>
            <a:pPr algn="l">
              <a:lnSpc>
                <a:spcPts val="2700"/>
              </a:lnSpc>
            </a:pPr>
            <a:r>
              <a:rPr lang="en-US" b="true" sz="2250">
                <a:solidFill>
                  <a:srgbClr val="005088"/>
                </a:solidFill>
                <a:latin typeface="Merriweather Bold"/>
                <a:ea typeface="Merriweather Bold"/>
                <a:cs typeface="Merriweather Bold"/>
                <a:sym typeface="Merriweather Bold"/>
              </a:rPr>
              <a:t>UML Modeling</a:t>
            </a:r>
          </a:p>
        </p:txBody>
      </p:sp>
      <p:sp>
        <p:nvSpPr>
          <p:cNvPr name="TextBox 28" id="28"/>
          <p:cNvSpPr txBox="true"/>
          <p:nvPr/>
        </p:nvSpPr>
        <p:spPr>
          <a:xfrm rot="0">
            <a:off x="6943725" y="5469731"/>
            <a:ext cx="4400550" cy="1979676"/>
          </a:xfrm>
          <a:prstGeom prst="rect">
            <a:avLst/>
          </a:prstGeom>
        </p:spPr>
        <p:txBody>
          <a:bodyPr anchor="t" rtlCol="false" tIns="0" lIns="0" bIns="0" rIns="0">
            <a:spAutoFit/>
          </a:bodyPr>
          <a:lstStyle/>
          <a:p>
            <a:pPr algn="just">
              <a:lnSpc>
                <a:spcPts val="4032"/>
              </a:lnSpc>
            </a:pPr>
            <a:r>
              <a:rPr lang="en-US" sz="2100">
                <a:solidFill>
                  <a:srgbClr val="334155"/>
                </a:solidFill>
                <a:latin typeface="DM Sans"/>
                <a:ea typeface="DM Sans"/>
                <a:cs typeface="DM Sans"/>
                <a:sym typeface="DM Sans"/>
              </a:rPr>
              <a:t>S</a:t>
            </a:r>
            <a:r>
              <a:rPr lang="en-US" sz="2100">
                <a:solidFill>
                  <a:srgbClr val="334155"/>
                </a:solidFill>
                <a:latin typeface="DM Sans"/>
                <a:ea typeface="DM Sans"/>
                <a:cs typeface="DM Sans"/>
                <a:sym typeface="DM Sans"/>
              </a:rPr>
              <a:t>tandar pemodelan visual untuk merancang kerangka arsitektur, pembagian hak akse</a:t>
            </a:r>
            <a:r>
              <a:rPr lang="en-US" sz="2100">
                <a:solidFill>
                  <a:srgbClr val="334155"/>
                </a:solidFill>
                <a:latin typeface="DM Sans"/>
                <a:ea typeface="DM Sans"/>
                <a:cs typeface="DM Sans"/>
                <a:sym typeface="DM Sans"/>
              </a:rPr>
              <a:t>s</a:t>
            </a:r>
            <a:r>
              <a:rPr lang="en-US" sz="2100">
                <a:solidFill>
                  <a:srgbClr val="334155"/>
                </a:solidFill>
                <a:latin typeface="DM Sans"/>
                <a:ea typeface="DM Sans"/>
                <a:cs typeface="DM Sans"/>
                <a:sym typeface="DM Sans"/>
              </a:rPr>
              <a:t> pe</a:t>
            </a:r>
            <a:r>
              <a:rPr lang="en-US" sz="2100">
                <a:solidFill>
                  <a:srgbClr val="334155"/>
                </a:solidFill>
                <a:latin typeface="DM Sans"/>
                <a:ea typeface="DM Sans"/>
                <a:cs typeface="DM Sans"/>
                <a:sym typeface="DM Sans"/>
              </a:rPr>
              <a:t>n</a:t>
            </a:r>
            <a:r>
              <a:rPr lang="en-US" sz="2100">
                <a:solidFill>
                  <a:srgbClr val="334155"/>
                </a:solidFill>
                <a:latin typeface="DM Sans"/>
                <a:ea typeface="DM Sans"/>
                <a:cs typeface="DM Sans"/>
                <a:sym typeface="DM Sans"/>
              </a:rPr>
              <a:t>gguna, dan alur kerja sistem.</a:t>
            </a:r>
          </a:p>
        </p:txBody>
      </p:sp>
      <p:sp>
        <p:nvSpPr>
          <p:cNvPr name="Freeform 29" id="29"/>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11"/>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2847893"/>
            <a:ext cx="16002000" cy="28575"/>
            <a:chOff x="0" y="0"/>
            <a:chExt cx="21336000" cy="38100"/>
          </a:xfrm>
        </p:grpSpPr>
        <p:sp>
          <p:nvSpPr>
            <p:cNvPr name="Freeform 5" id="5"/>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sp>
        <p:nvSpPr>
          <p:cNvPr name="TextBox 6" id="6"/>
          <p:cNvSpPr txBox="true"/>
          <p:nvPr/>
        </p:nvSpPr>
        <p:spPr>
          <a:xfrm rot="0">
            <a:off x="1143000" y="1890630"/>
            <a:ext cx="11903021"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Met</a:t>
            </a:r>
            <a:r>
              <a:rPr lang="en-US" b="true" sz="4725">
                <a:solidFill>
                  <a:srgbClr val="005088"/>
                </a:solidFill>
                <a:latin typeface="Merriweather Bold"/>
                <a:ea typeface="Merriweather Bold"/>
                <a:cs typeface="Merriweather Bold"/>
                <a:sym typeface="Merriweather Bold"/>
              </a:rPr>
              <a:t>odologi Pengembangan</a:t>
            </a:r>
          </a:p>
        </p:txBody>
      </p:sp>
      <p:sp>
        <p:nvSpPr>
          <p:cNvPr name="TextBox 7" id="7"/>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8" id="8"/>
          <p:cNvSpPr/>
          <p:nvPr/>
        </p:nvSpPr>
        <p:spPr>
          <a:xfrm flipH="false" flipV="false" rot="0">
            <a:off x="7375498" y="5442452"/>
            <a:ext cx="4305549" cy="3773227"/>
          </a:xfrm>
          <a:custGeom>
            <a:avLst/>
            <a:gdLst/>
            <a:ahLst/>
            <a:cxnLst/>
            <a:rect r="r" b="b" t="t" l="l"/>
            <a:pathLst>
              <a:path h="3773227" w="4305549">
                <a:moveTo>
                  <a:pt x="0" y="0"/>
                </a:moveTo>
                <a:lnTo>
                  <a:pt x="4305549" y="0"/>
                </a:lnTo>
                <a:lnTo>
                  <a:pt x="4305549" y="3773227"/>
                </a:lnTo>
                <a:lnTo>
                  <a:pt x="0" y="3773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6820998" y="4036976"/>
            <a:ext cx="4686822" cy="4558256"/>
          </a:xfrm>
          <a:custGeom>
            <a:avLst/>
            <a:gdLst/>
            <a:ahLst/>
            <a:cxnLst/>
            <a:rect r="r" b="b" t="t" l="l"/>
            <a:pathLst>
              <a:path h="4558256" w="4686822">
                <a:moveTo>
                  <a:pt x="0" y="0"/>
                </a:moveTo>
                <a:lnTo>
                  <a:pt x="4686823" y="0"/>
                </a:lnTo>
                <a:lnTo>
                  <a:pt x="4686823" y="4558256"/>
                </a:lnTo>
                <a:lnTo>
                  <a:pt x="0" y="45582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143000" y="3982374"/>
            <a:ext cx="5149752" cy="1979676"/>
          </a:xfrm>
          <a:prstGeom prst="rect">
            <a:avLst/>
          </a:prstGeom>
        </p:spPr>
        <p:txBody>
          <a:bodyPr anchor="t" rtlCol="false" tIns="0" lIns="0" bIns="0" rIns="0">
            <a:spAutoFit/>
          </a:bodyPr>
          <a:lstStyle/>
          <a:p>
            <a:pPr algn="just">
              <a:lnSpc>
                <a:spcPts val="4032"/>
              </a:lnSpc>
            </a:pPr>
            <a:r>
              <a:rPr lang="en-US" sz="2100">
                <a:solidFill>
                  <a:srgbClr val="334155"/>
                </a:solidFill>
                <a:latin typeface="DM Sans"/>
                <a:ea typeface="DM Sans"/>
                <a:cs typeface="DM Sans"/>
                <a:sym typeface="DM Sans"/>
              </a:rPr>
              <a:t>Identifik</a:t>
            </a:r>
            <a:r>
              <a:rPr lang="en-US" sz="2100">
                <a:solidFill>
                  <a:srgbClr val="334155"/>
                </a:solidFill>
                <a:latin typeface="DM Sans"/>
                <a:ea typeface="DM Sans"/>
                <a:cs typeface="DM Sans"/>
                <a:sym typeface="DM Sans"/>
              </a:rPr>
              <a:t>asi kebutuhan melalui observasi dan wawancara dengan Tim Tatibsi untuk memetakan masalah pencatatan manual dan aturan poin sekolah.</a:t>
            </a:r>
          </a:p>
        </p:txBody>
      </p:sp>
      <p:sp>
        <p:nvSpPr>
          <p:cNvPr name="TextBox 11" id="11"/>
          <p:cNvSpPr txBox="true"/>
          <p:nvPr/>
        </p:nvSpPr>
        <p:spPr>
          <a:xfrm rot="0">
            <a:off x="1198073" y="7170175"/>
            <a:ext cx="5185214" cy="2484501"/>
          </a:xfrm>
          <a:prstGeom prst="rect">
            <a:avLst/>
          </a:prstGeom>
        </p:spPr>
        <p:txBody>
          <a:bodyPr anchor="t" rtlCol="false" tIns="0" lIns="0" bIns="0" rIns="0">
            <a:spAutoFit/>
          </a:bodyPr>
          <a:lstStyle/>
          <a:p>
            <a:pPr algn="just">
              <a:lnSpc>
                <a:spcPts val="4032"/>
              </a:lnSpc>
            </a:pPr>
            <a:r>
              <a:rPr lang="en-US" sz="2100">
                <a:solidFill>
                  <a:srgbClr val="334155"/>
                </a:solidFill>
                <a:latin typeface="DM Sans"/>
                <a:ea typeface="DM Sans"/>
                <a:cs typeface="DM Sans"/>
                <a:sym typeface="DM Sans"/>
              </a:rPr>
              <a:t>Me</a:t>
            </a:r>
            <a:r>
              <a:rPr lang="en-US" sz="2100">
                <a:solidFill>
                  <a:srgbClr val="334155"/>
                </a:solidFill>
                <a:latin typeface="DM Sans"/>
                <a:ea typeface="DM Sans"/>
                <a:cs typeface="DM Sans"/>
                <a:sym typeface="DM Sans"/>
              </a:rPr>
              <a:t>ntransformasikan kebutuhan ke dalam rancangan pemodelan teknis (Use Case, Activity Diagram, ERD), perancangan antarmuka (Wireframe / Mockup maupun Prototype antarmuka).</a:t>
            </a:r>
          </a:p>
        </p:txBody>
      </p:sp>
      <p:sp>
        <p:nvSpPr>
          <p:cNvPr name="TextBox 12" id="12"/>
          <p:cNvSpPr txBox="true"/>
          <p:nvPr/>
        </p:nvSpPr>
        <p:spPr>
          <a:xfrm rot="0">
            <a:off x="11929067" y="3944379"/>
            <a:ext cx="5732690" cy="1979676"/>
          </a:xfrm>
          <a:prstGeom prst="rect">
            <a:avLst/>
          </a:prstGeom>
        </p:spPr>
        <p:txBody>
          <a:bodyPr anchor="t" rtlCol="false" tIns="0" lIns="0" bIns="0" rIns="0">
            <a:spAutoFit/>
          </a:bodyPr>
          <a:lstStyle/>
          <a:p>
            <a:pPr algn="just">
              <a:lnSpc>
                <a:spcPts val="4032"/>
              </a:lnSpc>
            </a:pPr>
            <a:r>
              <a:rPr lang="en-US" sz="2100">
                <a:solidFill>
                  <a:srgbClr val="334155"/>
                </a:solidFill>
                <a:latin typeface="DM Sans"/>
                <a:ea typeface="DM Sans"/>
                <a:cs typeface="DM Sans"/>
                <a:sym typeface="DM Sans"/>
              </a:rPr>
              <a:t>Tahap</a:t>
            </a:r>
            <a:r>
              <a:rPr lang="en-US" sz="2100">
                <a:solidFill>
                  <a:srgbClr val="334155"/>
                </a:solidFill>
                <a:latin typeface="DM Sans"/>
                <a:ea typeface="DM Sans"/>
                <a:cs typeface="DM Sans"/>
                <a:sym typeface="DM Sans"/>
              </a:rPr>
              <a:t> pembangunan logika dan fitur aplikasi menggunakan PHP dan MySQL, yang dilakukan secara bertahap melalui Uji Coba Pengguna untuk mendapatkan feedback langsung.</a:t>
            </a:r>
          </a:p>
        </p:txBody>
      </p:sp>
      <p:grpSp>
        <p:nvGrpSpPr>
          <p:cNvPr name="Group 13" id="13"/>
          <p:cNvGrpSpPr/>
          <p:nvPr/>
        </p:nvGrpSpPr>
        <p:grpSpPr>
          <a:xfrm rot="0">
            <a:off x="718321" y="3124118"/>
            <a:ext cx="5732690" cy="848899"/>
            <a:chOff x="0" y="0"/>
            <a:chExt cx="7643586" cy="1131865"/>
          </a:xfrm>
        </p:grpSpPr>
        <p:grpSp>
          <p:nvGrpSpPr>
            <p:cNvPr name="Group 14" id="14"/>
            <p:cNvGrpSpPr/>
            <p:nvPr/>
          </p:nvGrpSpPr>
          <p:grpSpPr>
            <a:xfrm rot="0">
              <a:off x="1336020" y="0"/>
              <a:ext cx="639337" cy="559420"/>
              <a:chOff x="0" y="0"/>
              <a:chExt cx="812800" cy="711200"/>
            </a:xfrm>
          </p:grpSpPr>
          <p:sp>
            <p:nvSpPr>
              <p:cNvPr name="Freeform 15" id="1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4D6F78"/>
              </a:solidFill>
            </p:spPr>
          </p:sp>
          <p:sp>
            <p:nvSpPr>
              <p:cNvPr name="TextBox 16" id="16"/>
              <p:cNvSpPr txBox="true"/>
              <p:nvPr/>
            </p:nvSpPr>
            <p:spPr>
              <a:xfrm>
                <a:off x="127000" y="263525"/>
                <a:ext cx="558800" cy="396875"/>
              </a:xfrm>
              <a:prstGeom prst="rect">
                <a:avLst/>
              </a:prstGeom>
            </p:spPr>
            <p:txBody>
              <a:bodyPr anchor="ctr" rtlCol="false" tIns="50800" lIns="50800" bIns="50800" rIns="50800"/>
              <a:lstStyle/>
              <a:p>
                <a:pPr algn="ctr">
                  <a:lnSpc>
                    <a:spcPts val="3625"/>
                  </a:lnSpc>
                </a:pPr>
              </a:p>
            </p:txBody>
          </p:sp>
        </p:grpSp>
        <p:sp>
          <p:nvSpPr>
            <p:cNvPr name="Freeform 17" id="17"/>
            <p:cNvSpPr/>
            <p:nvPr/>
          </p:nvSpPr>
          <p:spPr>
            <a:xfrm flipH="false" flipV="false" rot="0">
              <a:off x="0" y="251784"/>
              <a:ext cx="1753064" cy="880081"/>
            </a:xfrm>
            <a:custGeom>
              <a:avLst/>
              <a:gdLst/>
              <a:ahLst/>
              <a:cxnLst/>
              <a:rect r="r" b="b" t="t" l="l"/>
              <a:pathLst>
                <a:path h="880081" w="1753064">
                  <a:moveTo>
                    <a:pt x="0" y="0"/>
                  </a:moveTo>
                  <a:lnTo>
                    <a:pt x="1753064" y="0"/>
                  </a:lnTo>
                  <a:lnTo>
                    <a:pt x="1753064" y="880081"/>
                  </a:lnTo>
                  <a:lnTo>
                    <a:pt x="0" y="8800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8" id="18"/>
            <p:cNvGrpSpPr/>
            <p:nvPr/>
          </p:nvGrpSpPr>
          <p:grpSpPr>
            <a:xfrm rot="0">
              <a:off x="781956" y="251784"/>
              <a:ext cx="5985098" cy="880081"/>
              <a:chOff x="0" y="0"/>
              <a:chExt cx="952536" cy="140066"/>
            </a:xfrm>
          </p:grpSpPr>
          <p:sp>
            <p:nvSpPr>
              <p:cNvPr name="Freeform 19" id="19"/>
              <p:cNvSpPr/>
              <p:nvPr/>
            </p:nvSpPr>
            <p:spPr>
              <a:xfrm flipH="false" flipV="false" rot="0">
                <a:off x="0" y="0"/>
                <a:ext cx="952536" cy="140066"/>
              </a:xfrm>
              <a:custGeom>
                <a:avLst/>
                <a:gdLst/>
                <a:ahLst/>
                <a:cxnLst/>
                <a:rect r="r" b="b" t="t" l="l"/>
                <a:pathLst>
                  <a:path h="140066" w="952536">
                    <a:moveTo>
                      <a:pt x="0" y="0"/>
                    </a:moveTo>
                    <a:lnTo>
                      <a:pt x="952536" y="0"/>
                    </a:lnTo>
                    <a:lnTo>
                      <a:pt x="952536" y="140066"/>
                    </a:lnTo>
                    <a:lnTo>
                      <a:pt x="0" y="140066"/>
                    </a:lnTo>
                    <a:close/>
                  </a:path>
                </a:pathLst>
              </a:custGeom>
              <a:solidFill>
                <a:srgbClr val="E2E8F0"/>
              </a:solidFill>
            </p:spPr>
          </p:sp>
          <p:sp>
            <p:nvSpPr>
              <p:cNvPr name="TextBox 20" id="20"/>
              <p:cNvSpPr txBox="true"/>
              <p:nvPr/>
            </p:nvSpPr>
            <p:spPr>
              <a:xfrm>
                <a:off x="0" y="-66675"/>
                <a:ext cx="952536" cy="206741"/>
              </a:xfrm>
              <a:prstGeom prst="rect">
                <a:avLst/>
              </a:prstGeom>
            </p:spPr>
            <p:txBody>
              <a:bodyPr anchor="ctr" rtlCol="false" tIns="50800" lIns="50800" bIns="50800" rIns="50800"/>
              <a:lstStyle/>
              <a:p>
                <a:pPr algn="ctr">
                  <a:lnSpc>
                    <a:spcPts val="3625"/>
                  </a:lnSpc>
                </a:pPr>
              </a:p>
            </p:txBody>
          </p:sp>
        </p:grpSp>
        <p:sp>
          <p:nvSpPr>
            <p:cNvPr name="Freeform 21" id="21"/>
            <p:cNvSpPr/>
            <p:nvPr/>
          </p:nvSpPr>
          <p:spPr>
            <a:xfrm flipH="false" flipV="true" rot="0">
              <a:off x="5890522" y="251784"/>
              <a:ext cx="1753064" cy="880081"/>
            </a:xfrm>
            <a:custGeom>
              <a:avLst/>
              <a:gdLst/>
              <a:ahLst/>
              <a:cxnLst/>
              <a:rect r="r" b="b" t="t" l="l"/>
              <a:pathLst>
                <a:path h="880081" w="1753064">
                  <a:moveTo>
                    <a:pt x="0" y="880081"/>
                  </a:moveTo>
                  <a:lnTo>
                    <a:pt x="1753064" y="880081"/>
                  </a:lnTo>
                  <a:lnTo>
                    <a:pt x="1753064" y="0"/>
                  </a:lnTo>
                  <a:lnTo>
                    <a:pt x="0" y="0"/>
                  </a:lnTo>
                  <a:lnTo>
                    <a:pt x="0" y="880081"/>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277618" y="0"/>
              <a:ext cx="1378070" cy="691825"/>
            </a:xfrm>
            <a:custGeom>
              <a:avLst/>
              <a:gdLst/>
              <a:ahLst/>
              <a:cxnLst/>
              <a:rect r="r" b="b" t="t" l="l"/>
              <a:pathLst>
                <a:path h="691825" w="1378070">
                  <a:moveTo>
                    <a:pt x="0" y="0"/>
                  </a:moveTo>
                  <a:lnTo>
                    <a:pt x="1378070" y="0"/>
                  </a:lnTo>
                  <a:lnTo>
                    <a:pt x="1378070" y="691825"/>
                  </a:lnTo>
                  <a:lnTo>
                    <a:pt x="0" y="6918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TextBox 23" id="23"/>
          <p:cNvSpPr txBox="true"/>
          <p:nvPr/>
        </p:nvSpPr>
        <p:spPr>
          <a:xfrm rot="0">
            <a:off x="1989905" y="3428839"/>
            <a:ext cx="4617048" cy="381000"/>
          </a:xfrm>
          <a:prstGeom prst="rect">
            <a:avLst/>
          </a:prstGeom>
        </p:spPr>
        <p:txBody>
          <a:bodyPr anchor="t" rtlCol="false" tIns="0" lIns="0" bIns="0" rIns="0">
            <a:spAutoFit/>
          </a:bodyPr>
          <a:lstStyle/>
          <a:p>
            <a:pPr algn="l">
              <a:lnSpc>
                <a:spcPts val="3149"/>
              </a:lnSpc>
            </a:pPr>
            <a:r>
              <a:rPr lang="en-US" sz="2250" b="true">
                <a:solidFill>
                  <a:srgbClr val="005088"/>
                </a:solidFill>
                <a:latin typeface="Merriweather Bold"/>
                <a:ea typeface="Merriweather Bold"/>
                <a:cs typeface="Merriweather Bold"/>
                <a:sym typeface="Merriweather Bold"/>
              </a:rPr>
              <a:t>Requirem</a:t>
            </a:r>
            <a:r>
              <a:rPr lang="en-US" sz="2250" b="true">
                <a:solidFill>
                  <a:srgbClr val="005088"/>
                </a:solidFill>
                <a:latin typeface="Merriweather Bold"/>
                <a:ea typeface="Merriweather Bold"/>
                <a:cs typeface="Merriweather Bold"/>
                <a:sym typeface="Merriweather Bold"/>
              </a:rPr>
              <a:t>ents Planning</a:t>
            </a:r>
          </a:p>
        </p:txBody>
      </p:sp>
      <p:grpSp>
        <p:nvGrpSpPr>
          <p:cNvPr name="Group 24" id="24"/>
          <p:cNvGrpSpPr/>
          <p:nvPr/>
        </p:nvGrpSpPr>
        <p:grpSpPr>
          <a:xfrm rot="0">
            <a:off x="924335" y="6255318"/>
            <a:ext cx="5732690" cy="848899"/>
            <a:chOff x="0" y="0"/>
            <a:chExt cx="7643586" cy="1131865"/>
          </a:xfrm>
        </p:grpSpPr>
        <p:grpSp>
          <p:nvGrpSpPr>
            <p:cNvPr name="Group 25" id="25"/>
            <p:cNvGrpSpPr/>
            <p:nvPr/>
          </p:nvGrpSpPr>
          <p:grpSpPr>
            <a:xfrm rot="0">
              <a:off x="1336020" y="0"/>
              <a:ext cx="639337" cy="559420"/>
              <a:chOff x="0" y="0"/>
              <a:chExt cx="812800" cy="711200"/>
            </a:xfrm>
          </p:grpSpPr>
          <p:sp>
            <p:nvSpPr>
              <p:cNvPr name="Freeform 26" id="26"/>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4D6F78"/>
              </a:solidFill>
            </p:spPr>
          </p:sp>
          <p:sp>
            <p:nvSpPr>
              <p:cNvPr name="TextBox 27" id="27"/>
              <p:cNvSpPr txBox="true"/>
              <p:nvPr/>
            </p:nvSpPr>
            <p:spPr>
              <a:xfrm>
                <a:off x="127000" y="263525"/>
                <a:ext cx="558800" cy="396875"/>
              </a:xfrm>
              <a:prstGeom prst="rect">
                <a:avLst/>
              </a:prstGeom>
            </p:spPr>
            <p:txBody>
              <a:bodyPr anchor="ctr" rtlCol="false" tIns="50800" lIns="50800" bIns="50800" rIns="50800"/>
              <a:lstStyle/>
              <a:p>
                <a:pPr algn="ctr">
                  <a:lnSpc>
                    <a:spcPts val="3625"/>
                  </a:lnSpc>
                </a:pPr>
              </a:p>
            </p:txBody>
          </p:sp>
        </p:grpSp>
        <p:sp>
          <p:nvSpPr>
            <p:cNvPr name="Freeform 28" id="28"/>
            <p:cNvSpPr/>
            <p:nvPr/>
          </p:nvSpPr>
          <p:spPr>
            <a:xfrm flipH="false" flipV="false" rot="0">
              <a:off x="0" y="251784"/>
              <a:ext cx="1753064" cy="880081"/>
            </a:xfrm>
            <a:custGeom>
              <a:avLst/>
              <a:gdLst/>
              <a:ahLst/>
              <a:cxnLst/>
              <a:rect r="r" b="b" t="t" l="l"/>
              <a:pathLst>
                <a:path h="880081" w="1753064">
                  <a:moveTo>
                    <a:pt x="0" y="0"/>
                  </a:moveTo>
                  <a:lnTo>
                    <a:pt x="1753064" y="0"/>
                  </a:lnTo>
                  <a:lnTo>
                    <a:pt x="1753064" y="880081"/>
                  </a:lnTo>
                  <a:lnTo>
                    <a:pt x="0" y="880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9" id="29"/>
            <p:cNvGrpSpPr/>
            <p:nvPr/>
          </p:nvGrpSpPr>
          <p:grpSpPr>
            <a:xfrm rot="0">
              <a:off x="781956" y="251784"/>
              <a:ext cx="5985098" cy="880081"/>
              <a:chOff x="0" y="0"/>
              <a:chExt cx="952536" cy="140066"/>
            </a:xfrm>
          </p:grpSpPr>
          <p:sp>
            <p:nvSpPr>
              <p:cNvPr name="Freeform 30" id="30"/>
              <p:cNvSpPr/>
              <p:nvPr/>
            </p:nvSpPr>
            <p:spPr>
              <a:xfrm flipH="false" flipV="false" rot="0">
                <a:off x="0" y="0"/>
                <a:ext cx="952536" cy="140066"/>
              </a:xfrm>
              <a:custGeom>
                <a:avLst/>
                <a:gdLst/>
                <a:ahLst/>
                <a:cxnLst/>
                <a:rect r="r" b="b" t="t" l="l"/>
                <a:pathLst>
                  <a:path h="140066" w="952536">
                    <a:moveTo>
                      <a:pt x="0" y="0"/>
                    </a:moveTo>
                    <a:lnTo>
                      <a:pt x="952536" y="0"/>
                    </a:lnTo>
                    <a:lnTo>
                      <a:pt x="952536" y="140066"/>
                    </a:lnTo>
                    <a:lnTo>
                      <a:pt x="0" y="140066"/>
                    </a:lnTo>
                    <a:close/>
                  </a:path>
                </a:pathLst>
              </a:custGeom>
              <a:solidFill>
                <a:srgbClr val="E2E8F0"/>
              </a:solidFill>
            </p:spPr>
          </p:sp>
          <p:sp>
            <p:nvSpPr>
              <p:cNvPr name="TextBox 31" id="31"/>
              <p:cNvSpPr txBox="true"/>
              <p:nvPr/>
            </p:nvSpPr>
            <p:spPr>
              <a:xfrm>
                <a:off x="0" y="-66675"/>
                <a:ext cx="952536" cy="206741"/>
              </a:xfrm>
              <a:prstGeom prst="rect">
                <a:avLst/>
              </a:prstGeom>
            </p:spPr>
            <p:txBody>
              <a:bodyPr anchor="ctr" rtlCol="false" tIns="50800" lIns="50800" bIns="50800" rIns="50800"/>
              <a:lstStyle/>
              <a:p>
                <a:pPr algn="ctr">
                  <a:lnSpc>
                    <a:spcPts val="3625"/>
                  </a:lnSpc>
                </a:pPr>
              </a:p>
            </p:txBody>
          </p:sp>
        </p:grpSp>
        <p:sp>
          <p:nvSpPr>
            <p:cNvPr name="Freeform 32" id="32"/>
            <p:cNvSpPr/>
            <p:nvPr/>
          </p:nvSpPr>
          <p:spPr>
            <a:xfrm flipH="false" flipV="true" rot="0">
              <a:off x="5890522" y="251784"/>
              <a:ext cx="1753064" cy="880081"/>
            </a:xfrm>
            <a:custGeom>
              <a:avLst/>
              <a:gdLst/>
              <a:ahLst/>
              <a:cxnLst/>
              <a:rect r="r" b="b" t="t" l="l"/>
              <a:pathLst>
                <a:path h="880081" w="1753064">
                  <a:moveTo>
                    <a:pt x="0" y="880081"/>
                  </a:moveTo>
                  <a:lnTo>
                    <a:pt x="1753064" y="880081"/>
                  </a:lnTo>
                  <a:lnTo>
                    <a:pt x="1753064" y="0"/>
                  </a:lnTo>
                  <a:lnTo>
                    <a:pt x="0" y="0"/>
                  </a:lnTo>
                  <a:lnTo>
                    <a:pt x="0" y="880081"/>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0">
              <a:off x="277618" y="0"/>
              <a:ext cx="1378070" cy="691825"/>
            </a:xfrm>
            <a:custGeom>
              <a:avLst/>
              <a:gdLst/>
              <a:ahLst/>
              <a:cxnLst/>
              <a:rect r="r" b="b" t="t" l="l"/>
              <a:pathLst>
                <a:path h="691825" w="1378070">
                  <a:moveTo>
                    <a:pt x="0" y="0"/>
                  </a:moveTo>
                  <a:lnTo>
                    <a:pt x="1378070" y="0"/>
                  </a:lnTo>
                  <a:lnTo>
                    <a:pt x="1378070" y="691825"/>
                  </a:lnTo>
                  <a:lnTo>
                    <a:pt x="0" y="6918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TextBox 34" id="34"/>
          <p:cNvSpPr txBox="true"/>
          <p:nvPr/>
        </p:nvSpPr>
        <p:spPr>
          <a:xfrm rot="0">
            <a:off x="2446666" y="6557090"/>
            <a:ext cx="2165073" cy="381000"/>
          </a:xfrm>
          <a:prstGeom prst="rect">
            <a:avLst/>
          </a:prstGeom>
        </p:spPr>
        <p:txBody>
          <a:bodyPr anchor="t" rtlCol="false" tIns="0" lIns="0" bIns="0" rIns="0">
            <a:spAutoFit/>
          </a:bodyPr>
          <a:lstStyle/>
          <a:p>
            <a:pPr algn="l">
              <a:lnSpc>
                <a:spcPts val="3149"/>
              </a:lnSpc>
            </a:pPr>
            <a:r>
              <a:rPr lang="en-US" sz="2250" b="true">
                <a:solidFill>
                  <a:srgbClr val="005088"/>
                </a:solidFill>
                <a:latin typeface="Merriweather Bold"/>
                <a:ea typeface="Merriweather Bold"/>
                <a:cs typeface="Merriweather Bold"/>
                <a:sym typeface="Merriweather Bold"/>
              </a:rPr>
              <a:t>Us</a:t>
            </a:r>
            <a:r>
              <a:rPr lang="en-US" sz="2250" b="true">
                <a:solidFill>
                  <a:srgbClr val="005088"/>
                </a:solidFill>
                <a:latin typeface="Merriweather Bold"/>
                <a:ea typeface="Merriweather Bold"/>
                <a:cs typeface="Merriweather Bold"/>
                <a:sym typeface="Merriweather Bold"/>
              </a:rPr>
              <a:t>er Design</a:t>
            </a:r>
          </a:p>
        </p:txBody>
      </p:sp>
      <p:grpSp>
        <p:nvGrpSpPr>
          <p:cNvPr name="Group 35" id="35"/>
          <p:cNvGrpSpPr/>
          <p:nvPr/>
        </p:nvGrpSpPr>
        <p:grpSpPr>
          <a:xfrm rot="0">
            <a:off x="11507821" y="3028835"/>
            <a:ext cx="5732690" cy="848899"/>
            <a:chOff x="0" y="0"/>
            <a:chExt cx="7643586" cy="1131865"/>
          </a:xfrm>
        </p:grpSpPr>
        <p:grpSp>
          <p:nvGrpSpPr>
            <p:cNvPr name="Group 36" id="36"/>
            <p:cNvGrpSpPr/>
            <p:nvPr/>
          </p:nvGrpSpPr>
          <p:grpSpPr>
            <a:xfrm rot="0">
              <a:off x="1336020" y="0"/>
              <a:ext cx="639337" cy="559420"/>
              <a:chOff x="0" y="0"/>
              <a:chExt cx="812800" cy="711200"/>
            </a:xfrm>
          </p:grpSpPr>
          <p:sp>
            <p:nvSpPr>
              <p:cNvPr name="Freeform 37" id="3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4D6F78"/>
              </a:solidFill>
            </p:spPr>
          </p:sp>
          <p:sp>
            <p:nvSpPr>
              <p:cNvPr name="TextBox 38" id="38"/>
              <p:cNvSpPr txBox="true"/>
              <p:nvPr/>
            </p:nvSpPr>
            <p:spPr>
              <a:xfrm>
                <a:off x="127000" y="263525"/>
                <a:ext cx="558800" cy="396875"/>
              </a:xfrm>
              <a:prstGeom prst="rect">
                <a:avLst/>
              </a:prstGeom>
            </p:spPr>
            <p:txBody>
              <a:bodyPr anchor="ctr" rtlCol="false" tIns="50800" lIns="50800" bIns="50800" rIns="50800"/>
              <a:lstStyle/>
              <a:p>
                <a:pPr algn="ctr">
                  <a:lnSpc>
                    <a:spcPts val="3625"/>
                  </a:lnSpc>
                </a:pPr>
              </a:p>
            </p:txBody>
          </p:sp>
        </p:grpSp>
        <p:sp>
          <p:nvSpPr>
            <p:cNvPr name="Freeform 39" id="39"/>
            <p:cNvSpPr/>
            <p:nvPr/>
          </p:nvSpPr>
          <p:spPr>
            <a:xfrm flipH="false" flipV="false" rot="0">
              <a:off x="0" y="251784"/>
              <a:ext cx="1753064" cy="880081"/>
            </a:xfrm>
            <a:custGeom>
              <a:avLst/>
              <a:gdLst/>
              <a:ahLst/>
              <a:cxnLst/>
              <a:rect r="r" b="b" t="t" l="l"/>
              <a:pathLst>
                <a:path h="880081" w="1753064">
                  <a:moveTo>
                    <a:pt x="0" y="0"/>
                  </a:moveTo>
                  <a:lnTo>
                    <a:pt x="1753064" y="0"/>
                  </a:lnTo>
                  <a:lnTo>
                    <a:pt x="1753064" y="880081"/>
                  </a:lnTo>
                  <a:lnTo>
                    <a:pt x="0" y="880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40" id="40"/>
            <p:cNvGrpSpPr/>
            <p:nvPr/>
          </p:nvGrpSpPr>
          <p:grpSpPr>
            <a:xfrm rot="0">
              <a:off x="781956" y="251784"/>
              <a:ext cx="5985098" cy="880081"/>
              <a:chOff x="0" y="0"/>
              <a:chExt cx="952536" cy="140066"/>
            </a:xfrm>
          </p:grpSpPr>
          <p:sp>
            <p:nvSpPr>
              <p:cNvPr name="Freeform 41" id="41"/>
              <p:cNvSpPr/>
              <p:nvPr/>
            </p:nvSpPr>
            <p:spPr>
              <a:xfrm flipH="false" flipV="false" rot="0">
                <a:off x="0" y="0"/>
                <a:ext cx="952536" cy="140066"/>
              </a:xfrm>
              <a:custGeom>
                <a:avLst/>
                <a:gdLst/>
                <a:ahLst/>
                <a:cxnLst/>
                <a:rect r="r" b="b" t="t" l="l"/>
                <a:pathLst>
                  <a:path h="140066" w="952536">
                    <a:moveTo>
                      <a:pt x="0" y="0"/>
                    </a:moveTo>
                    <a:lnTo>
                      <a:pt x="952536" y="0"/>
                    </a:lnTo>
                    <a:lnTo>
                      <a:pt x="952536" y="140066"/>
                    </a:lnTo>
                    <a:lnTo>
                      <a:pt x="0" y="140066"/>
                    </a:lnTo>
                    <a:close/>
                  </a:path>
                </a:pathLst>
              </a:custGeom>
              <a:solidFill>
                <a:srgbClr val="E2E8F0"/>
              </a:solidFill>
            </p:spPr>
          </p:sp>
          <p:sp>
            <p:nvSpPr>
              <p:cNvPr name="TextBox 42" id="42"/>
              <p:cNvSpPr txBox="true"/>
              <p:nvPr/>
            </p:nvSpPr>
            <p:spPr>
              <a:xfrm>
                <a:off x="0" y="-66675"/>
                <a:ext cx="952536" cy="206741"/>
              </a:xfrm>
              <a:prstGeom prst="rect">
                <a:avLst/>
              </a:prstGeom>
            </p:spPr>
            <p:txBody>
              <a:bodyPr anchor="ctr" rtlCol="false" tIns="50800" lIns="50800" bIns="50800" rIns="50800"/>
              <a:lstStyle/>
              <a:p>
                <a:pPr algn="ctr">
                  <a:lnSpc>
                    <a:spcPts val="3625"/>
                  </a:lnSpc>
                </a:pPr>
              </a:p>
            </p:txBody>
          </p:sp>
        </p:grpSp>
        <p:sp>
          <p:nvSpPr>
            <p:cNvPr name="Freeform 43" id="43"/>
            <p:cNvSpPr/>
            <p:nvPr/>
          </p:nvSpPr>
          <p:spPr>
            <a:xfrm flipH="false" flipV="true" rot="0">
              <a:off x="5890522" y="251784"/>
              <a:ext cx="1753064" cy="880081"/>
            </a:xfrm>
            <a:custGeom>
              <a:avLst/>
              <a:gdLst/>
              <a:ahLst/>
              <a:cxnLst/>
              <a:rect r="r" b="b" t="t" l="l"/>
              <a:pathLst>
                <a:path h="880081" w="1753064">
                  <a:moveTo>
                    <a:pt x="0" y="880081"/>
                  </a:moveTo>
                  <a:lnTo>
                    <a:pt x="1753064" y="880081"/>
                  </a:lnTo>
                  <a:lnTo>
                    <a:pt x="1753064" y="0"/>
                  </a:lnTo>
                  <a:lnTo>
                    <a:pt x="0" y="0"/>
                  </a:lnTo>
                  <a:lnTo>
                    <a:pt x="0" y="880081"/>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4" id="44"/>
            <p:cNvSpPr/>
            <p:nvPr/>
          </p:nvSpPr>
          <p:spPr>
            <a:xfrm flipH="false" flipV="false" rot="0">
              <a:off x="277618" y="0"/>
              <a:ext cx="1378070" cy="691825"/>
            </a:xfrm>
            <a:custGeom>
              <a:avLst/>
              <a:gdLst/>
              <a:ahLst/>
              <a:cxnLst/>
              <a:rect r="r" b="b" t="t" l="l"/>
              <a:pathLst>
                <a:path h="691825" w="1378070">
                  <a:moveTo>
                    <a:pt x="0" y="0"/>
                  </a:moveTo>
                  <a:lnTo>
                    <a:pt x="1378070" y="0"/>
                  </a:lnTo>
                  <a:lnTo>
                    <a:pt x="1378070" y="691825"/>
                  </a:lnTo>
                  <a:lnTo>
                    <a:pt x="0" y="6918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TextBox 45" id="45"/>
          <p:cNvSpPr txBox="true"/>
          <p:nvPr/>
        </p:nvSpPr>
        <p:spPr>
          <a:xfrm rot="0">
            <a:off x="13156891" y="3333556"/>
            <a:ext cx="2295327" cy="381000"/>
          </a:xfrm>
          <a:prstGeom prst="rect">
            <a:avLst/>
          </a:prstGeom>
        </p:spPr>
        <p:txBody>
          <a:bodyPr anchor="t" rtlCol="false" tIns="0" lIns="0" bIns="0" rIns="0">
            <a:spAutoFit/>
          </a:bodyPr>
          <a:lstStyle/>
          <a:p>
            <a:pPr algn="l">
              <a:lnSpc>
                <a:spcPts val="3149"/>
              </a:lnSpc>
            </a:pPr>
            <a:r>
              <a:rPr lang="en-US" sz="2250" b="true">
                <a:solidFill>
                  <a:srgbClr val="005088"/>
                </a:solidFill>
                <a:latin typeface="Merriweather Bold"/>
                <a:ea typeface="Merriweather Bold"/>
                <a:cs typeface="Merriweather Bold"/>
                <a:sym typeface="Merriweather Bold"/>
              </a:rPr>
              <a:t>Co</a:t>
            </a:r>
            <a:r>
              <a:rPr lang="en-US" sz="2250" b="true">
                <a:solidFill>
                  <a:srgbClr val="005088"/>
                </a:solidFill>
                <a:latin typeface="Merriweather Bold"/>
                <a:ea typeface="Merriweather Bold"/>
                <a:cs typeface="Merriweather Bold"/>
                <a:sym typeface="Merriweather Bold"/>
              </a:rPr>
              <a:t>nstruction</a:t>
            </a:r>
          </a:p>
        </p:txBody>
      </p:sp>
      <p:sp>
        <p:nvSpPr>
          <p:cNvPr name="TextBox 46" id="46"/>
          <p:cNvSpPr txBox="true"/>
          <p:nvPr/>
        </p:nvSpPr>
        <p:spPr>
          <a:xfrm rot="0">
            <a:off x="12350313" y="7075611"/>
            <a:ext cx="5134262" cy="1979676"/>
          </a:xfrm>
          <a:prstGeom prst="rect">
            <a:avLst/>
          </a:prstGeom>
        </p:spPr>
        <p:txBody>
          <a:bodyPr anchor="t" rtlCol="false" tIns="0" lIns="0" bIns="0" rIns="0">
            <a:spAutoFit/>
          </a:bodyPr>
          <a:lstStyle/>
          <a:p>
            <a:pPr algn="just">
              <a:lnSpc>
                <a:spcPts val="4032"/>
              </a:lnSpc>
            </a:pPr>
            <a:r>
              <a:rPr lang="en-US" sz="2100">
                <a:solidFill>
                  <a:srgbClr val="334155"/>
                </a:solidFill>
                <a:latin typeface="DM Sans"/>
                <a:ea typeface="DM Sans"/>
                <a:cs typeface="DM Sans"/>
                <a:sym typeface="DM Sans"/>
              </a:rPr>
              <a:t>Tahap</a:t>
            </a:r>
            <a:r>
              <a:rPr lang="en-US" sz="2100">
                <a:solidFill>
                  <a:srgbClr val="334155"/>
                </a:solidFill>
                <a:latin typeface="DM Sans"/>
                <a:ea typeface="DM Sans"/>
                <a:cs typeface="DM Sans"/>
                <a:sym typeface="DM Sans"/>
              </a:rPr>
              <a:t> implementasi demo operasional sekaligus verifikasi kualitas sistem melalui pengujian fungsional (Black Box Testing) sebelum digunakan oleh sekolah.</a:t>
            </a:r>
          </a:p>
        </p:txBody>
      </p:sp>
      <p:grpSp>
        <p:nvGrpSpPr>
          <p:cNvPr name="Group 47" id="47"/>
          <p:cNvGrpSpPr/>
          <p:nvPr/>
        </p:nvGrpSpPr>
        <p:grpSpPr>
          <a:xfrm rot="0">
            <a:off x="11929067" y="6160068"/>
            <a:ext cx="5732690" cy="848899"/>
            <a:chOff x="0" y="0"/>
            <a:chExt cx="7643586" cy="1131865"/>
          </a:xfrm>
        </p:grpSpPr>
        <p:grpSp>
          <p:nvGrpSpPr>
            <p:cNvPr name="Group 48" id="48"/>
            <p:cNvGrpSpPr/>
            <p:nvPr/>
          </p:nvGrpSpPr>
          <p:grpSpPr>
            <a:xfrm rot="0">
              <a:off x="1336020" y="0"/>
              <a:ext cx="639337" cy="559420"/>
              <a:chOff x="0" y="0"/>
              <a:chExt cx="812800" cy="711200"/>
            </a:xfrm>
          </p:grpSpPr>
          <p:sp>
            <p:nvSpPr>
              <p:cNvPr name="Freeform 49" id="4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4D6F78"/>
              </a:solidFill>
            </p:spPr>
          </p:sp>
          <p:sp>
            <p:nvSpPr>
              <p:cNvPr name="TextBox 50" id="50"/>
              <p:cNvSpPr txBox="true"/>
              <p:nvPr/>
            </p:nvSpPr>
            <p:spPr>
              <a:xfrm>
                <a:off x="127000" y="263525"/>
                <a:ext cx="558800" cy="396875"/>
              </a:xfrm>
              <a:prstGeom prst="rect">
                <a:avLst/>
              </a:prstGeom>
            </p:spPr>
            <p:txBody>
              <a:bodyPr anchor="ctr" rtlCol="false" tIns="50800" lIns="50800" bIns="50800" rIns="50800"/>
              <a:lstStyle/>
              <a:p>
                <a:pPr algn="ctr">
                  <a:lnSpc>
                    <a:spcPts val="3625"/>
                  </a:lnSpc>
                </a:pPr>
              </a:p>
            </p:txBody>
          </p:sp>
        </p:grpSp>
        <p:sp>
          <p:nvSpPr>
            <p:cNvPr name="Freeform 51" id="51"/>
            <p:cNvSpPr/>
            <p:nvPr/>
          </p:nvSpPr>
          <p:spPr>
            <a:xfrm flipH="false" flipV="false" rot="0">
              <a:off x="0" y="251784"/>
              <a:ext cx="1753064" cy="880081"/>
            </a:xfrm>
            <a:custGeom>
              <a:avLst/>
              <a:gdLst/>
              <a:ahLst/>
              <a:cxnLst/>
              <a:rect r="r" b="b" t="t" l="l"/>
              <a:pathLst>
                <a:path h="880081" w="1753064">
                  <a:moveTo>
                    <a:pt x="0" y="0"/>
                  </a:moveTo>
                  <a:lnTo>
                    <a:pt x="1753064" y="0"/>
                  </a:lnTo>
                  <a:lnTo>
                    <a:pt x="1753064" y="880081"/>
                  </a:lnTo>
                  <a:lnTo>
                    <a:pt x="0" y="880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52" id="52"/>
            <p:cNvGrpSpPr/>
            <p:nvPr/>
          </p:nvGrpSpPr>
          <p:grpSpPr>
            <a:xfrm rot="0">
              <a:off x="781956" y="251784"/>
              <a:ext cx="5985098" cy="880081"/>
              <a:chOff x="0" y="0"/>
              <a:chExt cx="952536" cy="140066"/>
            </a:xfrm>
          </p:grpSpPr>
          <p:sp>
            <p:nvSpPr>
              <p:cNvPr name="Freeform 53" id="53"/>
              <p:cNvSpPr/>
              <p:nvPr/>
            </p:nvSpPr>
            <p:spPr>
              <a:xfrm flipH="false" flipV="false" rot="0">
                <a:off x="0" y="0"/>
                <a:ext cx="952536" cy="140066"/>
              </a:xfrm>
              <a:custGeom>
                <a:avLst/>
                <a:gdLst/>
                <a:ahLst/>
                <a:cxnLst/>
                <a:rect r="r" b="b" t="t" l="l"/>
                <a:pathLst>
                  <a:path h="140066" w="952536">
                    <a:moveTo>
                      <a:pt x="0" y="0"/>
                    </a:moveTo>
                    <a:lnTo>
                      <a:pt x="952536" y="0"/>
                    </a:lnTo>
                    <a:lnTo>
                      <a:pt x="952536" y="140066"/>
                    </a:lnTo>
                    <a:lnTo>
                      <a:pt x="0" y="140066"/>
                    </a:lnTo>
                    <a:close/>
                  </a:path>
                </a:pathLst>
              </a:custGeom>
              <a:solidFill>
                <a:srgbClr val="E2E8F0"/>
              </a:solidFill>
            </p:spPr>
          </p:sp>
          <p:sp>
            <p:nvSpPr>
              <p:cNvPr name="TextBox 54" id="54"/>
              <p:cNvSpPr txBox="true"/>
              <p:nvPr/>
            </p:nvSpPr>
            <p:spPr>
              <a:xfrm>
                <a:off x="0" y="-66675"/>
                <a:ext cx="952536" cy="206741"/>
              </a:xfrm>
              <a:prstGeom prst="rect">
                <a:avLst/>
              </a:prstGeom>
            </p:spPr>
            <p:txBody>
              <a:bodyPr anchor="ctr" rtlCol="false" tIns="50800" lIns="50800" bIns="50800" rIns="50800"/>
              <a:lstStyle/>
              <a:p>
                <a:pPr algn="ctr">
                  <a:lnSpc>
                    <a:spcPts val="3625"/>
                  </a:lnSpc>
                </a:pPr>
              </a:p>
            </p:txBody>
          </p:sp>
        </p:grpSp>
        <p:sp>
          <p:nvSpPr>
            <p:cNvPr name="Freeform 55" id="55"/>
            <p:cNvSpPr/>
            <p:nvPr/>
          </p:nvSpPr>
          <p:spPr>
            <a:xfrm flipH="false" flipV="true" rot="0">
              <a:off x="5890522" y="251784"/>
              <a:ext cx="1753064" cy="880081"/>
            </a:xfrm>
            <a:custGeom>
              <a:avLst/>
              <a:gdLst/>
              <a:ahLst/>
              <a:cxnLst/>
              <a:rect r="r" b="b" t="t" l="l"/>
              <a:pathLst>
                <a:path h="880081" w="1753064">
                  <a:moveTo>
                    <a:pt x="0" y="880081"/>
                  </a:moveTo>
                  <a:lnTo>
                    <a:pt x="1753064" y="880081"/>
                  </a:lnTo>
                  <a:lnTo>
                    <a:pt x="1753064" y="0"/>
                  </a:lnTo>
                  <a:lnTo>
                    <a:pt x="0" y="0"/>
                  </a:lnTo>
                  <a:lnTo>
                    <a:pt x="0" y="880081"/>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56" id="56"/>
            <p:cNvSpPr/>
            <p:nvPr/>
          </p:nvSpPr>
          <p:spPr>
            <a:xfrm flipH="false" flipV="false" rot="0">
              <a:off x="277618" y="0"/>
              <a:ext cx="1378070" cy="691825"/>
            </a:xfrm>
            <a:custGeom>
              <a:avLst/>
              <a:gdLst/>
              <a:ahLst/>
              <a:cxnLst/>
              <a:rect r="r" b="b" t="t" l="l"/>
              <a:pathLst>
                <a:path h="691825" w="1378070">
                  <a:moveTo>
                    <a:pt x="0" y="0"/>
                  </a:moveTo>
                  <a:lnTo>
                    <a:pt x="1378070" y="0"/>
                  </a:lnTo>
                  <a:lnTo>
                    <a:pt x="1378070" y="691825"/>
                  </a:lnTo>
                  <a:lnTo>
                    <a:pt x="0" y="6918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TextBox 57" id="57"/>
          <p:cNvSpPr txBox="true"/>
          <p:nvPr/>
        </p:nvSpPr>
        <p:spPr>
          <a:xfrm rot="0">
            <a:off x="13404911" y="6464789"/>
            <a:ext cx="2874733" cy="381000"/>
          </a:xfrm>
          <a:prstGeom prst="rect">
            <a:avLst/>
          </a:prstGeom>
        </p:spPr>
        <p:txBody>
          <a:bodyPr anchor="t" rtlCol="false" tIns="0" lIns="0" bIns="0" rIns="0">
            <a:spAutoFit/>
          </a:bodyPr>
          <a:lstStyle/>
          <a:p>
            <a:pPr algn="l">
              <a:lnSpc>
                <a:spcPts val="3149"/>
              </a:lnSpc>
            </a:pPr>
            <a:r>
              <a:rPr lang="en-US" sz="2250" b="true">
                <a:solidFill>
                  <a:srgbClr val="005088"/>
                </a:solidFill>
                <a:latin typeface="Merriweather Bold"/>
                <a:ea typeface="Merriweather Bold"/>
                <a:cs typeface="Merriweather Bold"/>
                <a:sym typeface="Merriweather Bold"/>
              </a:rPr>
              <a:t>I</a:t>
            </a:r>
            <a:r>
              <a:rPr lang="en-US" sz="2250" b="true">
                <a:solidFill>
                  <a:srgbClr val="005088"/>
                </a:solidFill>
                <a:latin typeface="Merriweather Bold"/>
                <a:ea typeface="Merriweather Bold"/>
                <a:cs typeface="Merriweather Bold"/>
                <a:sym typeface="Merriweather Bold"/>
              </a:rPr>
              <a:t>mplementation</a:t>
            </a:r>
          </a:p>
        </p:txBody>
      </p:sp>
      <p:sp>
        <p:nvSpPr>
          <p:cNvPr name="TextBox 58" id="58"/>
          <p:cNvSpPr txBox="true"/>
          <p:nvPr/>
        </p:nvSpPr>
        <p:spPr>
          <a:xfrm rot="0">
            <a:off x="7933434" y="4786312"/>
            <a:ext cx="457795" cy="762000"/>
          </a:xfrm>
          <a:prstGeom prst="rect">
            <a:avLst/>
          </a:prstGeom>
        </p:spPr>
        <p:txBody>
          <a:bodyPr anchor="t" rtlCol="false" tIns="0" lIns="0" bIns="0" rIns="0">
            <a:spAutoFit/>
          </a:bodyPr>
          <a:lstStyle/>
          <a:p>
            <a:pPr algn="l">
              <a:lnSpc>
                <a:spcPts val="6000"/>
              </a:lnSpc>
            </a:pPr>
            <a:r>
              <a:rPr lang="en-US" b="true" sz="5000">
                <a:solidFill>
                  <a:srgbClr val="005088"/>
                </a:solidFill>
                <a:latin typeface="Merriweather Bold"/>
                <a:ea typeface="Merriweather Bold"/>
                <a:cs typeface="Merriweather Bold"/>
                <a:sym typeface="Merriweather Bold"/>
              </a:rPr>
              <a:t>R</a:t>
            </a:r>
          </a:p>
        </p:txBody>
      </p:sp>
      <p:sp>
        <p:nvSpPr>
          <p:cNvPr name="TextBox 59" id="59"/>
          <p:cNvSpPr txBox="true"/>
          <p:nvPr/>
        </p:nvSpPr>
        <p:spPr>
          <a:xfrm rot="0">
            <a:off x="9937458" y="5874318"/>
            <a:ext cx="445740" cy="762000"/>
          </a:xfrm>
          <a:prstGeom prst="rect">
            <a:avLst/>
          </a:prstGeom>
        </p:spPr>
        <p:txBody>
          <a:bodyPr anchor="t" rtlCol="false" tIns="0" lIns="0" bIns="0" rIns="0">
            <a:spAutoFit/>
          </a:bodyPr>
          <a:lstStyle/>
          <a:p>
            <a:pPr algn="l">
              <a:lnSpc>
                <a:spcPts val="6000"/>
              </a:lnSpc>
            </a:pPr>
            <a:r>
              <a:rPr lang="en-US" b="true" sz="5000">
                <a:solidFill>
                  <a:srgbClr val="005088"/>
                </a:solidFill>
                <a:latin typeface="Merriweather Bold"/>
                <a:ea typeface="Merriweather Bold"/>
                <a:cs typeface="Merriweather Bold"/>
                <a:sym typeface="Merriweather Bold"/>
              </a:rPr>
              <a:t>A</a:t>
            </a:r>
          </a:p>
        </p:txBody>
      </p:sp>
      <p:sp>
        <p:nvSpPr>
          <p:cNvPr name="TextBox 60" id="60"/>
          <p:cNvSpPr txBox="true"/>
          <p:nvPr/>
        </p:nvSpPr>
        <p:spPr>
          <a:xfrm rot="0">
            <a:off x="7933434" y="7104217"/>
            <a:ext cx="483245" cy="762000"/>
          </a:xfrm>
          <a:prstGeom prst="rect">
            <a:avLst/>
          </a:prstGeom>
        </p:spPr>
        <p:txBody>
          <a:bodyPr anchor="t" rtlCol="false" tIns="0" lIns="0" bIns="0" rIns="0">
            <a:spAutoFit/>
          </a:bodyPr>
          <a:lstStyle/>
          <a:p>
            <a:pPr algn="l">
              <a:lnSpc>
                <a:spcPts val="6000"/>
              </a:lnSpc>
            </a:pPr>
            <a:r>
              <a:rPr lang="en-US" b="true" sz="5000">
                <a:solidFill>
                  <a:srgbClr val="005088"/>
                </a:solidFill>
                <a:latin typeface="Merriweather Bold"/>
                <a:ea typeface="Merriweather Bold"/>
                <a:cs typeface="Merriweather Bold"/>
                <a:sym typeface="Merriweather Bold"/>
              </a:rPr>
              <a:t>D</a:t>
            </a:r>
          </a:p>
        </p:txBody>
      </p:sp>
      <p:sp>
        <p:nvSpPr>
          <p:cNvPr name="TextBox 61" id="61"/>
          <p:cNvSpPr txBox="true"/>
          <p:nvPr/>
        </p:nvSpPr>
        <p:spPr>
          <a:xfrm rot="0">
            <a:off x="1259239" y="3137341"/>
            <a:ext cx="401837" cy="405766"/>
          </a:xfrm>
          <a:prstGeom prst="rect">
            <a:avLst/>
          </a:prstGeom>
        </p:spPr>
        <p:txBody>
          <a:bodyPr anchor="t" rtlCol="false" tIns="0" lIns="0" bIns="0" rIns="0">
            <a:spAutoFit/>
          </a:bodyPr>
          <a:lstStyle/>
          <a:p>
            <a:pPr algn="ctr">
              <a:lnSpc>
                <a:spcPts val="3359"/>
              </a:lnSpc>
            </a:pPr>
            <a:r>
              <a:rPr lang="en-US" sz="2399" b="true">
                <a:solidFill>
                  <a:srgbClr val="005088"/>
                </a:solidFill>
                <a:latin typeface="Merriweather Bold"/>
                <a:ea typeface="Merriweather Bold"/>
                <a:cs typeface="Merriweather Bold"/>
                <a:sym typeface="Merriweather Bold"/>
              </a:rPr>
              <a:t>01  </a:t>
            </a:r>
          </a:p>
        </p:txBody>
      </p:sp>
      <p:sp>
        <p:nvSpPr>
          <p:cNvPr name="TextBox 62" id="62"/>
          <p:cNvSpPr txBox="true"/>
          <p:nvPr/>
        </p:nvSpPr>
        <p:spPr>
          <a:xfrm rot="0">
            <a:off x="1460158" y="6276193"/>
            <a:ext cx="401837" cy="405766"/>
          </a:xfrm>
          <a:prstGeom prst="rect">
            <a:avLst/>
          </a:prstGeom>
        </p:spPr>
        <p:txBody>
          <a:bodyPr anchor="t" rtlCol="false" tIns="0" lIns="0" bIns="0" rIns="0">
            <a:spAutoFit/>
          </a:bodyPr>
          <a:lstStyle/>
          <a:p>
            <a:pPr algn="ctr">
              <a:lnSpc>
                <a:spcPts val="3359"/>
              </a:lnSpc>
            </a:pPr>
            <a:r>
              <a:rPr lang="en-US" sz="2399" b="true">
                <a:solidFill>
                  <a:srgbClr val="005088"/>
                </a:solidFill>
                <a:latin typeface="Merriweather Bold"/>
                <a:ea typeface="Merriweather Bold"/>
                <a:cs typeface="Merriweather Bold"/>
                <a:sym typeface="Merriweather Bold"/>
              </a:rPr>
              <a:t>02  </a:t>
            </a:r>
          </a:p>
        </p:txBody>
      </p:sp>
      <p:sp>
        <p:nvSpPr>
          <p:cNvPr name="TextBox 63" id="63"/>
          <p:cNvSpPr txBox="true"/>
          <p:nvPr/>
        </p:nvSpPr>
        <p:spPr>
          <a:xfrm rot="0">
            <a:off x="12044947" y="3047519"/>
            <a:ext cx="401837" cy="405766"/>
          </a:xfrm>
          <a:prstGeom prst="rect">
            <a:avLst/>
          </a:prstGeom>
        </p:spPr>
        <p:txBody>
          <a:bodyPr anchor="t" rtlCol="false" tIns="0" lIns="0" bIns="0" rIns="0">
            <a:spAutoFit/>
          </a:bodyPr>
          <a:lstStyle/>
          <a:p>
            <a:pPr algn="ctr">
              <a:lnSpc>
                <a:spcPts val="3359"/>
              </a:lnSpc>
            </a:pPr>
            <a:r>
              <a:rPr lang="en-US" sz="2399" b="true">
                <a:solidFill>
                  <a:srgbClr val="005088"/>
                </a:solidFill>
                <a:latin typeface="Merriweather Bold"/>
                <a:ea typeface="Merriweather Bold"/>
                <a:cs typeface="Merriweather Bold"/>
                <a:sym typeface="Merriweather Bold"/>
              </a:rPr>
              <a:t>03  </a:t>
            </a:r>
          </a:p>
        </p:txBody>
      </p:sp>
      <p:sp>
        <p:nvSpPr>
          <p:cNvPr name="TextBox 64" id="64"/>
          <p:cNvSpPr txBox="true"/>
          <p:nvPr/>
        </p:nvSpPr>
        <p:spPr>
          <a:xfrm rot="0">
            <a:off x="12446784" y="6178752"/>
            <a:ext cx="401837" cy="405766"/>
          </a:xfrm>
          <a:prstGeom prst="rect">
            <a:avLst/>
          </a:prstGeom>
        </p:spPr>
        <p:txBody>
          <a:bodyPr anchor="t" rtlCol="false" tIns="0" lIns="0" bIns="0" rIns="0">
            <a:spAutoFit/>
          </a:bodyPr>
          <a:lstStyle/>
          <a:p>
            <a:pPr algn="ctr">
              <a:lnSpc>
                <a:spcPts val="3359"/>
              </a:lnSpc>
            </a:pPr>
            <a:r>
              <a:rPr lang="en-US" sz="2399" b="true">
                <a:solidFill>
                  <a:srgbClr val="005088"/>
                </a:solidFill>
                <a:latin typeface="Merriweather Bold"/>
                <a:ea typeface="Merriweather Bold"/>
                <a:cs typeface="Merriweather Bold"/>
                <a:sym typeface="Merriweather Bold"/>
              </a:rPr>
              <a:t>04  </a:t>
            </a:r>
          </a:p>
        </p:txBody>
      </p:sp>
      <p:sp>
        <p:nvSpPr>
          <p:cNvPr name="Freeform 65" id="65"/>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1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2477144"/>
            <a:ext cx="5355729" cy="47625"/>
            <a:chOff x="0" y="0"/>
            <a:chExt cx="7140972" cy="63500"/>
          </a:xfrm>
        </p:grpSpPr>
        <p:sp>
          <p:nvSpPr>
            <p:cNvPr name="Freeform 5" id="5"/>
            <p:cNvSpPr/>
            <p:nvPr/>
          </p:nvSpPr>
          <p:spPr>
            <a:xfrm flipH="false" flipV="false" rot="0">
              <a:off x="0" y="0"/>
              <a:ext cx="7140972" cy="63500"/>
            </a:xfrm>
            <a:custGeom>
              <a:avLst/>
              <a:gdLst/>
              <a:ahLst/>
              <a:cxnLst/>
              <a:rect r="r" b="b" t="t" l="l"/>
              <a:pathLst>
                <a:path h="63500" w="7140972">
                  <a:moveTo>
                    <a:pt x="0" y="0"/>
                  </a:moveTo>
                  <a:lnTo>
                    <a:pt x="7140972" y="0"/>
                  </a:lnTo>
                  <a:lnTo>
                    <a:pt x="7140972" y="63500"/>
                  </a:lnTo>
                  <a:lnTo>
                    <a:pt x="0" y="63500"/>
                  </a:lnTo>
                  <a:close/>
                </a:path>
              </a:pathLst>
            </a:custGeom>
            <a:solidFill>
              <a:srgbClr val="E2E8F0"/>
            </a:solidFill>
          </p:spPr>
        </p:sp>
      </p:grpSp>
      <p:sp>
        <p:nvSpPr>
          <p:cNvPr name="Freeform 6" id="6"/>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4"/>
            <a:stretch>
              <a:fillRect l="0" t="0" r="0" b="0"/>
            </a:stretch>
          </a:blipFill>
        </p:spPr>
      </p:sp>
      <p:sp>
        <p:nvSpPr>
          <p:cNvPr name="Freeform 7" id="7"/>
          <p:cNvSpPr/>
          <p:nvPr/>
        </p:nvSpPr>
        <p:spPr>
          <a:xfrm flipH="false" flipV="false" rot="0">
            <a:off x="9322237" y="382659"/>
            <a:ext cx="8793754" cy="9493931"/>
          </a:xfrm>
          <a:custGeom>
            <a:avLst/>
            <a:gdLst/>
            <a:ahLst/>
            <a:cxnLst/>
            <a:rect r="r" b="b" t="t" l="l"/>
            <a:pathLst>
              <a:path h="9493931" w="8793754">
                <a:moveTo>
                  <a:pt x="0" y="0"/>
                </a:moveTo>
                <a:lnTo>
                  <a:pt x="8793754" y="0"/>
                </a:lnTo>
                <a:lnTo>
                  <a:pt x="8793754" y="9493931"/>
                </a:lnTo>
                <a:lnTo>
                  <a:pt x="0" y="9493931"/>
                </a:lnTo>
                <a:lnTo>
                  <a:pt x="0" y="0"/>
                </a:lnTo>
                <a:close/>
              </a:path>
            </a:pathLst>
          </a:custGeom>
          <a:blipFill>
            <a:blip r:embed="rId5"/>
            <a:stretch>
              <a:fillRect l="0" t="0" r="0" b="0"/>
            </a:stretch>
          </a:blipFill>
        </p:spPr>
      </p:sp>
      <p:sp>
        <p:nvSpPr>
          <p:cNvPr name="TextBox 8" id="8"/>
          <p:cNvSpPr txBox="true"/>
          <p:nvPr/>
        </p:nvSpPr>
        <p:spPr>
          <a:xfrm rot="0">
            <a:off x="567259" y="2508250"/>
            <a:ext cx="8754977" cy="7693025"/>
          </a:xfrm>
          <a:prstGeom prst="rect">
            <a:avLst/>
          </a:prstGeom>
        </p:spPr>
        <p:txBody>
          <a:bodyPr anchor="t" rtlCol="false" tIns="0" lIns="0" bIns="0" rIns="0">
            <a:spAutoFit/>
          </a:bodyPr>
          <a:lstStyle/>
          <a:p>
            <a:pPr algn="l">
              <a:lnSpc>
                <a:spcPts val="3400"/>
              </a:lnSpc>
            </a:pPr>
            <a:r>
              <a:rPr lang="en-US" sz="2000">
                <a:solidFill>
                  <a:srgbClr val="334155"/>
                </a:solidFill>
                <a:latin typeface="DM Sans"/>
                <a:ea typeface="DM Sans"/>
                <a:cs typeface="DM Sans"/>
                <a:sym typeface="DM Sans"/>
              </a:rPr>
              <a:t>Guru: Bertugas</a:t>
            </a:r>
            <a:r>
              <a:rPr lang="en-US" sz="2000">
                <a:solidFill>
                  <a:srgbClr val="334155"/>
                </a:solidFill>
                <a:latin typeface="DM Sans"/>
                <a:ea typeface="DM Sans"/>
                <a:cs typeface="DM Sans"/>
                <a:sym typeface="DM Sans"/>
              </a:rPr>
              <a:t> di garis depan untuk pendataan perilaku siswa.</a:t>
            </a:r>
          </a:p>
          <a:p>
            <a:pPr algn="l" marL="431801" indent="-215900" lvl="1">
              <a:lnSpc>
                <a:spcPts val="3400"/>
              </a:lnSpc>
              <a:buFont typeface="Arial"/>
              <a:buChar char="•"/>
            </a:pPr>
            <a:r>
              <a:rPr lang="en-US" sz="2000">
                <a:solidFill>
                  <a:srgbClr val="334155"/>
                </a:solidFill>
                <a:latin typeface="DM Sans"/>
                <a:ea typeface="DM Sans"/>
                <a:cs typeface="DM Sans"/>
                <a:sym typeface="DM Sans"/>
              </a:rPr>
              <a:t>Input pelanggaran harian.</a:t>
            </a:r>
          </a:p>
          <a:p>
            <a:pPr algn="l" marL="431801" indent="-215900" lvl="1">
              <a:lnSpc>
                <a:spcPts val="3400"/>
              </a:lnSpc>
              <a:buFont typeface="Arial"/>
              <a:buChar char="•"/>
            </a:pPr>
            <a:r>
              <a:rPr lang="en-US" sz="2000">
                <a:solidFill>
                  <a:srgbClr val="334155"/>
                </a:solidFill>
                <a:latin typeface="DM Sans"/>
                <a:ea typeface="DM Sans"/>
                <a:cs typeface="DM Sans"/>
                <a:sym typeface="DM Sans"/>
              </a:rPr>
              <a:t>Pantau rekap &amp; ajukan revisi</a:t>
            </a:r>
            <a:r>
              <a:rPr lang="en-US" sz="2000">
                <a:solidFill>
                  <a:srgbClr val="334155"/>
                </a:solidFill>
                <a:latin typeface="DM Sans"/>
                <a:ea typeface="DM Sans"/>
                <a:cs typeface="DM Sans"/>
                <a:sym typeface="DM Sans"/>
              </a:rPr>
              <a:t>.</a:t>
            </a:r>
          </a:p>
          <a:p>
            <a:pPr algn="l">
              <a:lnSpc>
                <a:spcPts val="3400"/>
              </a:lnSpc>
            </a:pPr>
            <a:r>
              <a:rPr lang="en-US" sz="2000">
                <a:solidFill>
                  <a:srgbClr val="334155"/>
                </a:solidFill>
                <a:latin typeface="DM Sans"/>
                <a:ea typeface="DM Sans"/>
                <a:cs typeface="DM Sans"/>
                <a:sym typeface="DM Sans"/>
              </a:rPr>
              <a:t>Admin Tatib: Manajer operasional untuk penegakan kedisiplinan.</a:t>
            </a:r>
          </a:p>
          <a:p>
            <a:pPr algn="l" marL="431801" indent="-215900" lvl="1">
              <a:lnSpc>
                <a:spcPts val="3400"/>
              </a:lnSpc>
              <a:buFont typeface="Arial"/>
              <a:buChar char="•"/>
            </a:pPr>
            <a:r>
              <a:rPr lang="en-US" sz="2000">
                <a:solidFill>
                  <a:srgbClr val="334155"/>
                </a:solidFill>
                <a:latin typeface="DM Sans"/>
                <a:ea typeface="DM Sans"/>
                <a:cs typeface="DM Sans"/>
                <a:sym typeface="DM Sans"/>
              </a:rPr>
              <a:t>S</a:t>
            </a:r>
            <a:r>
              <a:rPr lang="en-US" sz="2000">
                <a:solidFill>
                  <a:srgbClr val="334155"/>
                </a:solidFill>
                <a:latin typeface="DM Sans"/>
                <a:ea typeface="DM Sans"/>
                <a:cs typeface="DM Sans"/>
                <a:sym typeface="DM Sans"/>
              </a:rPr>
              <a:t>etup aturan &amp; bobot poin.</a:t>
            </a:r>
          </a:p>
          <a:p>
            <a:pPr algn="l" marL="431801" indent="-215900" lvl="1">
              <a:lnSpc>
                <a:spcPts val="3400"/>
              </a:lnSpc>
              <a:buFont typeface="Arial"/>
              <a:buChar char="•"/>
            </a:pPr>
            <a:r>
              <a:rPr lang="en-US" sz="2000">
                <a:solidFill>
                  <a:srgbClr val="334155"/>
                </a:solidFill>
                <a:latin typeface="DM Sans"/>
                <a:ea typeface="DM Sans"/>
                <a:cs typeface="DM Sans"/>
                <a:sym typeface="DM Sans"/>
              </a:rPr>
              <a:t>Validasi revisi &amp; kelola Surat SP (1-3).</a:t>
            </a:r>
          </a:p>
          <a:p>
            <a:pPr algn="l" marL="431801" indent="-215900" lvl="1">
              <a:lnSpc>
                <a:spcPts val="3400"/>
              </a:lnSpc>
              <a:buFont typeface="Arial"/>
              <a:buChar char="•"/>
            </a:pPr>
            <a:r>
              <a:rPr lang="en-US" sz="2000">
                <a:solidFill>
                  <a:srgbClr val="334155"/>
                </a:solidFill>
                <a:latin typeface="DM Sans"/>
                <a:ea typeface="DM Sans"/>
                <a:cs typeface="DM Sans"/>
                <a:sym typeface="DM Sans"/>
              </a:rPr>
              <a:t>Pantau laporan &amp; arsip global.</a:t>
            </a:r>
          </a:p>
          <a:p>
            <a:pPr algn="l">
              <a:lnSpc>
                <a:spcPts val="3400"/>
              </a:lnSpc>
            </a:pPr>
            <a:r>
              <a:rPr lang="en-US" sz="2000">
                <a:solidFill>
                  <a:srgbClr val="334155"/>
                </a:solidFill>
                <a:latin typeface="DM Sans"/>
                <a:ea typeface="DM Sans"/>
                <a:cs typeface="DM Sans"/>
                <a:sym typeface="DM Sans"/>
              </a:rPr>
              <a:t>Admin Pusat: Administrator tingkat tinggi pengelola data dasar sekolah.</a:t>
            </a:r>
          </a:p>
          <a:p>
            <a:pPr algn="l" marL="431801" indent="-215900" lvl="1">
              <a:lnSpc>
                <a:spcPts val="3400"/>
              </a:lnSpc>
              <a:buFont typeface="Arial"/>
              <a:buChar char="•"/>
            </a:pPr>
            <a:r>
              <a:rPr lang="en-US" sz="2000">
                <a:solidFill>
                  <a:srgbClr val="334155"/>
                </a:solidFill>
                <a:latin typeface="DM Sans"/>
                <a:ea typeface="DM Sans"/>
                <a:cs typeface="DM Sans"/>
                <a:sym typeface="DM Sans"/>
              </a:rPr>
              <a:t>Kelola master data (Siswa, Guru, Ortu, Tahun).</a:t>
            </a:r>
          </a:p>
          <a:p>
            <a:pPr algn="l" marL="431801" indent="-215900" lvl="1">
              <a:lnSpc>
                <a:spcPts val="3400"/>
              </a:lnSpc>
              <a:buFont typeface="Arial"/>
              <a:buChar char="•"/>
            </a:pPr>
            <a:r>
              <a:rPr lang="en-US" sz="2000">
                <a:solidFill>
                  <a:srgbClr val="334155"/>
                </a:solidFill>
                <a:latin typeface="DM Sans"/>
                <a:ea typeface="DM Sans"/>
                <a:cs typeface="DM Sans"/>
                <a:sym typeface="DM Sans"/>
              </a:rPr>
              <a:t>Proses tutup tahun &amp; kelulusan.</a:t>
            </a:r>
          </a:p>
          <a:p>
            <a:pPr algn="l" marL="431801" indent="-215900" lvl="1">
              <a:lnSpc>
                <a:spcPts val="3400"/>
              </a:lnSpc>
              <a:buFont typeface="Arial"/>
              <a:buChar char="•"/>
            </a:pPr>
            <a:r>
              <a:rPr lang="en-US" sz="2000">
                <a:solidFill>
                  <a:srgbClr val="334155"/>
                </a:solidFill>
                <a:latin typeface="DM Sans"/>
                <a:ea typeface="DM Sans"/>
                <a:cs typeface="DM Sans"/>
                <a:sym typeface="DM Sans"/>
              </a:rPr>
              <a:t>Akses arsip global (Read-only).</a:t>
            </a:r>
          </a:p>
          <a:p>
            <a:pPr algn="l">
              <a:lnSpc>
                <a:spcPts val="3400"/>
              </a:lnSpc>
            </a:pPr>
            <a:r>
              <a:rPr lang="en-US" sz="2000">
                <a:solidFill>
                  <a:srgbClr val="334155"/>
                </a:solidFill>
                <a:latin typeface="DM Sans"/>
                <a:ea typeface="DM Sans"/>
                <a:cs typeface="DM Sans"/>
                <a:sym typeface="DM Sans"/>
              </a:rPr>
              <a:t>Kepala</a:t>
            </a:r>
            <a:r>
              <a:rPr lang="en-US" sz="2000">
                <a:solidFill>
                  <a:srgbClr val="334155"/>
                </a:solidFill>
                <a:latin typeface="DM Sans"/>
                <a:ea typeface="DM Sans"/>
                <a:cs typeface="DM Sans"/>
                <a:sym typeface="DM Sans"/>
              </a:rPr>
              <a:t> Sekolah: Memiliki fungsi pengawasan dan evaluasi manajerial.</a:t>
            </a:r>
          </a:p>
          <a:p>
            <a:pPr algn="l" marL="431801" indent="-215900" lvl="1">
              <a:lnSpc>
                <a:spcPts val="3400"/>
              </a:lnSpc>
              <a:buFont typeface="Arial"/>
              <a:buChar char="•"/>
            </a:pPr>
            <a:r>
              <a:rPr lang="en-US" sz="2000">
                <a:solidFill>
                  <a:srgbClr val="334155"/>
                </a:solidFill>
                <a:latin typeface="DM Sans"/>
                <a:ea typeface="DM Sans"/>
                <a:cs typeface="DM Sans"/>
                <a:sym typeface="DM Sans"/>
              </a:rPr>
              <a:t>Pan</a:t>
            </a:r>
            <a:r>
              <a:rPr lang="en-US" sz="2000">
                <a:solidFill>
                  <a:srgbClr val="334155"/>
                </a:solidFill>
                <a:latin typeface="DM Sans"/>
                <a:ea typeface="DM Sans"/>
                <a:cs typeface="DM Sans"/>
                <a:sym typeface="DM Sans"/>
              </a:rPr>
              <a:t>tau dashboard analitik.</a:t>
            </a:r>
          </a:p>
          <a:p>
            <a:pPr algn="l" marL="431801" indent="-215900" lvl="1">
              <a:lnSpc>
                <a:spcPts val="3400"/>
              </a:lnSpc>
              <a:buFont typeface="Arial"/>
              <a:buChar char="•"/>
            </a:pPr>
            <a:r>
              <a:rPr lang="en-US" sz="2000">
                <a:solidFill>
                  <a:srgbClr val="334155"/>
                </a:solidFill>
                <a:latin typeface="DM Sans"/>
                <a:ea typeface="DM Sans"/>
                <a:cs typeface="DM Sans"/>
                <a:sym typeface="DM Sans"/>
              </a:rPr>
              <a:t>Lihat &amp; cetak semua laporan.</a:t>
            </a:r>
          </a:p>
          <a:p>
            <a:pPr algn="l" marL="431801" indent="-215900" lvl="1">
              <a:lnSpc>
                <a:spcPts val="3400"/>
              </a:lnSpc>
              <a:buFont typeface="Arial"/>
              <a:buChar char="•"/>
            </a:pPr>
            <a:r>
              <a:rPr lang="en-US" sz="2000">
                <a:solidFill>
                  <a:srgbClr val="334155"/>
                </a:solidFill>
                <a:latin typeface="DM Sans"/>
                <a:ea typeface="DM Sans"/>
                <a:cs typeface="DM Sans"/>
                <a:sym typeface="DM Sans"/>
              </a:rPr>
              <a:t>Pantau semua rekap poin.</a:t>
            </a:r>
          </a:p>
          <a:p>
            <a:pPr algn="l">
              <a:lnSpc>
                <a:spcPts val="3400"/>
              </a:lnSpc>
            </a:pPr>
            <a:r>
              <a:rPr lang="en-US" sz="2000">
                <a:solidFill>
                  <a:srgbClr val="334155"/>
                </a:solidFill>
                <a:latin typeface="DM Sans"/>
                <a:ea typeface="DM Sans"/>
                <a:cs typeface="DM Sans"/>
                <a:sym typeface="DM Sans"/>
              </a:rPr>
              <a:t>Wali Murid: Memonitor riwayat anak dan memberikan </a:t>
            </a:r>
            <a:r>
              <a:rPr lang="en-US" sz="2000" i="true">
                <a:solidFill>
                  <a:srgbClr val="334155"/>
                </a:solidFill>
                <a:latin typeface="DM Sans Italics"/>
                <a:ea typeface="DM Sans Italics"/>
                <a:cs typeface="DM Sans Italics"/>
                <a:sym typeface="DM Sans Italics"/>
              </a:rPr>
              <a:t>feedback.</a:t>
            </a:r>
          </a:p>
          <a:p>
            <a:pPr algn="l" marL="431801" indent="-215900" lvl="1">
              <a:lnSpc>
                <a:spcPts val="3400"/>
              </a:lnSpc>
              <a:buFont typeface="Arial"/>
              <a:buChar char="•"/>
            </a:pPr>
            <a:r>
              <a:rPr lang="en-US" sz="2000">
                <a:solidFill>
                  <a:srgbClr val="334155"/>
                </a:solidFill>
                <a:latin typeface="DM Sans"/>
                <a:ea typeface="DM Sans"/>
                <a:cs typeface="DM Sans"/>
                <a:sym typeface="DM Sans"/>
              </a:rPr>
              <a:t>Pa</a:t>
            </a:r>
            <a:r>
              <a:rPr lang="en-US" sz="2000">
                <a:solidFill>
                  <a:srgbClr val="334155"/>
                </a:solidFill>
                <a:latin typeface="DM Sans"/>
                <a:ea typeface="DM Sans"/>
                <a:cs typeface="DM Sans"/>
                <a:sym typeface="DM Sans"/>
              </a:rPr>
              <a:t>ntau riwayat pelanggaran anak.</a:t>
            </a:r>
          </a:p>
          <a:p>
            <a:pPr algn="l" marL="431801" indent="-215900" lvl="1">
              <a:lnSpc>
                <a:spcPts val="3400"/>
              </a:lnSpc>
              <a:buFont typeface="Arial"/>
              <a:buChar char="•"/>
            </a:pPr>
            <a:r>
              <a:rPr lang="en-US" sz="2000">
                <a:solidFill>
                  <a:srgbClr val="334155"/>
                </a:solidFill>
                <a:latin typeface="DM Sans"/>
                <a:ea typeface="DM Sans"/>
                <a:cs typeface="DM Sans"/>
                <a:sym typeface="DM Sans"/>
              </a:rPr>
              <a:t>Kirim pesan &amp; feedback SP.</a:t>
            </a:r>
          </a:p>
        </p:txBody>
      </p:sp>
      <p:sp>
        <p:nvSpPr>
          <p:cNvPr name="TextBox 9" id="9"/>
          <p:cNvSpPr txBox="true"/>
          <p:nvPr/>
        </p:nvSpPr>
        <p:spPr>
          <a:xfrm rot="0">
            <a:off x="1143000" y="1705619"/>
            <a:ext cx="6236098"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Use Case Diagram</a:t>
            </a:r>
          </a:p>
        </p:txBody>
      </p:sp>
      <p:sp>
        <p:nvSpPr>
          <p:cNvPr name="TextBox 10" id="10"/>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2845487"/>
            <a:ext cx="2978200" cy="47625"/>
            <a:chOff x="0" y="0"/>
            <a:chExt cx="3970933" cy="63500"/>
          </a:xfrm>
        </p:grpSpPr>
        <p:sp>
          <p:nvSpPr>
            <p:cNvPr name="Freeform 5" id="5"/>
            <p:cNvSpPr/>
            <p:nvPr/>
          </p:nvSpPr>
          <p:spPr>
            <a:xfrm flipH="false" flipV="false" rot="0">
              <a:off x="0" y="0"/>
              <a:ext cx="3970933" cy="63500"/>
            </a:xfrm>
            <a:custGeom>
              <a:avLst/>
              <a:gdLst/>
              <a:ahLst/>
              <a:cxnLst/>
              <a:rect r="r" b="b" t="t" l="l"/>
              <a:pathLst>
                <a:path h="63500" w="3970933">
                  <a:moveTo>
                    <a:pt x="0" y="0"/>
                  </a:moveTo>
                  <a:lnTo>
                    <a:pt x="3970933" y="0"/>
                  </a:lnTo>
                  <a:lnTo>
                    <a:pt x="3970933" y="63500"/>
                  </a:lnTo>
                  <a:lnTo>
                    <a:pt x="0" y="63500"/>
                  </a:lnTo>
                  <a:close/>
                </a:path>
              </a:pathLst>
            </a:custGeom>
            <a:solidFill>
              <a:srgbClr val="E2E8F0"/>
            </a:solidFill>
          </p:spPr>
        </p:sp>
      </p:grpSp>
      <p:sp>
        <p:nvSpPr>
          <p:cNvPr name="TextBox 6" id="6"/>
          <p:cNvSpPr txBox="true"/>
          <p:nvPr/>
        </p:nvSpPr>
        <p:spPr>
          <a:xfrm rot="0">
            <a:off x="1143000" y="1907275"/>
            <a:ext cx="4170366"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Workflow</a:t>
            </a:r>
          </a:p>
        </p:txBody>
      </p:sp>
      <p:sp>
        <p:nvSpPr>
          <p:cNvPr name="TextBox 7" id="7"/>
          <p:cNvSpPr txBox="true"/>
          <p:nvPr/>
        </p:nvSpPr>
        <p:spPr>
          <a:xfrm rot="0">
            <a:off x="1143000" y="3121712"/>
            <a:ext cx="5562600" cy="5549900"/>
          </a:xfrm>
          <a:prstGeom prst="rect">
            <a:avLst/>
          </a:prstGeom>
        </p:spPr>
        <p:txBody>
          <a:bodyPr anchor="t" rtlCol="false" tIns="0" lIns="0" bIns="0" rIns="0">
            <a:spAutoFit/>
          </a:bodyPr>
          <a:lstStyle/>
          <a:p>
            <a:pPr algn="l">
              <a:lnSpc>
                <a:spcPts val="3400"/>
              </a:lnSpc>
            </a:pPr>
            <a:r>
              <a:rPr lang="en-US" sz="2000" b="true">
                <a:solidFill>
                  <a:srgbClr val="000000"/>
                </a:solidFill>
                <a:latin typeface="DM Sans Bold"/>
                <a:ea typeface="DM Sans Bold"/>
                <a:cs typeface="DM Sans Bold"/>
                <a:sym typeface="DM Sans Bold"/>
              </a:rPr>
              <a:t>Fase Persiapan Data (Setup &amp; Master Data)</a:t>
            </a:r>
          </a:p>
          <a:p>
            <a:pPr algn="l">
              <a:lnSpc>
                <a:spcPts val="3400"/>
              </a:lnSpc>
            </a:pPr>
          </a:p>
          <a:p>
            <a:pPr algn="l">
              <a:lnSpc>
                <a:spcPts val="3400"/>
              </a:lnSpc>
            </a:pPr>
            <a:r>
              <a:rPr lang="en-US" b="true" sz="2000">
                <a:solidFill>
                  <a:srgbClr val="334155"/>
                </a:solidFill>
                <a:latin typeface="DM Sans Bold"/>
                <a:ea typeface="DM Sans Bold"/>
                <a:cs typeface="DM Sans Bold"/>
                <a:sym typeface="DM Sans Bold"/>
              </a:rPr>
              <a:t>A</a:t>
            </a:r>
            <a:r>
              <a:rPr lang="en-US" b="true" sz="2000">
                <a:solidFill>
                  <a:srgbClr val="334155"/>
                </a:solidFill>
                <a:latin typeface="DM Sans Bold"/>
                <a:ea typeface="DM Sans Bold"/>
                <a:cs typeface="DM Sans Bold"/>
                <a:sym typeface="DM Sans Bold"/>
              </a:rPr>
              <a:t>dmin Pusat (Tata Usaha):</a:t>
            </a:r>
          </a:p>
          <a:p>
            <a:pPr algn="l" marL="431801" indent="-215900" lvl="1">
              <a:lnSpc>
                <a:spcPts val="3400"/>
              </a:lnSpc>
              <a:buFont typeface="Arial"/>
              <a:buChar char="•"/>
            </a:pPr>
            <a:r>
              <a:rPr lang="en-US" sz="2000">
                <a:solidFill>
                  <a:srgbClr val="334155"/>
                </a:solidFill>
                <a:latin typeface="DM Sans"/>
                <a:ea typeface="DM Sans"/>
                <a:cs typeface="DM Sans"/>
                <a:sym typeface="DM Sans"/>
              </a:rPr>
              <a:t>Mengelola data induk (Siswa, Kelas, Tahun Ajaran). </a:t>
            </a:r>
          </a:p>
          <a:p>
            <a:pPr algn="l" marL="431801" indent="-215900" lvl="1">
              <a:lnSpc>
                <a:spcPts val="3400"/>
              </a:lnSpc>
              <a:buFont typeface="Arial"/>
              <a:buChar char="•"/>
            </a:pPr>
            <a:r>
              <a:rPr lang="en-US" sz="2000">
                <a:solidFill>
                  <a:srgbClr val="334155"/>
                </a:solidFill>
                <a:latin typeface="DM Sans"/>
                <a:ea typeface="DM Sans"/>
                <a:cs typeface="DM Sans"/>
                <a:sym typeface="DM Sans"/>
              </a:rPr>
              <a:t>Membuat akun Guru beserta PIN keamanan. </a:t>
            </a:r>
          </a:p>
          <a:p>
            <a:pPr algn="l">
              <a:lnSpc>
                <a:spcPts val="3400"/>
              </a:lnSpc>
            </a:pPr>
          </a:p>
          <a:p>
            <a:pPr algn="l">
              <a:lnSpc>
                <a:spcPts val="3400"/>
              </a:lnSpc>
            </a:pPr>
            <a:r>
              <a:rPr lang="en-US" b="true" sz="2000">
                <a:solidFill>
                  <a:srgbClr val="334155"/>
                </a:solidFill>
                <a:latin typeface="DM Sans Bold"/>
                <a:ea typeface="DM Sans Bold"/>
                <a:cs typeface="DM Sans Bold"/>
                <a:sym typeface="DM Sans Bold"/>
              </a:rPr>
              <a:t>Admin Tatib (Tim Kesiswaan):</a:t>
            </a:r>
          </a:p>
          <a:p>
            <a:pPr algn="l" marL="431801" indent="-215900" lvl="1">
              <a:lnSpc>
                <a:spcPts val="3400"/>
              </a:lnSpc>
              <a:buFont typeface="Arial"/>
              <a:buChar char="•"/>
            </a:pPr>
            <a:r>
              <a:rPr lang="en-US" sz="2000">
                <a:solidFill>
                  <a:srgbClr val="334155"/>
                </a:solidFill>
                <a:latin typeface="DM Sans"/>
                <a:ea typeface="DM Sans"/>
                <a:cs typeface="DM Sans"/>
                <a:sym typeface="DM Sans"/>
              </a:rPr>
              <a:t>Mendefinisikan jenis pelanggaran ke dalam tiga kategori (Kelakuan, Kerajinan, Kerapian). </a:t>
            </a:r>
          </a:p>
          <a:p>
            <a:pPr algn="l" marL="431801" indent="-215900" lvl="1">
              <a:lnSpc>
                <a:spcPts val="3400"/>
              </a:lnSpc>
              <a:buFont typeface="Arial"/>
              <a:buChar char="•"/>
            </a:pPr>
            <a:r>
              <a:rPr lang="en-US" sz="2000">
                <a:solidFill>
                  <a:srgbClr val="334155"/>
                </a:solidFill>
                <a:latin typeface="DM Sans"/>
                <a:ea typeface="DM Sans"/>
                <a:cs typeface="DM Sans"/>
                <a:sym typeface="DM Sans"/>
              </a:rPr>
              <a:t>Menetapkan bobot poin dan ambang batas yang akan memicu Surat Peringatan (SP).</a:t>
            </a:r>
          </a:p>
          <a:p>
            <a:pPr algn="l">
              <a:lnSpc>
                <a:spcPts val="3400"/>
              </a:lnSpc>
            </a:pPr>
          </a:p>
        </p:txBody>
      </p:sp>
      <p:sp>
        <p:nvSpPr>
          <p:cNvPr name="Freeform 8" id="8"/>
          <p:cNvSpPr/>
          <p:nvPr/>
        </p:nvSpPr>
        <p:spPr>
          <a:xfrm flipH="false" flipV="false" rot="0">
            <a:off x="7006133" y="827587"/>
            <a:ext cx="10898159" cy="8623168"/>
          </a:xfrm>
          <a:custGeom>
            <a:avLst/>
            <a:gdLst/>
            <a:ahLst/>
            <a:cxnLst/>
            <a:rect r="r" b="b" t="t" l="l"/>
            <a:pathLst>
              <a:path h="8623168" w="10898159">
                <a:moveTo>
                  <a:pt x="0" y="0"/>
                </a:moveTo>
                <a:lnTo>
                  <a:pt x="10898158" y="0"/>
                </a:lnTo>
                <a:lnTo>
                  <a:pt x="10898158" y="8623169"/>
                </a:lnTo>
                <a:lnTo>
                  <a:pt x="0" y="8623169"/>
                </a:lnTo>
                <a:lnTo>
                  <a:pt x="0" y="0"/>
                </a:lnTo>
                <a:close/>
              </a:path>
            </a:pathLst>
          </a:custGeom>
          <a:blipFill>
            <a:blip r:embed="rId4"/>
            <a:stretch>
              <a:fillRect l="0" t="0" r="0" b="0"/>
            </a:stretch>
          </a:blipFill>
        </p:spPr>
      </p:sp>
      <p:sp>
        <p:nvSpPr>
          <p:cNvPr name="TextBox 9" id="9"/>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10" id="10"/>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2845487"/>
            <a:ext cx="2978200" cy="47625"/>
            <a:chOff x="0" y="0"/>
            <a:chExt cx="3970933" cy="63500"/>
          </a:xfrm>
        </p:grpSpPr>
        <p:sp>
          <p:nvSpPr>
            <p:cNvPr name="Freeform 5" id="5"/>
            <p:cNvSpPr/>
            <p:nvPr/>
          </p:nvSpPr>
          <p:spPr>
            <a:xfrm flipH="false" flipV="false" rot="0">
              <a:off x="0" y="0"/>
              <a:ext cx="3970933" cy="63500"/>
            </a:xfrm>
            <a:custGeom>
              <a:avLst/>
              <a:gdLst/>
              <a:ahLst/>
              <a:cxnLst/>
              <a:rect r="r" b="b" t="t" l="l"/>
              <a:pathLst>
                <a:path h="63500" w="3970933">
                  <a:moveTo>
                    <a:pt x="0" y="0"/>
                  </a:moveTo>
                  <a:lnTo>
                    <a:pt x="3970933" y="0"/>
                  </a:lnTo>
                  <a:lnTo>
                    <a:pt x="3970933" y="63500"/>
                  </a:lnTo>
                  <a:lnTo>
                    <a:pt x="0" y="63500"/>
                  </a:lnTo>
                  <a:close/>
                </a:path>
              </a:pathLst>
            </a:custGeom>
            <a:solidFill>
              <a:srgbClr val="E2E8F0"/>
            </a:solidFill>
          </p:spPr>
        </p:sp>
      </p:grpSp>
      <p:grpSp>
        <p:nvGrpSpPr>
          <p:cNvPr name="Group 6" id="6"/>
          <p:cNvGrpSpPr/>
          <p:nvPr/>
        </p:nvGrpSpPr>
        <p:grpSpPr>
          <a:xfrm rot="0">
            <a:off x="8621123" y="378287"/>
            <a:ext cx="9464588" cy="9233441"/>
            <a:chOff x="0" y="0"/>
            <a:chExt cx="12619451" cy="12311254"/>
          </a:xfrm>
        </p:grpSpPr>
        <p:sp>
          <p:nvSpPr>
            <p:cNvPr name="Freeform 7" id="7"/>
            <p:cNvSpPr/>
            <p:nvPr/>
          </p:nvSpPr>
          <p:spPr>
            <a:xfrm flipH="false" flipV="false" rot="0">
              <a:off x="0" y="0"/>
              <a:ext cx="6262440" cy="12311254"/>
            </a:xfrm>
            <a:custGeom>
              <a:avLst/>
              <a:gdLst/>
              <a:ahLst/>
              <a:cxnLst/>
              <a:rect r="r" b="b" t="t" l="l"/>
              <a:pathLst>
                <a:path h="12311254" w="6262440">
                  <a:moveTo>
                    <a:pt x="0" y="0"/>
                  </a:moveTo>
                  <a:lnTo>
                    <a:pt x="6262440" y="0"/>
                  </a:lnTo>
                  <a:lnTo>
                    <a:pt x="6262440" y="12311254"/>
                  </a:lnTo>
                  <a:lnTo>
                    <a:pt x="0" y="12311254"/>
                  </a:lnTo>
                  <a:lnTo>
                    <a:pt x="0" y="0"/>
                  </a:lnTo>
                  <a:close/>
                </a:path>
              </a:pathLst>
            </a:custGeom>
            <a:blipFill>
              <a:blip r:embed="rId4"/>
              <a:stretch>
                <a:fillRect l="0" t="0" r="0" b="-105525"/>
              </a:stretch>
            </a:blipFill>
          </p:spPr>
        </p:sp>
        <p:sp>
          <p:nvSpPr>
            <p:cNvPr name="Freeform 8" id="8"/>
            <p:cNvSpPr/>
            <p:nvPr/>
          </p:nvSpPr>
          <p:spPr>
            <a:xfrm flipH="false" flipV="false" rot="0">
              <a:off x="6874709" y="819755"/>
              <a:ext cx="5744742" cy="11458494"/>
            </a:xfrm>
            <a:custGeom>
              <a:avLst/>
              <a:gdLst/>
              <a:ahLst/>
              <a:cxnLst/>
              <a:rect r="r" b="b" t="t" l="l"/>
              <a:pathLst>
                <a:path h="11458494" w="5744742">
                  <a:moveTo>
                    <a:pt x="0" y="0"/>
                  </a:moveTo>
                  <a:lnTo>
                    <a:pt x="5744742" y="0"/>
                  </a:lnTo>
                  <a:lnTo>
                    <a:pt x="5744742" y="11458494"/>
                  </a:lnTo>
                  <a:lnTo>
                    <a:pt x="0" y="11458494"/>
                  </a:lnTo>
                  <a:lnTo>
                    <a:pt x="0" y="0"/>
                  </a:lnTo>
                  <a:close/>
                </a:path>
              </a:pathLst>
            </a:custGeom>
            <a:blipFill>
              <a:blip r:embed="rId4"/>
              <a:stretch>
                <a:fillRect l="0" t="-102566" r="0" b="0"/>
              </a:stretch>
            </a:blipFill>
          </p:spPr>
        </p:sp>
        <p:sp>
          <p:nvSpPr>
            <p:cNvPr name="Freeform 9" id="9"/>
            <p:cNvSpPr/>
            <p:nvPr/>
          </p:nvSpPr>
          <p:spPr>
            <a:xfrm>
              <a:off x="3786967" y="1749065"/>
              <a:ext cx="4906217" cy="10256407"/>
            </a:xfrm>
            <a:custGeom>
              <a:avLst/>
              <a:gdLst/>
              <a:ahLst/>
              <a:cxnLst/>
              <a:rect r="r" b="b" t="t" l="l"/>
              <a:pathLst>
                <a:path h="10256407" w="4906217">
                  <a:moveTo>
                    <a:pt x="0" y="10256407"/>
                  </a:moveTo>
                  <a:lnTo>
                    <a:pt x="2425355" y="10256407"/>
                  </a:lnTo>
                  <a:cubicBezTo>
                    <a:pt x="2512929" y="10256407"/>
                    <a:pt x="2596917" y="10221618"/>
                    <a:pt x="2658841" y="10159693"/>
                  </a:cubicBezTo>
                  <a:cubicBezTo>
                    <a:pt x="2720766" y="10097769"/>
                    <a:pt x="2755555" y="10013781"/>
                    <a:pt x="2755555" y="9926207"/>
                  </a:cubicBezTo>
                  <a:lnTo>
                    <a:pt x="2755555" y="330200"/>
                  </a:lnTo>
                  <a:cubicBezTo>
                    <a:pt x="2755555" y="242626"/>
                    <a:pt x="2790343" y="158638"/>
                    <a:pt x="2852268" y="96713"/>
                  </a:cubicBezTo>
                  <a:cubicBezTo>
                    <a:pt x="2914192" y="34789"/>
                    <a:pt x="2998180" y="0"/>
                    <a:pt x="3085755" y="0"/>
                  </a:cubicBezTo>
                  <a:lnTo>
                    <a:pt x="4906216" y="0"/>
                  </a:lnTo>
                </a:path>
              </a:pathLst>
            </a:custGeom>
            <a:ln cap="flat" w="12700">
              <a:solidFill>
                <a:srgbClr val="333333"/>
              </a:solidFill>
              <a:prstDash val="solid"/>
              <a:headEnd type="none" len="sm" w="sm"/>
              <a:tailEnd type="triangle" len="med" w="lg"/>
            </a:ln>
          </p:spPr>
        </p:sp>
        <p:grpSp>
          <p:nvGrpSpPr>
            <p:cNvPr name="Group 10" id="10"/>
            <p:cNvGrpSpPr/>
            <p:nvPr/>
          </p:nvGrpSpPr>
          <p:grpSpPr>
            <a:xfrm rot="5400000">
              <a:off x="8652607" y="1709460"/>
              <a:ext cx="81154" cy="79210"/>
              <a:chOff x="0" y="0"/>
              <a:chExt cx="675140" cy="658970"/>
            </a:xfrm>
          </p:grpSpPr>
          <p:sp>
            <p:nvSpPr>
              <p:cNvPr name="Freeform 11" id="11"/>
              <p:cNvSpPr/>
              <p:nvPr/>
            </p:nvSpPr>
            <p:spPr>
              <a:xfrm flipH="false" flipV="false" rot="0">
                <a:off x="0" y="0"/>
                <a:ext cx="675140" cy="658970"/>
              </a:xfrm>
              <a:custGeom>
                <a:avLst/>
                <a:gdLst/>
                <a:ahLst/>
                <a:cxnLst/>
                <a:rect r="r" b="b" t="t" l="l"/>
                <a:pathLst>
                  <a:path h="658970" w="675140">
                    <a:moveTo>
                      <a:pt x="337570" y="0"/>
                    </a:moveTo>
                    <a:lnTo>
                      <a:pt x="675140" y="658970"/>
                    </a:lnTo>
                    <a:lnTo>
                      <a:pt x="0" y="658970"/>
                    </a:lnTo>
                    <a:lnTo>
                      <a:pt x="337570" y="0"/>
                    </a:lnTo>
                    <a:close/>
                  </a:path>
                </a:pathLst>
              </a:custGeom>
              <a:solidFill>
                <a:srgbClr val="333333"/>
              </a:solidFill>
            </p:spPr>
          </p:sp>
          <p:sp>
            <p:nvSpPr>
              <p:cNvPr name="TextBox 12" id="12"/>
              <p:cNvSpPr txBox="true"/>
              <p:nvPr/>
            </p:nvSpPr>
            <p:spPr>
              <a:xfrm>
                <a:off x="105491" y="172600"/>
                <a:ext cx="464159" cy="439300"/>
              </a:xfrm>
              <a:prstGeom prst="rect">
                <a:avLst/>
              </a:prstGeom>
            </p:spPr>
            <p:txBody>
              <a:bodyPr anchor="ctr" rtlCol="false" tIns="50800" lIns="50800" bIns="50800" rIns="50800"/>
              <a:lstStyle/>
              <a:p>
                <a:pPr algn="ctr">
                  <a:lnSpc>
                    <a:spcPts val="3887"/>
                  </a:lnSpc>
                </a:pPr>
              </a:p>
            </p:txBody>
          </p:sp>
        </p:grpSp>
      </p:grpSp>
      <p:sp>
        <p:nvSpPr>
          <p:cNvPr name="TextBox 13" id="13"/>
          <p:cNvSpPr txBox="true"/>
          <p:nvPr/>
        </p:nvSpPr>
        <p:spPr>
          <a:xfrm rot="0">
            <a:off x="1143000" y="1907275"/>
            <a:ext cx="4243730"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Workflow</a:t>
            </a:r>
          </a:p>
        </p:txBody>
      </p:sp>
      <p:sp>
        <p:nvSpPr>
          <p:cNvPr name="TextBox 14" id="14"/>
          <p:cNvSpPr txBox="true"/>
          <p:nvPr/>
        </p:nvSpPr>
        <p:spPr>
          <a:xfrm rot="0">
            <a:off x="1143000" y="3121712"/>
            <a:ext cx="7269480" cy="5978525"/>
          </a:xfrm>
          <a:prstGeom prst="rect">
            <a:avLst/>
          </a:prstGeom>
        </p:spPr>
        <p:txBody>
          <a:bodyPr anchor="t" rtlCol="false" tIns="0" lIns="0" bIns="0" rIns="0">
            <a:spAutoFit/>
          </a:bodyPr>
          <a:lstStyle/>
          <a:p>
            <a:pPr algn="l">
              <a:lnSpc>
                <a:spcPts val="3400"/>
              </a:lnSpc>
            </a:pPr>
            <a:r>
              <a:rPr lang="en-US" sz="2000" b="true">
                <a:solidFill>
                  <a:srgbClr val="000000"/>
                </a:solidFill>
                <a:latin typeface="DM Sans Bold"/>
                <a:ea typeface="DM Sans Bold"/>
                <a:cs typeface="DM Sans Bold"/>
                <a:sym typeface="DM Sans Bold"/>
              </a:rPr>
              <a:t>Fase Operasional Lapangan (Transaksi &amp; Prosedur Koreksi)</a:t>
            </a:r>
          </a:p>
          <a:p>
            <a:pPr algn="l">
              <a:lnSpc>
                <a:spcPts val="3400"/>
              </a:lnSpc>
            </a:pPr>
          </a:p>
          <a:p>
            <a:pPr algn="l">
              <a:lnSpc>
                <a:spcPts val="3400"/>
              </a:lnSpc>
            </a:pPr>
            <a:r>
              <a:rPr lang="en-US" b="true" sz="2000">
                <a:solidFill>
                  <a:srgbClr val="334155"/>
                </a:solidFill>
                <a:latin typeface="DM Sans Bold"/>
                <a:ea typeface="DM Sans Bold"/>
                <a:cs typeface="DM Sans Bold"/>
                <a:sym typeface="DM Sans Bold"/>
              </a:rPr>
              <a:t>Pe</a:t>
            </a:r>
            <a:r>
              <a:rPr lang="en-US" b="true" sz="2000">
                <a:solidFill>
                  <a:srgbClr val="334155"/>
                </a:solidFill>
                <a:latin typeface="DM Sans Bold"/>
                <a:ea typeface="DM Sans Bold"/>
                <a:cs typeface="DM Sans Bold"/>
                <a:sym typeface="DM Sans Bold"/>
              </a:rPr>
              <a:t>ncatatan Insiden Terpadu:</a:t>
            </a:r>
          </a:p>
          <a:p>
            <a:pPr algn="l" marL="431801" indent="-215900" lvl="1">
              <a:lnSpc>
                <a:spcPts val="3400"/>
              </a:lnSpc>
              <a:buFont typeface="Arial"/>
              <a:buChar char="•"/>
            </a:pPr>
            <a:r>
              <a:rPr lang="en-US" sz="2000">
                <a:solidFill>
                  <a:srgbClr val="334155"/>
                </a:solidFill>
                <a:latin typeface="DM Sans"/>
                <a:ea typeface="DM Sans"/>
                <a:cs typeface="DM Sans"/>
                <a:sym typeface="DM Sans"/>
              </a:rPr>
              <a:t>Guru masuk (login) menggunakan PIN. </a:t>
            </a:r>
          </a:p>
          <a:p>
            <a:pPr algn="l" marL="431801" indent="-215900" lvl="1">
              <a:lnSpc>
                <a:spcPts val="3400"/>
              </a:lnSpc>
              <a:buFont typeface="Arial"/>
              <a:buChar char="•"/>
            </a:pPr>
            <a:r>
              <a:rPr lang="en-US" sz="2000">
                <a:solidFill>
                  <a:srgbClr val="334155"/>
                </a:solidFill>
                <a:latin typeface="DM Sans"/>
                <a:ea typeface="DM Sans"/>
                <a:cs typeface="DM Sans"/>
                <a:sym typeface="DM Sans"/>
              </a:rPr>
              <a:t>Sistem menyediakan filter "Mode Kelas" dan "Mode Piket". </a:t>
            </a:r>
          </a:p>
          <a:p>
            <a:pPr algn="l" marL="431801" indent="-215900" lvl="1">
              <a:lnSpc>
                <a:spcPts val="3400"/>
              </a:lnSpc>
              <a:buFont typeface="Arial"/>
              <a:buChar char="•"/>
            </a:pPr>
            <a:r>
              <a:rPr lang="en-US" sz="2000">
                <a:solidFill>
                  <a:srgbClr val="334155"/>
                </a:solidFill>
                <a:latin typeface="DM Sans"/>
                <a:ea typeface="DM Sans"/>
                <a:cs typeface="DM Sans"/>
                <a:sym typeface="DM Sans"/>
              </a:rPr>
              <a:t>Terdapat fitur pencarian instan dan unggah bukti foto. </a:t>
            </a:r>
          </a:p>
          <a:p>
            <a:pPr algn="l">
              <a:lnSpc>
                <a:spcPts val="3400"/>
              </a:lnSpc>
            </a:pPr>
          </a:p>
          <a:p>
            <a:pPr algn="l">
              <a:lnSpc>
                <a:spcPts val="3400"/>
              </a:lnSpc>
            </a:pPr>
            <a:r>
              <a:rPr lang="en-US" b="true" sz="2000">
                <a:solidFill>
                  <a:srgbClr val="334155"/>
                </a:solidFill>
                <a:latin typeface="DM Sans Bold"/>
                <a:ea typeface="DM Sans Bold"/>
                <a:cs typeface="DM Sans Bold"/>
                <a:sym typeface="DM Sans Bold"/>
              </a:rPr>
              <a:t>Sistem Koreksi:</a:t>
            </a:r>
          </a:p>
          <a:p>
            <a:pPr algn="l" marL="431801" indent="-215900" lvl="1">
              <a:lnSpc>
                <a:spcPts val="3400"/>
              </a:lnSpc>
              <a:buFont typeface="Arial"/>
              <a:buChar char="•"/>
            </a:pPr>
            <a:r>
              <a:rPr lang="en-US" sz="2000">
                <a:solidFill>
                  <a:srgbClr val="334155"/>
                </a:solidFill>
                <a:latin typeface="DM Sans"/>
                <a:ea typeface="DM Sans"/>
                <a:cs typeface="DM Sans"/>
                <a:sym typeface="DM Sans"/>
              </a:rPr>
              <a:t>Guru tidak bisa menghapus data secara langsung. </a:t>
            </a:r>
          </a:p>
          <a:p>
            <a:pPr algn="l" marL="431801" indent="-215900" lvl="1">
              <a:lnSpc>
                <a:spcPts val="3400"/>
              </a:lnSpc>
              <a:buFont typeface="Arial"/>
              <a:buChar char="•"/>
            </a:pPr>
            <a:r>
              <a:rPr lang="en-US" sz="2000">
                <a:solidFill>
                  <a:srgbClr val="334155"/>
                </a:solidFill>
                <a:latin typeface="DM Sans"/>
                <a:ea typeface="DM Sans"/>
                <a:cs typeface="DM Sans"/>
                <a:sym typeface="DM Sans"/>
              </a:rPr>
              <a:t>Wali Kelas harus mengajukan "Minta Revisi" ke dalam sistem. </a:t>
            </a:r>
          </a:p>
          <a:p>
            <a:pPr algn="l" marL="431801" indent="-215900" lvl="1">
              <a:lnSpc>
                <a:spcPts val="3400"/>
              </a:lnSpc>
              <a:buFont typeface="Arial"/>
              <a:buChar char="•"/>
            </a:pPr>
            <a:r>
              <a:rPr lang="en-US" sz="2000">
                <a:solidFill>
                  <a:srgbClr val="334155"/>
                </a:solidFill>
                <a:latin typeface="DM Sans"/>
                <a:ea typeface="DM Sans"/>
                <a:cs typeface="DM Sans"/>
                <a:sym typeface="DM Sans"/>
              </a:rPr>
              <a:t>Revisi hanya tereksekusi jika sudah divalidasi (Disetujui) oleh Admin Tatib.</a:t>
            </a:r>
          </a:p>
          <a:p>
            <a:pPr algn="l">
              <a:lnSpc>
                <a:spcPts val="3400"/>
              </a:lnSpc>
            </a:pPr>
          </a:p>
        </p:txBody>
      </p:sp>
      <p:sp>
        <p:nvSpPr>
          <p:cNvPr name="TextBox 15" id="15"/>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16" id="16"/>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5"/>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2845487"/>
            <a:ext cx="2978200" cy="47625"/>
            <a:chOff x="0" y="0"/>
            <a:chExt cx="3970933" cy="63500"/>
          </a:xfrm>
        </p:grpSpPr>
        <p:sp>
          <p:nvSpPr>
            <p:cNvPr name="Freeform 5" id="5"/>
            <p:cNvSpPr/>
            <p:nvPr/>
          </p:nvSpPr>
          <p:spPr>
            <a:xfrm flipH="false" flipV="false" rot="0">
              <a:off x="0" y="0"/>
              <a:ext cx="3970933" cy="63500"/>
            </a:xfrm>
            <a:custGeom>
              <a:avLst/>
              <a:gdLst/>
              <a:ahLst/>
              <a:cxnLst/>
              <a:rect r="r" b="b" t="t" l="l"/>
              <a:pathLst>
                <a:path h="63500" w="3970933">
                  <a:moveTo>
                    <a:pt x="0" y="0"/>
                  </a:moveTo>
                  <a:lnTo>
                    <a:pt x="3970933" y="0"/>
                  </a:lnTo>
                  <a:lnTo>
                    <a:pt x="3970933" y="63500"/>
                  </a:lnTo>
                  <a:lnTo>
                    <a:pt x="0" y="63500"/>
                  </a:lnTo>
                  <a:close/>
                </a:path>
              </a:pathLst>
            </a:custGeom>
            <a:solidFill>
              <a:srgbClr val="E2E8F0"/>
            </a:solidFill>
          </p:spPr>
        </p:sp>
      </p:grpSp>
      <p:sp>
        <p:nvSpPr>
          <p:cNvPr name="Freeform 6" id="6"/>
          <p:cNvSpPr/>
          <p:nvPr/>
        </p:nvSpPr>
        <p:spPr>
          <a:xfrm flipH="false" flipV="false" rot="0">
            <a:off x="9849289" y="175897"/>
            <a:ext cx="5469965" cy="9903290"/>
          </a:xfrm>
          <a:custGeom>
            <a:avLst/>
            <a:gdLst/>
            <a:ahLst/>
            <a:cxnLst/>
            <a:rect r="r" b="b" t="t" l="l"/>
            <a:pathLst>
              <a:path h="9903290" w="5469965">
                <a:moveTo>
                  <a:pt x="0" y="0"/>
                </a:moveTo>
                <a:lnTo>
                  <a:pt x="5469965" y="0"/>
                </a:lnTo>
                <a:lnTo>
                  <a:pt x="5469965" y="9903290"/>
                </a:lnTo>
                <a:lnTo>
                  <a:pt x="0" y="9903290"/>
                </a:lnTo>
                <a:lnTo>
                  <a:pt x="0" y="0"/>
                </a:lnTo>
                <a:close/>
              </a:path>
            </a:pathLst>
          </a:custGeom>
          <a:blipFill>
            <a:blip r:embed="rId4"/>
            <a:stretch>
              <a:fillRect l="0" t="-98" r="0" b="-98"/>
            </a:stretch>
          </a:blipFill>
        </p:spPr>
      </p:sp>
      <p:sp>
        <p:nvSpPr>
          <p:cNvPr name="TextBox 7" id="7"/>
          <p:cNvSpPr txBox="true"/>
          <p:nvPr/>
        </p:nvSpPr>
        <p:spPr>
          <a:xfrm rot="0">
            <a:off x="1143000" y="1907275"/>
            <a:ext cx="4280412"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Workflow</a:t>
            </a:r>
          </a:p>
        </p:txBody>
      </p:sp>
      <p:sp>
        <p:nvSpPr>
          <p:cNvPr name="TextBox 8" id="8"/>
          <p:cNvSpPr txBox="true"/>
          <p:nvPr/>
        </p:nvSpPr>
        <p:spPr>
          <a:xfrm rot="0">
            <a:off x="1143000" y="3121712"/>
            <a:ext cx="7269480" cy="5121275"/>
          </a:xfrm>
          <a:prstGeom prst="rect">
            <a:avLst/>
          </a:prstGeom>
        </p:spPr>
        <p:txBody>
          <a:bodyPr anchor="t" rtlCol="false" tIns="0" lIns="0" bIns="0" rIns="0">
            <a:spAutoFit/>
          </a:bodyPr>
          <a:lstStyle/>
          <a:p>
            <a:pPr algn="l">
              <a:lnSpc>
                <a:spcPts val="3400"/>
              </a:lnSpc>
            </a:pPr>
            <a:r>
              <a:rPr lang="en-US" sz="2000" b="true">
                <a:solidFill>
                  <a:srgbClr val="000000"/>
                </a:solidFill>
                <a:latin typeface="DM Sans Bold"/>
                <a:ea typeface="DM Sans Bold"/>
                <a:cs typeface="DM Sans Bold"/>
                <a:sym typeface="DM Sans Bold"/>
              </a:rPr>
              <a:t>Fase Penindakan &amp; Pemantauan (Output SP &amp; Analitik)</a:t>
            </a:r>
          </a:p>
          <a:p>
            <a:pPr algn="l">
              <a:lnSpc>
                <a:spcPts val="3400"/>
              </a:lnSpc>
            </a:pPr>
          </a:p>
          <a:p>
            <a:pPr algn="l">
              <a:lnSpc>
                <a:spcPts val="3400"/>
              </a:lnSpc>
            </a:pPr>
            <a:r>
              <a:rPr lang="en-US" b="true" sz="2000">
                <a:solidFill>
                  <a:srgbClr val="334155"/>
                </a:solidFill>
                <a:latin typeface="DM Sans Bold"/>
                <a:ea typeface="DM Sans Bold"/>
                <a:cs typeface="DM Sans Bold"/>
                <a:sym typeface="DM Sans Bold"/>
              </a:rPr>
              <a:t>Siklus Pe</a:t>
            </a:r>
            <a:r>
              <a:rPr lang="en-US" b="true" sz="2000">
                <a:solidFill>
                  <a:srgbClr val="334155"/>
                </a:solidFill>
                <a:latin typeface="DM Sans Bold"/>
                <a:ea typeface="DM Sans Bold"/>
                <a:cs typeface="DM Sans Bold"/>
                <a:sym typeface="DM Sans Bold"/>
              </a:rPr>
              <a:t>nindakan Terpadu:</a:t>
            </a:r>
          </a:p>
          <a:p>
            <a:pPr algn="l" marL="431801" indent="-215900" lvl="1">
              <a:lnSpc>
                <a:spcPts val="3400"/>
              </a:lnSpc>
              <a:buFont typeface="Arial"/>
              <a:buChar char="•"/>
            </a:pPr>
            <a:r>
              <a:rPr lang="en-US" sz="2000">
                <a:solidFill>
                  <a:srgbClr val="334155"/>
                </a:solidFill>
                <a:latin typeface="DM Sans"/>
                <a:ea typeface="DM Sans"/>
                <a:cs typeface="DM Sans"/>
                <a:sym typeface="DM Sans"/>
              </a:rPr>
              <a:t>Sistem memantau akumulasi poin secara otomatis. </a:t>
            </a:r>
          </a:p>
          <a:p>
            <a:pPr algn="l" marL="431801" indent="-215900" lvl="1">
              <a:lnSpc>
                <a:spcPts val="3400"/>
              </a:lnSpc>
              <a:buFont typeface="Arial"/>
              <a:buChar char="•"/>
            </a:pPr>
            <a:r>
              <a:rPr lang="en-US" sz="2000">
                <a:solidFill>
                  <a:srgbClr val="334155"/>
                </a:solidFill>
                <a:latin typeface="DM Sans"/>
                <a:ea typeface="DM Sans"/>
                <a:cs typeface="DM Sans"/>
                <a:sym typeface="DM Sans"/>
              </a:rPr>
              <a:t>Admin Tatib mencetak dokumen fisik SP 1-3 (PDF). </a:t>
            </a:r>
          </a:p>
          <a:p>
            <a:pPr algn="l" marL="431801" indent="-215900" lvl="1">
              <a:lnSpc>
                <a:spcPts val="3400"/>
              </a:lnSpc>
              <a:buFont typeface="Arial"/>
              <a:buChar char="•"/>
            </a:pPr>
            <a:r>
              <a:rPr lang="en-US" sz="2000">
                <a:solidFill>
                  <a:srgbClr val="334155"/>
                </a:solidFill>
                <a:latin typeface="DM Sans"/>
                <a:ea typeface="DM Sans"/>
                <a:cs typeface="DM Sans"/>
                <a:sym typeface="DM Sans"/>
              </a:rPr>
              <a:t>Wali Murid mendapat notifikasi dan mengisi persetujuan di Buku Penghubung Digital. </a:t>
            </a:r>
          </a:p>
          <a:p>
            <a:pPr algn="l">
              <a:lnSpc>
                <a:spcPts val="3400"/>
              </a:lnSpc>
            </a:pPr>
          </a:p>
          <a:p>
            <a:pPr algn="l">
              <a:lnSpc>
                <a:spcPts val="3400"/>
              </a:lnSpc>
            </a:pPr>
            <a:r>
              <a:rPr lang="en-US" b="true" sz="2000">
                <a:solidFill>
                  <a:srgbClr val="334155"/>
                </a:solidFill>
                <a:latin typeface="DM Sans Bold"/>
                <a:ea typeface="DM Sans Bold"/>
                <a:cs typeface="DM Sans Bold"/>
                <a:sym typeface="DM Sans Bold"/>
              </a:rPr>
              <a:t>Pemantauan Pimpinan:</a:t>
            </a:r>
          </a:p>
          <a:p>
            <a:pPr algn="l" marL="431801" indent="-215900" lvl="1">
              <a:lnSpc>
                <a:spcPts val="3400"/>
              </a:lnSpc>
              <a:buFont typeface="Arial"/>
              <a:buChar char="•"/>
            </a:pPr>
            <a:r>
              <a:rPr lang="en-US" sz="2000">
                <a:solidFill>
                  <a:srgbClr val="334155"/>
                </a:solidFill>
                <a:latin typeface="DM Sans"/>
                <a:ea typeface="DM Sans"/>
                <a:cs typeface="DM Sans"/>
                <a:sym typeface="DM Sans"/>
              </a:rPr>
              <a:t>Kepala Sekolah dapat memantau pergerakan kedisiplinan melalui Dashboard Analitik secara langsung (real-time).</a:t>
            </a:r>
          </a:p>
          <a:p>
            <a:pPr algn="l">
              <a:lnSpc>
                <a:spcPts val="3400"/>
              </a:lnSpc>
            </a:pPr>
          </a:p>
        </p:txBody>
      </p:sp>
      <p:sp>
        <p:nvSpPr>
          <p:cNvPr name="TextBox 9" id="9"/>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10" id="10"/>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5"/>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6841852" y="4781550"/>
            <a:ext cx="5062821" cy="733425"/>
          </a:xfrm>
          <a:prstGeom prst="rect">
            <a:avLst/>
          </a:prstGeom>
        </p:spPr>
        <p:txBody>
          <a:bodyPr anchor="t" rtlCol="false" tIns="0" lIns="0" bIns="0" rIns="0">
            <a:spAutoFit/>
          </a:bodyPr>
          <a:lstStyle/>
          <a:p>
            <a:pPr algn="l">
              <a:lnSpc>
                <a:spcPts val="5879"/>
              </a:lnSpc>
            </a:pPr>
            <a:r>
              <a:rPr lang="en-US" b="true" sz="4899">
                <a:solidFill>
                  <a:srgbClr val="005088"/>
                </a:solidFill>
                <a:latin typeface="Merriweather Bold"/>
                <a:ea typeface="Merriweather Bold"/>
                <a:cs typeface="Merriweather Bold"/>
                <a:sym typeface="Merriweather Bold"/>
              </a:rPr>
              <a:t>DEMO SISTEM</a:t>
            </a:r>
          </a:p>
        </p:txBody>
      </p:sp>
      <p:grpSp>
        <p:nvGrpSpPr>
          <p:cNvPr name="Group 5" id="5"/>
          <p:cNvGrpSpPr/>
          <p:nvPr/>
        </p:nvGrpSpPr>
        <p:grpSpPr>
          <a:xfrm rot="0">
            <a:off x="1143000" y="3118914"/>
            <a:ext cx="16002000" cy="28575"/>
            <a:chOff x="0" y="0"/>
            <a:chExt cx="21336000" cy="38100"/>
          </a:xfrm>
        </p:grpSpPr>
        <p:sp>
          <p:nvSpPr>
            <p:cNvPr name="Freeform 6" id="6"/>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sp>
        <p:nvSpPr>
          <p:cNvPr name="TextBox 7" id="7"/>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8" id="8"/>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3090911"/>
            <a:ext cx="16002000" cy="28575"/>
            <a:chOff x="0" y="0"/>
            <a:chExt cx="21336000" cy="38100"/>
          </a:xfrm>
        </p:grpSpPr>
        <p:sp>
          <p:nvSpPr>
            <p:cNvPr name="Freeform 5" id="5"/>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sp>
        <p:nvSpPr>
          <p:cNvPr name="TextBox 6" id="6"/>
          <p:cNvSpPr txBox="true"/>
          <p:nvPr/>
        </p:nvSpPr>
        <p:spPr>
          <a:xfrm rot="0">
            <a:off x="1143000" y="2133648"/>
            <a:ext cx="4999125"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Hasil Evaluasi</a:t>
            </a:r>
          </a:p>
        </p:txBody>
      </p:sp>
      <p:sp>
        <p:nvSpPr>
          <p:cNvPr name="TextBox 7" id="7"/>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TextBox 8" id="8"/>
          <p:cNvSpPr txBox="true"/>
          <p:nvPr/>
        </p:nvSpPr>
        <p:spPr>
          <a:xfrm rot="0">
            <a:off x="827686" y="3745126"/>
            <a:ext cx="5314440" cy="3998976"/>
          </a:xfrm>
          <a:prstGeom prst="rect">
            <a:avLst/>
          </a:prstGeom>
        </p:spPr>
        <p:txBody>
          <a:bodyPr anchor="t" rtlCol="false" tIns="0" lIns="0" bIns="0" rIns="0">
            <a:spAutoFit/>
          </a:bodyPr>
          <a:lstStyle/>
          <a:p>
            <a:pPr algn="l" marL="453390" indent="-226695" lvl="1">
              <a:lnSpc>
                <a:spcPts val="4032"/>
              </a:lnSpc>
              <a:buFont typeface="Arial"/>
              <a:buChar char="•"/>
            </a:pPr>
            <a:r>
              <a:rPr lang="en-US" b="true" sz="2100">
                <a:solidFill>
                  <a:srgbClr val="334155"/>
                </a:solidFill>
                <a:latin typeface="DM Sans Bold"/>
                <a:ea typeface="DM Sans Bold"/>
                <a:cs typeface="DM Sans Bold"/>
                <a:sym typeface="DM Sans Bold"/>
              </a:rPr>
              <a:t>Koordinator Pe</a:t>
            </a:r>
            <a:r>
              <a:rPr lang="en-US" b="true" sz="2100">
                <a:solidFill>
                  <a:srgbClr val="334155"/>
                </a:solidFill>
                <a:latin typeface="DM Sans Bold"/>
                <a:ea typeface="DM Sans Bold"/>
                <a:cs typeface="DM Sans Bold"/>
                <a:sym typeface="DM Sans Bold"/>
              </a:rPr>
              <a:t>nguji: Agnes Herawaty</a:t>
            </a:r>
          </a:p>
          <a:p>
            <a:pPr algn="l" marL="453390" indent="-226695" lvl="1">
              <a:lnSpc>
                <a:spcPts val="4032"/>
              </a:lnSpc>
              <a:buFont typeface="Arial"/>
              <a:buChar char="•"/>
            </a:pPr>
            <a:r>
              <a:rPr lang="en-US" b="true" sz="2100">
                <a:solidFill>
                  <a:srgbClr val="334155"/>
                </a:solidFill>
                <a:latin typeface="DM Sans Bold"/>
                <a:ea typeface="DM Sans Bold"/>
                <a:cs typeface="DM Sans Bold"/>
                <a:sym typeface="DM Sans Bold"/>
              </a:rPr>
              <a:t>Cakupan Aktor: Admin Pusat, Admin Tatib, Guru, Wali Murid, Kepsek</a:t>
            </a:r>
          </a:p>
          <a:p>
            <a:pPr algn="l" marL="453390" indent="-226695" lvl="1">
              <a:lnSpc>
                <a:spcPts val="4032"/>
              </a:lnSpc>
              <a:buFont typeface="Arial"/>
              <a:buChar char="•"/>
            </a:pPr>
            <a:r>
              <a:rPr lang="en-US" b="true" sz="2100">
                <a:solidFill>
                  <a:srgbClr val="334155"/>
                </a:solidFill>
                <a:latin typeface="DM Sans Bold"/>
                <a:ea typeface="DM Sans Bold"/>
                <a:cs typeface="DM Sans Bold"/>
                <a:sym typeface="DM Sans Bold"/>
              </a:rPr>
              <a:t>Total Pengujian: 50 Skenario</a:t>
            </a:r>
          </a:p>
          <a:p>
            <a:pPr algn="l" marL="453390" indent="-226695" lvl="1">
              <a:lnSpc>
                <a:spcPts val="4032"/>
              </a:lnSpc>
              <a:buFont typeface="Arial"/>
              <a:buChar char="•"/>
            </a:pPr>
            <a:r>
              <a:rPr lang="en-US" b="true" sz="2100">
                <a:solidFill>
                  <a:srgbClr val="334155"/>
                </a:solidFill>
                <a:latin typeface="DM Sans Bold"/>
                <a:ea typeface="DM Sans Bold"/>
                <a:cs typeface="DM Sans Bold"/>
                <a:sym typeface="DM Sans Bold"/>
              </a:rPr>
              <a:t>Hasil Evaluasi: Tingkat Keberhasilan 100% (0 Kendala Teknis/Error)</a:t>
            </a:r>
          </a:p>
          <a:p>
            <a:pPr algn="l" marL="453390" indent="-226695" lvl="1">
              <a:lnSpc>
                <a:spcPts val="4032"/>
              </a:lnSpc>
              <a:buFont typeface="Arial"/>
              <a:buChar char="•"/>
            </a:pPr>
            <a:r>
              <a:rPr lang="en-US" b="true" sz="2100">
                <a:solidFill>
                  <a:srgbClr val="334155"/>
                </a:solidFill>
                <a:latin typeface="DM Sans Bold"/>
                <a:ea typeface="DM Sans Bold"/>
                <a:cs typeface="DM Sans Bold"/>
                <a:sym typeface="DM Sans Bold"/>
              </a:rPr>
              <a:t>Status: Sistem dinyatakan sangat layak dan siap beroperasi.</a:t>
            </a:r>
          </a:p>
        </p:txBody>
      </p:sp>
      <p:sp>
        <p:nvSpPr>
          <p:cNvPr name="Freeform 9" id="9"/>
          <p:cNvSpPr/>
          <p:nvPr/>
        </p:nvSpPr>
        <p:spPr>
          <a:xfrm flipH="false" flipV="false" rot="0">
            <a:off x="6544921" y="3675571"/>
            <a:ext cx="10714379" cy="4290486"/>
          </a:xfrm>
          <a:custGeom>
            <a:avLst/>
            <a:gdLst/>
            <a:ahLst/>
            <a:cxnLst/>
            <a:rect r="r" b="b" t="t" l="l"/>
            <a:pathLst>
              <a:path h="4290486" w="10714379">
                <a:moveTo>
                  <a:pt x="0" y="0"/>
                </a:moveTo>
                <a:lnTo>
                  <a:pt x="10714379" y="0"/>
                </a:lnTo>
                <a:lnTo>
                  <a:pt x="10714379" y="4290486"/>
                </a:lnTo>
                <a:lnTo>
                  <a:pt x="0" y="4290486"/>
                </a:lnTo>
                <a:lnTo>
                  <a:pt x="0" y="0"/>
                </a:lnTo>
                <a:close/>
              </a:path>
            </a:pathLst>
          </a:custGeom>
          <a:blipFill>
            <a:blip r:embed="rId4"/>
            <a:stretch>
              <a:fillRect l="0" t="0" r="0" b="-114138"/>
            </a:stretch>
          </a:blipFill>
        </p:spPr>
      </p:sp>
      <p:sp>
        <p:nvSpPr>
          <p:cNvPr name="Freeform 10" id="10"/>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143000" y="2117328"/>
            <a:ext cx="4924391"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Kesimpulan</a:t>
            </a:r>
          </a:p>
        </p:txBody>
      </p:sp>
      <p:grpSp>
        <p:nvGrpSpPr>
          <p:cNvPr name="Group 5" id="5"/>
          <p:cNvGrpSpPr/>
          <p:nvPr/>
        </p:nvGrpSpPr>
        <p:grpSpPr>
          <a:xfrm rot="0">
            <a:off x="1143000" y="3074590"/>
            <a:ext cx="16002000" cy="28575"/>
            <a:chOff x="0" y="0"/>
            <a:chExt cx="21336000" cy="38100"/>
          </a:xfrm>
        </p:grpSpPr>
        <p:sp>
          <p:nvSpPr>
            <p:cNvPr name="Freeform 6" id="6"/>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sp>
        <p:nvSpPr>
          <p:cNvPr name="TextBox 7" id="7"/>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grpSp>
        <p:nvGrpSpPr>
          <p:cNvPr name="Group 8" id="8"/>
          <p:cNvGrpSpPr/>
          <p:nvPr/>
        </p:nvGrpSpPr>
        <p:grpSpPr>
          <a:xfrm rot="0">
            <a:off x="2184740" y="3445110"/>
            <a:ext cx="13918521" cy="6225484"/>
            <a:chOff x="0" y="0"/>
            <a:chExt cx="3665783" cy="1639634"/>
          </a:xfrm>
        </p:grpSpPr>
        <p:sp>
          <p:nvSpPr>
            <p:cNvPr name="Freeform 9" id="9"/>
            <p:cNvSpPr/>
            <p:nvPr/>
          </p:nvSpPr>
          <p:spPr>
            <a:xfrm flipH="false" flipV="false" rot="0">
              <a:off x="0" y="0"/>
              <a:ext cx="3665783" cy="1639634"/>
            </a:xfrm>
            <a:custGeom>
              <a:avLst/>
              <a:gdLst/>
              <a:ahLst/>
              <a:cxnLst/>
              <a:rect r="r" b="b" t="t" l="l"/>
              <a:pathLst>
                <a:path h="1639634" w="3665783">
                  <a:moveTo>
                    <a:pt x="28368" y="0"/>
                  </a:moveTo>
                  <a:lnTo>
                    <a:pt x="3637416" y="0"/>
                  </a:lnTo>
                  <a:cubicBezTo>
                    <a:pt x="3653082" y="0"/>
                    <a:pt x="3665783" y="12701"/>
                    <a:pt x="3665783" y="28368"/>
                  </a:cubicBezTo>
                  <a:lnTo>
                    <a:pt x="3665783" y="1611266"/>
                  </a:lnTo>
                  <a:cubicBezTo>
                    <a:pt x="3665783" y="1626933"/>
                    <a:pt x="3653082" y="1639634"/>
                    <a:pt x="3637416" y="1639634"/>
                  </a:cubicBezTo>
                  <a:lnTo>
                    <a:pt x="28368" y="1639634"/>
                  </a:lnTo>
                  <a:cubicBezTo>
                    <a:pt x="12701" y="1639634"/>
                    <a:pt x="0" y="1626933"/>
                    <a:pt x="0" y="1611266"/>
                  </a:cubicBezTo>
                  <a:lnTo>
                    <a:pt x="0" y="28368"/>
                  </a:lnTo>
                  <a:cubicBezTo>
                    <a:pt x="0" y="12701"/>
                    <a:pt x="12701" y="0"/>
                    <a:pt x="28368" y="0"/>
                  </a:cubicBezTo>
                  <a:close/>
                </a:path>
              </a:pathLst>
            </a:custGeom>
            <a:solidFill>
              <a:srgbClr val="F1F5F9"/>
            </a:solidFill>
          </p:spPr>
        </p:sp>
        <p:sp>
          <p:nvSpPr>
            <p:cNvPr name="TextBox 10" id="10"/>
            <p:cNvSpPr txBox="true"/>
            <p:nvPr/>
          </p:nvSpPr>
          <p:spPr>
            <a:xfrm>
              <a:off x="0" y="-133350"/>
              <a:ext cx="3665783" cy="1772984"/>
            </a:xfrm>
            <a:prstGeom prst="rect">
              <a:avLst/>
            </a:prstGeom>
          </p:spPr>
          <p:txBody>
            <a:bodyPr anchor="ctr" rtlCol="false" tIns="50800" lIns="50800" bIns="50800" rIns="50800"/>
            <a:lstStyle/>
            <a:p>
              <a:pPr algn="ctr">
                <a:lnSpc>
                  <a:spcPts val="3887"/>
                </a:lnSpc>
              </a:pPr>
            </a:p>
          </p:txBody>
        </p:sp>
      </p:grpSp>
      <p:grpSp>
        <p:nvGrpSpPr>
          <p:cNvPr name="Group 11" id="11"/>
          <p:cNvGrpSpPr/>
          <p:nvPr/>
        </p:nvGrpSpPr>
        <p:grpSpPr>
          <a:xfrm rot="0">
            <a:off x="2700244" y="3880265"/>
            <a:ext cx="12887512" cy="5355174"/>
            <a:chOff x="0" y="0"/>
            <a:chExt cx="3394242" cy="1410416"/>
          </a:xfrm>
        </p:grpSpPr>
        <p:sp>
          <p:nvSpPr>
            <p:cNvPr name="Freeform 12" id="12"/>
            <p:cNvSpPr/>
            <p:nvPr/>
          </p:nvSpPr>
          <p:spPr>
            <a:xfrm flipH="false" flipV="false" rot="0">
              <a:off x="0" y="0"/>
              <a:ext cx="3394242" cy="1410416"/>
            </a:xfrm>
            <a:custGeom>
              <a:avLst/>
              <a:gdLst/>
              <a:ahLst/>
              <a:cxnLst/>
              <a:rect r="r" b="b" t="t" l="l"/>
              <a:pathLst>
                <a:path h="1410416" w="3394242">
                  <a:moveTo>
                    <a:pt x="30637" y="0"/>
                  </a:moveTo>
                  <a:lnTo>
                    <a:pt x="3363604" y="0"/>
                  </a:lnTo>
                  <a:cubicBezTo>
                    <a:pt x="3371730" y="0"/>
                    <a:pt x="3379523" y="3228"/>
                    <a:pt x="3385268" y="8973"/>
                  </a:cubicBezTo>
                  <a:cubicBezTo>
                    <a:pt x="3391014" y="14719"/>
                    <a:pt x="3394242" y="22512"/>
                    <a:pt x="3394242" y="30637"/>
                  </a:cubicBezTo>
                  <a:lnTo>
                    <a:pt x="3394242" y="1379779"/>
                  </a:lnTo>
                  <a:cubicBezTo>
                    <a:pt x="3394242" y="1396699"/>
                    <a:pt x="3380525" y="1410416"/>
                    <a:pt x="3363604" y="1410416"/>
                  </a:cubicBezTo>
                  <a:lnTo>
                    <a:pt x="30637" y="1410416"/>
                  </a:lnTo>
                  <a:cubicBezTo>
                    <a:pt x="22512" y="1410416"/>
                    <a:pt x="14719" y="1407188"/>
                    <a:pt x="8973" y="1401443"/>
                  </a:cubicBezTo>
                  <a:cubicBezTo>
                    <a:pt x="3228" y="1395697"/>
                    <a:pt x="0" y="1387905"/>
                    <a:pt x="0" y="1379779"/>
                  </a:cubicBezTo>
                  <a:lnTo>
                    <a:pt x="0" y="30637"/>
                  </a:lnTo>
                  <a:cubicBezTo>
                    <a:pt x="0" y="22512"/>
                    <a:pt x="3228" y="14719"/>
                    <a:pt x="8973" y="8973"/>
                  </a:cubicBezTo>
                  <a:cubicBezTo>
                    <a:pt x="14719" y="3228"/>
                    <a:pt x="22512" y="0"/>
                    <a:pt x="30637" y="0"/>
                  </a:cubicBezTo>
                  <a:close/>
                </a:path>
              </a:pathLst>
            </a:custGeom>
            <a:solidFill>
              <a:srgbClr val="CFD7E7"/>
            </a:solidFill>
          </p:spPr>
        </p:sp>
        <p:sp>
          <p:nvSpPr>
            <p:cNvPr name="TextBox 13" id="13"/>
            <p:cNvSpPr txBox="true"/>
            <p:nvPr/>
          </p:nvSpPr>
          <p:spPr>
            <a:xfrm>
              <a:off x="0" y="-133350"/>
              <a:ext cx="3394242" cy="1543766"/>
            </a:xfrm>
            <a:prstGeom prst="rect">
              <a:avLst/>
            </a:prstGeom>
          </p:spPr>
          <p:txBody>
            <a:bodyPr anchor="ctr" rtlCol="false" tIns="50800" lIns="50800" bIns="50800" rIns="50800"/>
            <a:lstStyle/>
            <a:p>
              <a:pPr algn="ctr">
                <a:lnSpc>
                  <a:spcPts val="3887"/>
                </a:lnSpc>
              </a:pPr>
            </a:p>
          </p:txBody>
        </p:sp>
      </p:grpSp>
      <p:sp>
        <p:nvSpPr>
          <p:cNvPr name="TextBox 14" id="14"/>
          <p:cNvSpPr txBox="true"/>
          <p:nvPr/>
        </p:nvSpPr>
        <p:spPr>
          <a:xfrm rot="0">
            <a:off x="3373352" y="4462542"/>
            <a:ext cx="11541296" cy="4019170"/>
          </a:xfrm>
          <a:prstGeom prst="rect">
            <a:avLst/>
          </a:prstGeom>
        </p:spPr>
        <p:txBody>
          <a:bodyPr anchor="t" rtlCol="false" tIns="0" lIns="0" bIns="0" rIns="0">
            <a:spAutoFit/>
          </a:bodyPr>
          <a:lstStyle/>
          <a:p>
            <a:pPr algn="just">
              <a:lnSpc>
                <a:spcPts val="4607"/>
              </a:lnSpc>
            </a:pPr>
            <a:r>
              <a:rPr lang="en-US" sz="2399">
                <a:solidFill>
                  <a:srgbClr val="334155"/>
                </a:solidFill>
                <a:latin typeface="DM Sans"/>
                <a:ea typeface="DM Sans"/>
                <a:cs typeface="DM Sans"/>
                <a:sym typeface="DM Sans"/>
              </a:rPr>
              <a:t>Pen</a:t>
            </a:r>
            <a:r>
              <a:rPr lang="en-US" sz="2399">
                <a:solidFill>
                  <a:srgbClr val="334155"/>
                </a:solidFill>
                <a:latin typeface="DM Sans"/>
                <a:ea typeface="DM Sans"/>
                <a:cs typeface="DM Sans"/>
                <a:sym typeface="DM Sans"/>
              </a:rPr>
              <a:t>erapan sistem SITAPSI telah berhasil meny</a:t>
            </a:r>
            <a:r>
              <a:rPr lang="en-US" sz="2399">
                <a:solidFill>
                  <a:srgbClr val="334155"/>
                </a:solidFill>
                <a:latin typeface="DM Sans"/>
                <a:ea typeface="DM Sans"/>
                <a:cs typeface="DM Sans"/>
                <a:sym typeface="DM Sans"/>
              </a:rPr>
              <a:t>elesaik</a:t>
            </a:r>
            <a:r>
              <a:rPr lang="en-US" sz="2399">
                <a:solidFill>
                  <a:srgbClr val="334155"/>
                </a:solidFill>
                <a:latin typeface="DM Sans"/>
                <a:ea typeface="DM Sans"/>
                <a:cs typeface="DM Sans"/>
                <a:sym typeface="DM Sans"/>
              </a:rPr>
              <a:t>an kendala pencatatan manual di sekolah dengan menyatukan data pelanggaran ke dalam satu aplikasi web. Sistem ini terbukti mampu mengotomatisasi perhitungan poin dan Surat Peringatan (SP), serta membuka jalur komunikasi yang cepat dan t</a:t>
            </a:r>
            <a:r>
              <a:rPr lang="en-US" sz="2399">
                <a:solidFill>
                  <a:srgbClr val="334155"/>
                </a:solidFill>
                <a:latin typeface="DM Sans"/>
                <a:ea typeface="DM Sans"/>
                <a:cs typeface="DM Sans"/>
                <a:sym typeface="DM Sans"/>
              </a:rPr>
              <a:t>ransparan bagi orang tua. Didukung oleh hasil uji coba kelayakan (UAT) yang mencapai tingkat keberhasilan 100%, sistem ini dinyatakan sangat layak dan siap digunakan untuk meringankan beban operasional sekolah.</a:t>
            </a:r>
          </a:p>
        </p:txBody>
      </p:sp>
      <p:sp>
        <p:nvSpPr>
          <p:cNvPr name="Freeform 15" id="15"/>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3118914"/>
            <a:ext cx="16002000" cy="28575"/>
            <a:chOff x="0" y="0"/>
            <a:chExt cx="21336000" cy="38100"/>
          </a:xfrm>
        </p:grpSpPr>
        <p:sp>
          <p:nvSpPr>
            <p:cNvPr name="Freeform 5" id="5"/>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grpSp>
        <p:nvGrpSpPr>
          <p:cNvPr name="Group 6" id="6"/>
          <p:cNvGrpSpPr/>
          <p:nvPr/>
        </p:nvGrpSpPr>
        <p:grpSpPr>
          <a:xfrm rot="0">
            <a:off x="2312900" y="3287178"/>
            <a:ext cx="4129280" cy="6485087"/>
            <a:chOff x="0" y="0"/>
            <a:chExt cx="5505706" cy="8646782"/>
          </a:xfrm>
        </p:grpSpPr>
        <p:sp>
          <p:nvSpPr>
            <p:cNvPr name="Freeform 7" id="7" descr="image.png"/>
            <p:cNvSpPr/>
            <p:nvPr/>
          </p:nvSpPr>
          <p:spPr>
            <a:xfrm flipH="false" flipV="false" rot="0">
              <a:off x="0" y="0"/>
              <a:ext cx="5505706" cy="8646833"/>
            </a:xfrm>
            <a:custGeom>
              <a:avLst/>
              <a:gdLst/>
              <a:ahLst/>
              <a:cxnLst/>
              <a:rect r="r" b="b" t="t" l="l"/>
              <a:pathLst>
                <a:path h="8646833" w="5505706">
                  <a:moveTo>
                    <a:pt x="0" y="0"/>
                  </a:moveTo>
                  <a:lnTo>
                    <a:pt x="5505706" y="0"/>
                  </a:lnTo>
                  <a:lnTo>
                    <a:pt x="5505706" y="8646833"/>
                  </a:lnTo>
                  <a:lnTo>
                    <a:pt x="0" y="8646833"/>
                  </a:lnTo>
                  <a:lnTo>
                    <a:pt x="0" y="0"/>
                  </a:lnTo>
                  <a:close/>
                </a:path>
              </a:pathLst>
            </a:custGeom>
            <a:blipFill>
              <a:blip r:embed="rId4"/>
              <a:stretch>
                <a:fillRect l="-38787" t="0" r="-38787" b="-190"/>
              </a:stretch>
            </a:blipFill>
          </p:spPr>
        </p:sp>
      </p:grpSp>
      <p:sp>
        <p:nvSpPr>
          <p:cNvPr name="Freeform 8" id="8"/>
          <p:cNvSpPr/>
          <p:nvPr/>
        </p:nvSpPr>
        <p:spPr>
          <a:xfrm flipH="false" flipV="false" rot="66939">
            <a:off x="2570858" y="3586919"/>
            <a:ext cx="3613364" cy="5516902"/>
          </a:xfrm>
          <a:custGeom>
            <a:avLst/>
            <a:gdLst/>
            <a:ahLst/>
            <a:cxnLst/>
            <a:rect r="r" b="b" t="t" l="l"/>
            <a:pathLst>
              <a:path h="5516902" w="3613364">
                <a:moveTo>
                  <a:pt x="0" y="68301"/>
                </a:moveTo>
                <a:lnTo>
                  <a:pt x="3507255" y="0"/>
                </a:lnTo>
                <a:lnTo>
                  <a:pt x="3613363" y="5448600"/>
                </a:lnTo>
                <a:lnTo>
                  <a:pt x="106108" y="5516902"/>
                </a:lnTo>
                <a:lnTo>
                  <a:pt x="0" y="68301"/>
                </a:lnTo>
                <a:close/>
              </a:path>
            </a:pathLst>
          </a:custGeom>
          <a:blipFill>
            <a:blip r:embed="rId5"/>
            <a:stretch>
              <a:fillRect l="0" t="-1337" r="-423" b="-15593"/>
            </a:stretch>
          </a:blipFill>
        </p:spPr>
      </p:sp>
      <p:sp>
        <p:nvSpPr>
          <p:cNvPr name="TextBox 9" id="9"/>
          <p:cNvSpPr txBox="true"/>
          <p:nvPr/>
        </p:nvSpPr>
        <p:spPr>
          <a:xfrm rot="0">
            <a:off x="2753556" y="9112239"/>
            <a:ext cx="3400542" cy="550545"/>
          </a:xfrm>
          <a:prstGeom prst="rect">
            <a:avLst/>
          </a:prstGeom>
        </p:spPr>
        <p:txBody>
          <a:bodyPr anchor="t" rtlCol="false" tIns="0" lIns="0" bIns="0" rIns="0">
            <a:spAutoFit/>
          </a:bodyPr>
          <a:lstStyle/>
          <a:p>
            <a:pPr algn="ctr">
              <a:lnSpc>
                <a:spcPts val="2204"/>
              </a:lnSpc>
            </a:pPr>
            <a:r>
              <a:rPr lang="en-US" sz="1575">
                <a:solidFill>
                  <a:srgbClr val="334155"/>
                </a:solidFill>
                <a:latin typeface="DM Sans"/>
                <a:ea typeface="DM Sans"/>
                <a:cs typeface="DM Sans"/>
                <a:sym typeface="DM Sans"/>
              </a:rPr>
              <a:t>Rekapitulasi Denda Setiap Semester per Kelas</a:t>
            </a:r>
          </a:p>
        </p:txBody>
      </p:sp>
      <p:grpSp>
        <p:nvGrpSpPr>
          <p:cNvPr name="Group 10" id="10"/>
          <p:cNvGrpSpPr/>
          <p:nvPr/>
        </p:nvGrpSpPr>
        <p:grpSpPr>
          <a:xfrm rot="0">
            <a:off x="7078366" y="3287178"/>
            <a:ext cx="4129280" cy="6485087"/>
            <a:chOff x="0" y="0"/>
            <a:chExt cx="5505706" cy="8646782"/>
          </a:xfrm>
        </p:grpSpPr>
        <p:sp>
          <p:nvSpPr>
            <p:cNvPr name="Freeform 11" id="11" descr="image.png"/>
            <p:cNvSpPr/>
            <p:nvPr/>
          </p:nvSpPr>
          <p:spPr>
            <a:xfrm flipH="false" flipV="false" rot="0">
              <a:off x="0" y="0"/>
              <a:ext cx="5505706" cy="8646833"/>
            </a:xfrm>
            <a:custGeom>
              <a:avLst/>
              <a:gdLst/>
              <a:ahLst/>
              <a:cxnLst/>
              <a:rect r="r" b="b" t="t" l="l"/>
              <a:pathLst>
                <a:path h="8646833" w="5505706">
                  <a:moveTo>
                    <a:pt x="0" y="0"/>
                  </a:moveTo>
                  <a:lnTo>
                    <a:pt x="5505706" y="0"/>
                  </a:lnTo>
                  <a:lnTo>
                    <a:pt x="5505706" y="8646833"/>
                  </a:lnTo>
                  <a:lnTo>
                    <a:pt x="0" y="8646833"/>
                  </a:lnTo>
                  <a:lnTo>
                    <a:pt x="0" y="0"/>
                  </a:lnTo>
                  <a:close/>
                </a:path>
              </a:pathLst>
            </a:custGeom>
            <a:blipFill>
              <a:blip r:embed="rId4"/>
              <a:stretch>
                <a:fillRect l="-38787" t="0" r="-38787" b="-190"/>
              </a:stretch>
            </a:blipFill>
          </p:spPr>
        </p:sp>
      </p:grpSp>
      <p:sp>
        <p:nvSpPr>
          <p:cNvPr name="TextBox 12" id="12"/>
          <p:cNvSpPr txBox="true"/>
          <p:nvPr/>
        </p:nvSpPr>
        <p:spPr>
          <a:xfrm rot="0">
            <a:off x="7299688" y="9296111"/>
            <a:ext cx="3400542" cy="274320"/>
          </a:xfrm>
          <a:prstGeom prst="rect">
            <a:avLst/>
          </a:prstGeom>
        </p:spPr>
        <p:txBody>
          <a:bodyPr anchor="t" rtlCol="false" tIns="0" lIns="0" bIns="0" rIns="0">
            <a:spAutoFit/>
          </a:bodyPr>
          <a:lstStyle/>
          <a:p>
            <a:pPr algn="ctr">
              <a:lnSpc>
                <a:spcPts val="2204"/>
              </a:lnSpc>
            </a:pPr>
            <a:r>
              <a:rPr lang="en-US" sz="1575">
                <a:solidFill>
                  <a:srgbClr val="334155"/>
                </a:solidFill>
                <a:latin typeface="DM Sans"/>
                <a:ea typeface="DM Sans"/>
                <a:cs typeface="DM Sans"/>
                <a:sym typeface="DM Sans"/>
              </a:rPr>
              <a:t>Surat Peringatan (SP)</a:t>
            </a:r>
          </a:p>
        </p:txBody>
      </p:sp>
      <p:grpSp>
        <p:nvGrpSpPr>
          <p:cNvPr name="Group 13" id="13"/>
          <p:cNvGrpSpPr/>
          <p:nvPr/>
        </p:nvGrpSpPr>
        <p:grpSpPr>
          <a:xfrm rot="0">
            <a:off x="11845821" y="3287178"/>
            <a:ext cx="4129280" cy="6485087"/>
            <a:chOff x="0" y="0"/>
            <a:chExt cx="5505706" cy="8646782"/>
          </a:xfrm>
        </p:grpSpPr>
        <p:sp>
          <p:nvSpPr>
            <p:cNvPr name="Freeform 14" id="14" descr="image.png"/>
            <p:cNvSpPr/>
            <p:nvPr/>
          </p:nvSpPr>
          <p:spPr>
            <a:xfrm flipH="false" flipV="false" rot="0">
              <a:off x="0" y="0"/>
              <a:ext cx="5505706" cy="8646833"/>
            </a:xfrm>
            <a:custGeom>
              <a:avLst/>
              <a:gdLst/>
              <a:ahLst/>
              <a:cxnLst/>
              <a:rect r="r" b="b" t="t" l="l"/>
              <a:pathLst>
                <a:path h="8646833" w="5505706">
                  <a:moveTo>
                    <a:pt x="0" y="0"/>
                  </a:moveTo>
                  <a:lnTo>
                    <a:pt x="5505706" y="0"/>
                  </a:lnTo>
                  <a:lnTo>
                    <a:pt x="5505706" y="8646833"/>
                  </a:lnTo>
                  <a:lnTo>
                    <a:pt x="0" y="8646833"/>
                  </a:lnTo>
                  <a:lnTo>
                    <a:pt x="0" y="0"/>
                  </a:lnTo>
                  <a:close/>
                </a:path>
              </a:pathLst>
            </a:custGeom>
            <a:blipFill>
              <a:blip r:embed="rId4"/>
              <a:stretch>
                <a:fillRect l="-38787" t="0" r="-38787" b="-190"/>
              </a:stretch>
            </a:blipFill>
          </p:spPr>
        </p:sp>
      </p:grpSp>
      <p:sp>
        <p:nvSpPr>
          <p:cNvPr name="TextBox 15" id="15"/>
          <p:cNvSpPr txBox="true"/>
          <p:nvPr/>
        </p:nvSpPr>
        <p:spPr>
          <a:xfrm rot="0">
            <a:off x="12286477" y="9296111"/>
            <a:ext cx="3400542" cy="274320"/>
          </a:xfrm>
          <a:prstGeom prst="rect">
            <a:avLst/>
          </a:prstGeom>
        </p:spPr>
        <p:txBody>
          <a:bodyPr anchor="t" rtlCol="false" tIns="0" lIns="0" bIns="0" rIns="0">
            <a:spAutoFit/>
          </a:bodyPr>
          <a:lstStyle/>
          <a:p>
            <a:pPr algn="ctr">
              <a:lnSpc>
                <a:spcPts val="2204"/>
              </a:lnSpc>
            </a:pPr>
            <a:r>
              <a:rPr lang="en-US" sz="1575">
                <a:solidFill>
                  <a:srgbClr val="334155"/>
                </a:solidFill>
                <a:latin typeface="DM Sans"/>
                <a:ea typeface="DM Sans"/>
                <a:cs typeface="DM Sans"/>
                <a:sym typeface="DM Sans"/>
              </a:rPr>
              <a:t>Rapor Tata Tertib Siswa</a:t>
            </a:r>
          </a:p>
        </p:txBody>
      </p:sp>
      <p:sp>
        <p:nvSpPr>
          <p:cNvPr name="Freeform 16" id="16"/>
          <p:cNvSpPr/>
          <p:nvPr/>
        </p:nvSpPr>
        <p:spPr>
          <a:xfrm flipH="false" flipV="false" rot="0">
            <a:off x="7422473" y="3636455"/>
            <a:ext cx="3443054" cy="5423146"/>
          </a:xfrm>
          <a:custGeom>
            <a:avLst/>
            <a:gdLst/>
            <a:ahLst/>
            <a:cxnLst/>
            <a:rect r="r" b="b" t="t" l="l"/>
            <a:pathLst>
              <a:path h="5423146" w="3443054">
                <a:moveTo>
                  <a:pt x="0" y="0"/>
                </a:moveTo>
                <a:lnTo>
                  <a:pt x="3443054" y="0"/>
                </a:lnTo>
                <a:lnTo>
                  <a:pt x="3443054" y="5423146"/>
                </a:lnTo>
                <a:lnTo>
                  <a:pt x="0" y="5423146"/>
                </a:lnTo>
                <a:lnTo>
                  <a:pt x="0" y="0"/>
                </a:lnTo>
                <a:close/>
              </a:path>
            </a:pathLst>
          </a:custGeom>
          <a:blipFill>
            <a:blip r:embed="rId6"/>
            <a:stretch>
              <a:fillRect l="0" t="0" r="0" b="-12867"/>
            </a:stretch>
          </a:blipFill>
        </p:spPr>
      </p:sp>
      <p:sp>
        <p:nvSpPr>
          <p:cNvPr name="Freeform 17" id="17"/>
          <p:cNvSpPr/>
          <p:nvPr/>
        </p:nvSpPr>
        <p:spPr>
          <a:xfrm flipH="false" flipV="false" rot="0">
            <a:off x="12257317" y="3636455"/>
            <a:ext cx="3306288" cy="5423146"/>
          </a:xfrm>
          <a:custGeom>
            <a:avLst/>
            <a:gdLst/>
            <a:ahLst/>
            <a:cxnLst/>
            <a:rect r="r" b="b" t="t" l="l"/>
            <a:pathLst>
              <a:path h="5423146" w="3306288">
                <a:moveTo>
                  <a:pt x="0" y="0"/>
                </a:moveTo>
                <a:lnTo>
                  <a:pt x="3306287" y="0"/>
                </a:lnTo>
                <a:lnTo>
                  <a:pt x="3306287" y="5423146"/>
                </a:lnTo>
                <a:lnTo>
                  <a:pt x="0" y="5423146"/>
                </a:lnTo>
                <a:lnTo>
                  <a:pt x="0" y="0"/>
                </a:lnTo>
                <a:close/>
              </a:path>
            </a:pathLst>
          </a:custGeom>
          <a:blipFill>
            <a:blip r:embed="rId7"/>
            <a:stretch>
              <a:fillRect l="0" t="0" r="0" b="-8384"/>
            </a:stretch>
          </a:blipFill>
        </p:spPr>
      </p:sp>
      <p:sp>
        <p:nvSpPr>
          <p:cNvPr name="TextBox 18" id="18"/>
          <p:cNvSpPr txBox="true"/>
          <p:nvPr/>
        </p:nvSpPr>
        <p:spPr>
          <a:xfrm rot="0">
            <a:off x="1143000" y="2161651"/>
            <a:ext cx="13049833"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Dokumentasi Praktik Kerja Lapangan</a:t>
            </a:r>
          </a:p>
        </p:txBody>
      </p:sp>
      <p:sp>
        <p:nvSpPr>
          <p:cNvPr name="TextBox 19" id="19"/>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20" id="20"/>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8"/>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3093720" y="3395139"/>
            <a:ext cx="5143500" cy="5387207"/>
            <a:chOff x="0" y="0"/>
            <a:chExt cx="6858000" cy="7182942"/>
          </a:xfrm>
        </p:grpSpPr>
        <p:sp>
          <p:nvSpPr>
            <p:cNvPr name="Freeform 5" id="5" descr="image.png"/>
            <p:cNvSpPr/>
            <p:nvPr/>
          </p:nvSpPr>
          <p:spPr>
            <a:xfrm flipH="false" flipV="false" rot="0">
              <a:off x="0" y="0"/>
              <a:ext cx="6858000" cy="7182993"/>
            </a:xfrm>
            <a:custGeom>
              <a:avLst/>
              <a:gdLst/>
              <a:ahLst/>
              <a:cxnLst/>
              <a:rect r="r" b="b" t="t" l="l"/>
              <a:pathLst>
                <a:path h="7182993" w="6858000">
                  <a:moveTo>
                    <a:pt x="0" y="0"/>
                  </a:moveTo>
                  <a:lnTo>
                    <a:pt x="6858000" y="0"/>
                  </a:lnTo>
                  <a:lnTo>
                    <a:pt x="6858000" y="7182993"/>
                  </a:lnTo>
                  <a:lnTo>
                    <a:pt x="0" y="7182993"/>
                  </a:lnTo>
                  <a:lnTo>
                    <a:pt x="0" y="0"/>
                  </a:lnTo>
                  <a:close/>
                </a:path>
              </a:pathLst>
            </a:custGeom>
            <a:blipFill>
              <a:blip r:embed="rId4"/>
              <a:stretch>
                <a:fillRect l="-9212" t="0" r="-9212" b="-190"/>
              </a:stretch>
            </a:blipFill>
          </p:spPr>
        </p:sp>
      </p:grpSp>
      <p:grpSp>
        <p:nvGrpSpPr>
          <p:cNvPr name="Group 6" id="6"/>
          <p:cNvGrpSpPr/>
          <p:nvPr/>
        </p:nvGrpSpPr>
        <p:grpSpPr>
          <a:xfrm rot="0">
            <a:off x="3250883" y="3552301"/>
            <a:ext cx="4829175" cy="3571875"/>
            <a:chOff x="0" y="0"/>
            <a:chExt cx="6438900" cy="4762500"/>
          </a:xfrm>
        </p:grpSpPr>
        <p:sp>
          <p:nvSpPr>
            <p:cNvPr name="Freeform 7" id="7" descr="image.png"/>
            <p:cNvSpPr/>
            <p:nvPr/>
          </p:nvSpPr>
          <p:spPr>
            <a:xfrm flipH="false" flipV="false" rot="0">
              <a:off x="0" y="0"/>
              <a:ext cx="6438900" cy="4762500"/>
            </a:xfrm>
            <a:custGeom>
              <a:avLst/>
              <a:gdLst/>
              <a:ahLst/>
              <a:cxnLst/>
              <a:rect r="r" b="b" t="t" l="l"/>
              <a:pathLst>
                <a:path h="4762500" w="6438900">
                  <a:moveTo>
                    <a:pt x="0" y="0"/>
                  </a:moveTo>
                  <a:lnTo>
                    <a:pt x="6438900" y="0"/>
                  </a:lnTo>
                  <a:lnTo>
                    <a:pt x="6438900" y="4762500"/>
                  </a:lnTo>
                  <a:lnTo>
                    <a:pt x="0" y="4762500"/>
                  </a:lnTo>
                  <a:lnTo>
                    <a:pt x="0" y="0"/>
                  </a:lnTo>
                  <a:close/>
                </a:path>
              </a:pathLst>
            </a:custGeom>
            <a:blipFill>
              <a:blip r:embed="rId5"/>
              <a:stretch>
                <a:fillRect l="0" t="0" r="0" b="-103"/>
              </a:stretch>
            </a:blipFill>
          </p:spPr>
        </p:sp>
      </p:grpSp>
      <p:grpSp>
        <p:nvGrpSpPr>
          <p:cNvPr name="Group 8" id="8"/>
          <p:cNvGrpSpPr/>
          <p:nvPr/>
        </p:nvGrpSpPr>
        <p:grpSpPr>
          <a:xfrm rot="0">
            <a:off x="3265170" y="3566589"/>
            <a:ext cx="4800600" cy="4381500"/>
            <a:chOff x="0" y="0"/>
            <a:chExt cx="6400800" cy="5842000"/>
          </a:xfrm>
        </p:grpSpPr>
        <p:sp>
          <p:nvSpPr>
            <p:cNvPr name="Freeform 9" id="9"/>
            <p:cNvSpPr/>
            <p:nvPr/>
          </p:nvSpPr>
          <p:spPr>
            <a:xfrm flipH="false" flipV="false" rot="0">
              <a:off x="0" y="0"/>
              <a:ext cx="6400800" cy="5842000"/>
            </a:xfrm>
            <a:custGeom>
              <a:avLst/>
              <a:gdLst/>
              <a:ahLst/>
              <a:cxnLst/>
              <a:rect r="r" b="b" t="t" l="l"/>
              <a:pathLst>
                <a:path h="5842000" w="6400800">
                  <a:moveTo>
                    <a:pt x="0" y="0"/>
                  </a:moveTo>
                  <a:lnTo>
                    <a:pt x="6400800" y="0"/>
                  </a:lnTo>
                  <a:lnTo>
                    <a:pt x="6400800" y="5842000"/>
                  </a:lnTo>
                  <a:lnTo>
                    <a:pt x="0" y="5842000"/>
                  </a:lnTo>
                  <a:lnTo>
                    <a:pt x="0" y="0"/>
                  </a:lnTo>
                  <a:close/>
                </a:path>
              </a:pathLst>
            </a:custGeom>
            <a:blipFill>
              <a:blip r:embed="rId6"/>
              <a:stretch>
                <a:fillRect l="0" t="-60260" r="0" b="-34521"/>
              </a:stretch>
            </a:blipFill>
          </p:spPr>
        </p:sp>
      </p:grpSp>
      <p:grpSp>
        <p:nvGrpSpPr>
          <p:cNvPr name="Group 10" id="10"/>
          <p:cNvGrpSpPr/>
          <p:nvPr/>
        </p:nvGrpSpPr>
        <p:grpSpPr>
          <a:xfrm rot="0">
            <a:off x="1143000" y="3118914"/>
            <a:ext cx="16002000" cy="28575"/>
            <a:chOff x="0" y="0"/>
            <a:chExt cx="21336000" cy="38100"/>
          </a:xfrm>
        </p:grpSpPr>
        <p:sp>
          <p:nvSpPr>
            <p:cNvPr name="Freeform 11" id="11"/>
            <p:cNvSpPr/>
            <p:nvPr/>
          </p:nvSpPr>
          <p:spPr>
            <a:xfrm flipH="false" flipV="false" rot="0">
              <a:off x="0" y="0"/>
              <a:ext cx="21336000" cy="38100"/>
            </a:xfrm>
            <a:custGeom>
              <a:avLst/>
              <a:gdLst/>
              <a:ahLst/>
              <a:cxnLst/>
              <a:rect r="r" b="b" t="t" l="l"/>
              <a:pathLst>
                <a:path h="38100" w="21336000">
                  <a:moveTo>
                    <a:pt x="0" y="0"/>
                  </a:moveTo>
                  <a:lnTo>
                    <a:pt x="21336000" y="0"/>
                  </a:lnTo>
                  <a:lnTo>
                    <a:pt x="21336000" y="38100"/>
                  </a:lnTo>
                  <a:lnTo>
                    <a:pt x="0" y="38100"/>
                  </a:lnTo>
                  <a:close/>
                </a:path>
              </a:pathLst>
            </a:custGeom>
            <a:solidFill>
              <a:srgbClr val="E2E8F0"/>
            </a:solidFill>
          </p:spPr>
        </p:sp>
      </p:grpSp>
      <p:sp>
        <p:nvSpPr>
          <p:cNvPr name="TextBox 12" id="12"/>
          <p:cNvSpPr txBox="true"/>
          <p:nvPr/>
        </p:nvSpPr>
        <p:spPr>
          <a:xfrm rot="0">
            <a:off x="3250883" y="8173831"/>
            <a:ext cx="4829175" cy="351512"/>
          </a:xfrm>
          <a:prstGeom prst="rect">
            <a:avLst/>
          </a:prstGeom>
        </p:spPr>
        <p:txBody>
          <a:bodyPr anchor="t" rtlCol="false" tIns="0" lIns="0" bIns="0" rIns="0">
            <a:spAutoFit/>
          </a:bodyPr>
          <a:lstStyle/>
          <a:p>
            <a:pPr algn="ctr">
              <a:lnSpc>
                <a:spcPts val="3022"/>
              </a:lnSpc>
            </a:pPr>
            <a:r>
              <a:rPr lang="en-US" sz="1575">
                <a:solidFill>
                  <a:srgbClr val="334155"/>
                </a:solidFill>
                <a:latin typeface="DM Sans"/>
                <a:ea typeface="DM Sans"/>
                <a:cs typeface="DM Sans"/>
                <a:sym typeface="DM Sans"/>
              </a:rPr>
              <a:t>Wawancara-Observasi Koordinator Tim Tatibsi</a:t>
            </a:r>
          </a:p>
        </p:txBody>
      </p:sp>
      <p:sp>
        <p:nvSpPr>
          <p:cNvPr name="TextBox 13" id="13"/>
          <p:cNvSpPr txBox="true"/>
          <p:nvPr/>
        </p:nvSpPr>
        <p:spPr>
          <a:xfrm rot="0">
            <a:off x="1143000" y="2161651"/>
            <a:ext cx="13049833" cy="714375"/>
          </a:xfrm>
          <a:prstGeom prst="rect">
            <a:avLst/>
          </a:prstGeom>
        </p:spPr>
        <p:txBody>
          <a:bodyPr anchor="t" rtlCol="false" tIns="0" lIns="0" bIns="0" rIns="0">
            <a:spAutoFit/>
          </a:bodyPr>
          <a:lstStyle/>
          <a:p>
            <a:pPr algn="l">
              <a:lnSpc>
                <a:spcPts val="5670"/>
              </a:lnSpc>
            </a:pPr>
            <a:r>
              <a:rPr lang="en-US" b="true" sz="4725">
                <a:solidFill>
                  <a:srgbClr val="005088"/>
                </a:solidFill>
                <a:latin typeface="Merriweather Bold"/>
                <a:ea typeface="Merriweather Bold"/>
                <a:cs typeface="Merriweather Bold"/>
                <a:sym typeface="Merriweather Bold"/>
              </a:rPr>
              <a:t>Dokumentasi Praktik Kerja Lapangan</a:t>
            </a:r>
          </a:p>
        </p:txBody>
      </p:sp>
      <p:sp>
        <p:nvSpPr>
          <p:cNvPr name="TextBox 14" id="14"/>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grpSp>
        <p:nvGrpSpPr>
          <p:cNvPr name="Group 15" id="15"/>
          <p:cNvGrpSpPr/>
          <p:nvPr/>
        </p:nvGrpSpPr>
        <p:grpSpPr>
          <a:xfrm rot="0">
            <a:off x="10051554" y="4430573"/>
            <a:ext cx="5143500" cy="5387207"/>
            <a:chOff x="0" y="0"/>
            <a:chExt cx="6858000" cy="7182942"/>
          </a:xfrm>
        </p:grpSpPr>
        <p:sp>
          <p:nvSpPr>
            <p:cNvPr name="Freeform 16" id="16" descr="image.png"/>
            <p:cNvSpPr/>
            <p:nvPr/>
          </p:nvSpPr>
          <p:spPr>
            <a:xfrm flipH="false" flipV="false" rot="0">
              <a:off x="0" y="0"/>
              <a:ext cx="6858000" cy="7182993"/>
            </a:xfrm>
            <a:custGeom>
              <a:avLst/>
              <a:gdLst/>
              <a:ahLst/>
              <a:cxnLst/>
              <a:rect r="r" b="b" t="t" l="l"/>
              <a:pathLst>
                <a:path h="7182993" w="6858000">
                  <a:moveTo>
                    <a:pt x="0" y="0"/>
                  </a:moveTo>
                  <a:lnTo>
                    <a:pt x="6858000" y="0"/>
                  </a:lnTo>
                  <a:lnTo>
                    <a:pt x="6858000" y="7182993"/>
                  </a:lnTo>
                  <a:lnTo>
                    <a:pt x="0" y="7182993"/>
                  </a:lnTo>
                  <a:lnTo>
                    <a:pt x="0" y="0"/>
                  </a:lnTo>
                  <a:close/>
                </a:path>
              </a:pathLst>
            </a:custGeom>
            <a:blipFill>
              <a:blip r:embed="rId4"/>
              <a:stretch>
                <a:fillRect l="-9212" t="0" r="-9212" b="-190"/>
              </a:stretch>
            </a:blipFill>
          </p:spPr>
        </p:sp>
      </p:grpSp>
      <p:grpSp>
        <p:nvGrpSpPr>
          <p:cNvPr name="Group 17" id="17"/>
          <p:cNvGrpSpPr/>
          <p:nvPr/>
        </p:nvGrpSpPr>
        <p:grpSpPr>
          <a:xfrm rot="0">
            <a:off x="10208716" y="4587735"/>
            <a:ext cx="4829175" cy="3571875"/>
            <a:chOff x="0" y="0"/>
            <a:chExt cx="6438900" cy="4762500"/>
          </a:xfrm>
        </p:grpSpPr>
        <p:sp>
          <p:nvSpPr>
            <p:cNvPr name="Freeform 18" id="18" descr="image.png"/>
            <p:cNvSpPr/>
            <p:nvPr/>
          </p:nvSpPr>
          <p:spPr>
            <a:xfrm flipH="false" flipV="false" rot="0">
              <a:off x="0" y="0"/>
              <a:ext cx="6438900" cy="4762500"/>
            </a:xfrm>
            <a:custGeom>
              <a:avLst/>
              <a:gdLst/>
              <a:ahLst/>
              <a:cxnLst/>
              <a:rect r="r" b="b" t="t" l="l"/>
              <a:pathLst>
                <a:path h="4762500" w="6438900">
                  <a:moveTo>
                    <a:pt x="0" y="0"/>
                  </a:moveTo>
                  <a:lnTo>
                    <a:pt x="6438900" y="0"/>
                  </a:lnTo>
                  <a:lnTo>
                    <a:pt x="6438900" y="4762500"/>
                  </a:lnTo>
                  <a:lnTo>
                    <a:pt x="0" y="4762500"/>
                  </a:lnTo>
                  <a:lnTo>
                    <a:pt x="0" y="0"/>
                  </a:lnTo>
                  <a:close/>
                </a:path>
              </a:pathLst>
            </a:custGeom>
            <a:blipFill>
              <a:blip r:embed="rId5"/>
              <a:stretch>
                <a:fillRect l="0" t="0" r="0" b="-103"/>
              </a:stretch>
            </a:blipFill>
          </p:spPr>
        </p:sp>
      </p:grpSp>
      <p:grpSp>
        <p:nvGrpSpPr>
          <p:cNvPr name="Group 19" id="19"/>
          <p:cNvGrpSpPr/>
          <p:nvPr/>
        </p:nvGrpSpPr>
        <p:grpSpPr>
          <a:xfrm rot="0">
            <a:off x="10223004" y="4602023"/>
            <a:ext cx="4800600" cy="4381500"/>
            <a:chOff x="0" y="0"/>
            <a:chExt cx="6400800" cy="5842000"/>
          </a:xfrm>
        </p:grpSpPr>
        <p:sp>
          <p:nvSpPr>
            <p:cNvPr name="Freeform 20" id="20"/>
            <p:cNvSpPr/>
            <p:nvPr/>
          </p:nvSpPr>
          <p:spPr>
            <a:xfrm flipH="false" flipV="false" rot="0">
              <a:off x="0" y="0"/>
              <a:ext cx="6400800" cy="5842000"/>
            </a:xfrm>
            <a:custGeom>
              <a:avLst/>
              <a:gdLst/>
              <a:ahLst/>
              <a:cxnLst/>
              <a:rect r="r" b="b" t="t" l="l"/>
              <a:pathLst>
                <a:path h="5842000" w="6400800">
                  <a:moveTo>
                    <a:pt x="0" y="0"/>
                  </a:moveTo>
                  <a:lnTo>
                    <a:pt x="6400800" y="0"/>
                  </a:lnTo>
                  <a:lnTo>
                    <a:pt x="6400800" y="5842000"/>
                  </a:lnTo>
                  <a:lnTo>
                    <a:pt x="0" y="5842000"/>
                  </a:lnTo>
                  <a:lnTo>
                    <a:pt x="0" y="0"/>
                  </a:lnTo>
                  <a:close/>
                </a:path>
              </a:pathLst>
            </a:custGeom>
            <a:blipFill>
              <a:blip r:embed="rId7"/>
              <a:stretch>
                <a:fillRect l="0" t="-47509" r="0" b="-47509"/>
              </a:stretch>
            </a:blipFill>
          </p:spPr>
        </p:sp>
      </p:grpSp>
      <p:sp>
        <p:nvSpPr>
          <p:cNvPr name="TextBox 21" id="21"/>
          <p:cNvSpPr txBox="true"/>
          <p:nvPr/>
        </p:nvSpPr>
        <p:spPr>
          <a:xfrm rot="0">
            <a:off x="10208716" y="9209265"/>
            <a:ext cx="4829175" cy="351512"/>
          </a:xfrm>
          <a:prstGeom prst="rect">
            <a:avLst/>
          </a:prstGeom>
        </p:spPr>
        <p:txBody>
          <a:bodyPr anchor="t" rtlCol="false" tIns="0" lIns="0" bIns="0" rIns="0">
            <a:spAutoFit/>
          </a:bodyPr>
          <a:lstStyle/>
          <a:p>
            <a:pPr algn="ctr">
              <a:lnSpc>
                <a:spcPts val="3022"/>
              </a:lnSpc>
            </a:pPr>
            <a:r>
              <a:rPr lang="en-US" sz="1575">
                <a:solidFill>
                  <a:srgbClr val="334155"/>
                </a:solidFill>
                <a:latin typeface="DM Sans"/>
                <a:ea typeface="DM Sans"/>
                <a:cs typeface="DM Sans"/>
                <a:sym typeface="DM Sans"/>
              </a:rPr>
              <a:t>Presentasi Demo Sistem</a:t>
            </a:r>
          </a:p>
        </p:txBody>
      </p:sp>
      <p:sp>
        <p:nvSpPr>
          <p:cNvPr name="Freeform 22" id="22"/>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8"/>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3886710" y="3762375"/>
            <a:ext cx="10514580" cy="1381125"/>
          </a:xfrm>
          <a:prstGeom prst="rect">
            <a:avLst/>
          </a:prstGeom>
        </p:spPr>
        <p:txBody>
          <a:bodyPr anchor="t" rtlCol="false" tIns="0" lIns="0" bIns="0" rIns="0">
            <a:spAutoFit/>
          </a:bodyPr>
          <a:lstStyle/>
          <a:p>
            <a:pPr algn="ctr">
              <a:lnSpc>
                <a:spcPts val="10800"/>
              </a:lnSpc>
            </a:pPr>
            <a:r>
              <a:rPr lang="en-US" b="true" sz="9000">
                <a:solidFill>
                  <a:srgbClr val="005088"/>
                </a:solidFill>
                <a:latin typeface="Merriweather Bold"/>
                <a:ea typeface="Merriweather Bold"/>
                <a:cs typeface="Merriweather Bold"/>
                <a:sym typeface="Merriweather Bold"/>
              </a:rPr>
              <a:t>Terima Kasih</a:t>
            </a:r>
          </a:p>
        </p:txBody>
      </p:sp>
      <p:grpSp>
        <p:nvGrpSpPr>
          <p:cNvPr name="Group 5" id="5"/>
          <p:cNvGrpSpPr/>
          <p:nvPr/>
        </p:nvGrpSpPr>
        <p:grpSpPr>
          <a:xfrm rot="0">
            <a:off x="8429625" y="5650706"/>
            <a:ext cx="1428750" cy="57150"/>
            <a:chOff x="0" y="0"/>
            <a:chExt cx="1905000" cy="76200"/>
          </a:xfrm>
        </p:grpSpPr>
        <p:sp>
          <p:nvSpPr>
            <p:cNvPr name="Freeform 6" id="6"/>
            <p:cNvSpPr/>
            <p:nvPr/>
          </p:nvSpPr>
          <p:spPr>
            <a:xfrm flipH="false" flipV="false" rot="0">
              <a:off x="0" y="0"/>
              <a:ext cx="1905000" cy="76200"/>
            </a:xfrm>
            <a:custGeom>
              <a:avLst/>
              <a:gdLst/>
              <a:ahLst/>
              <a:cxnLst/>
              <a:rect r="r" b="b" t="t" l="l"/>
              <a:pathLst>
                <a:path h="76200" w="1905000">
                  <a:moveTo>
                    <a:pt x="0" y="0"/>
                  </a:moveTo>
                  <a:lnTo>
                    <a:pt x="1905000" y="0"/>
                  </a:lnTo>
                  <a:lnTo>
                    <a:pt x="1905000" y="76200"/>
                  </a:lnTo>
                  <a:lnTo>
                    <a:pt x="0" y="76200"/>
                  </a:lnTo>
                  <a:close/>
                </a:path>
              </a:pathLst>
            </a:custGeom>
            <a:solidFill>
              <a:srgbClr val="11CAA0"/>
            </a:solidFill>
          </p:spPr>
        </p:sp>
      </p:grpSp>
      <p:sp>
        <p:nvSpPr>
          <p:cNvPr name="TextBox 7" id="7"/>
          <p:cNvSpPr txBox="true"/>
          <p:nvPr/>
        </p:nvSpPr>
        <p:spPr>
          <a:xfrm rot="0">
            <a:off x="4321969" y="6107906"/>
            <a:ext cx="9644062" cy="533019"/>
          </a:xfrm>
          <a:prstGeom prst="rect">
            <a:avLst/>
          </a:prstGeom>
        </p:spPr>
        <p:txBody>
          <a:bodyPr anchor="t" rtlCol="false" tIns="0" lIns="0" bIns="0" rIns="0">
            <a:spAutoFit/>
          </a:bodyPr>
          <a:lstStyle/>
          <a:p>
            <a:pPr algn="ctr">
              <a:lnSpc>
                <a:spcPts val="4608"/>
              </a:lnSpc>
            </a:pPr>
            <a:r>
              <a:rPr lang="en-US" b="true" sz="2400">
                <a:solidFill>
                  <a:srgbClr val="334155"/>
                </a:solidFill>
                <a:latin typeface="DM Sans Bold"/>
                <a:ea typeface="DM Sans Bold"/>
                <a:cs typeface="DM Sans Bold"/>
                <a:sym typeface="DM Sans Bold"/>
              </a:rPr>
              <a:t>Marcell Chandra Kenchana - 322310015</a:t>
            </a:r>
          </a:p>
        </p:txBody>
      </p:sp>
      <p:sp>
        <p:nvSpPr>
          <p:cNvPr name="TextBox 8" id="8"/>
          <p:cNvSpPr txBox="true"/>
          <p:nvPr/>
        </p:nvSpPr>
        <p:spPr>
          <a:xfrm rot="0">
            <a:off x="16067361" y="543900"/>
            <a:ext cx="2048630" cy="434025"/>
          </a:xfrm>
          <a:prstGeom prst="rect">
            <a:avLst/>
          </a:prstGeom>
        </p:spPr>
        <p:txBody>
          <a:bodyPr anchor="t" rtlCol="false" tIns="0" lIns="0" bIns="0" rIns="0">
            <a:spAutoFit/>
          </a:bodyPr>
          <a:lstStyle/>
          <a:p>
            <a:pPr algn="ctr">
              <a:lnSpc>
                <a:spcPts val="3887"/>
              </a:lnSpc>
            </a:pPr>
            <a:r>
              <a:rPr lang="en-US" b="true" sz="2025">
                <a:solidFill>
                  <a:srgbClr val="64748B"/>
                </a:solidFill>
                <a:latin typeface="DM Sans Bold"/>
                <a:ea typeface="DM Sans Bold"/>
                <a:cs typeface="DM Sans Bold"/>
                <a:sym typeface="DM Sans Bold"/>
              </a:rPr>
              <a:t>SEMINAR PKL</a:t>
            </a:r>
          </a:p>
        </p:txBody>
      </p:sp>
      <p:sp>
        <p:nvSpPr>
          <p:cNvPr name="Freeform 9" id="9"/>
          <p:cNvSpPr/>
          <p:nvPr/>
        </p:nvSpPr>
        <p:spPr>
          <a:xfrm flipH="false" flipV="false" rot="0">
            <a:off x="354151" y="315984"/>
            <a:ext cx="5929218" cy="1228493"/>
          </a:xfrm>
          <a:custGeom>
            <a:avLst/>
            <a:gdLst/>
            <a:ahLst/>
            <a:cxnLst/>
            <a:rect r="r" b="b" t="t" l="l"/>
            <a:pathLst>
              <a:path h="1228493" w="5929218">
                <a:moveTo>
                  <a:pt x="0" y="0"/>
                </a:moveTo>
                <a:lnTo>
                  <a:pt x="5929219" y="0"/>
                </a:lnTo>
                <a:lnTo>
                  <a:pt x="5929219" y="1228493"/>
                </a:lnTo>
                <a:lnTo>
                  <a:pt x="0" y="1228493"/>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DAHIPi6X_Oo</dc:identifier>
  <dcterms:modified xsi:type="dcterms:W3CDTF">2011-08-01T06:04:30Z</dcterms:modified>
  <cp:revision>1</cp:revision>
  <dc:title>Seminar PKL SITAPSI</dc:title>
</cp:coreProperties>
</file>