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88952" cy="1005840"/>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127248"/>
            <a:ext cx="7315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886200"/>
            <a:ext cx="1145743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74320"/>
            <a:ext cx="11430000" cy="457200"/>
          </a:xfrm>
          <a:prstGeom prst="rect">
            <a:avLst/>
          </a:prstGeom>
          <a:noFill/>
        </p:spPr>
        <p:txBody>
          <a:bodyPr wrap="square">
            <a:spAutoFit/>
          </a:bodyPr>
          <a:lstStyle/>
          <a:p>
            <a:pPr algn="l"/>
            <a:r>
              <a:rPr sz="1300" b="0" i="0">
                <a:solidFill>
                  <a:srgbClr val="2D8996"/>
                </a:solidFill>
              </a:rPr>
              <a:t>Universitas Ma Chung</a:t>
            </a:r>
          </a:p>
        </p:txBody>
      </p:sp>
      <p:sp>
        <p:nvSpPr>
          <p:cNvPr id="7" name="TextBox 6"/>
          <p:cNvSpPr txBox="1"/>
          <p:nvPr/>
        </p:nvSpPr>
        <p:spPr>
          <a:xfrm>
            <a:off x="457200" y="594360"/>
            <a:ext cx="11430000" cy="411480"/>
          </a:xfrm>
          <a:prstGeom prst="rect">
            <a:avLst/>
          </a:prstGeom>
          <a:noFill/>
        </p:spPr>
        <p:txBody>
          <a:bodyPr wrap="square">
            <a:spAutoFit/>
          </a:bodyPr>
          <a:lstStyle/>
          <a:p>
            <a:pPr algn="l"/>
            <a:r>
              <a:rPr sz="1200" b="0" i="0">
                <a:solidFill>
                  <a:srgbClr val="64748B"/>
                </a:solidFill>
              </a:rPr>
              <a:t>Program Studi Sistem Informasi</a:t>
            </a:r>
          </a:p>
        </p:txBody>
      </p:sp>
      <p:sp>
        <p:nvSpPr>
          <p:cNvPr id="8" name="TextBox 7"/>
          <p:cNvSpPr txBox="1"/>
          <p:nvPr/>
        </p:nvSpPr>
        <p:spPr>
          <a:xfrm>
            <a:off x="457200" y="1051560"/>
            <a:ext cx="11430000" cy="2011680"/>
          </a:xfrm>
          <a:prstGeom prst="rect">
            <a:avLst/>
          </a:prstGeom>
          <a:noFill/>
        </p:spPr>
        <p:txBody>
          <a:bodyPr wrap="square">
            <a:spAutoFit/>
          </a:bodyPr>
          <a:lstStyle/>
          <a:p>
            <a:pPr algn="l"/>
            <a:r>
              <a:rPr sz="2800" b="1">
                <a:solidFill>
                  <a:srgbClr val="1E293B"/>
                </a:solidFill>
              </a:rPr>
              <a:t>RANCANG BANGUN</a:t>
            </a:r>
          </a:p>
          <a:p>
            <a:pPr algn="l"/>
            <a:r>
              <a:rPr sz="2800" b="1">
                <a:solidFill>
                  <a:srgbClr val="1E293B"/>
                </a:solidFill>
              </a:rPr>
              <a:t>SISTEM INFORMASI INVENTORY OMNICHANNEL</a:t>
            </a:r>
          </a:p>
          <a:p>
            <a:pPr algn="l"/>
            <a:r>
              <a:rPr sz="2800" b="1">
                <a:solidFill>
                  <a:srgbClr val="1E293B"/>
                </a:solidFill>
              </a:rPr>
              <a:t>ALAT KESEHATAN DAN OBAT</a:t>
            </a:r>
          </a:p>
        </p:txBody>
      </p:sp>
      <p:sp>
        <p:nvSpPr>
          <p:cNvPr id="9" name="TextBox 8"/>
          <p:cNvSpPr txBox="1"/>
          <p:nvPr/>
        </p:nvSpPr>
        <p:spPr>
          <a:xfrm>
            <a:off x="457200" y="3200400"/>
            <a:ext cx="10972800" cy="411480"/>
          </a:xfrm>
          <a:prstGeom prst="rect">
            <a:avLst/>
          </a:prstGeom>
          <a:noFill/>
        </p:spPr>
        <p:txBody>
          <a:bodyPr wrap="square">
            <a:spAutoFit/>
          </a:bodyPr>
          <a:lstStyle/>
          <a:p>
            <a:pPr algn="l"/>
            <a:r>
              <a:rPr sz="1400" b="0" i="1">
                <a:solidFill>
                  <a:srgbClr val="4AB5BF"/>
                </a:solidFill>
              </a:rPr>
              <a:t>Studi Kasus: ZenCare Medical</a:t>
            </a:r>
          </a:p>
        </p:txBody>
      </p:sp>
      <p:sp>
        <p:nvSpPr>
          <p:cNvPr id="10" name="TextBox 9"/>
          <p:cNvSpPr txBox="1"/>
          <p:nvPr/>
        </p:nvSpPr>
        <p:spPr>
          <a:xfrm>
            <a:off x="457200" y="3977639"/>
            <a:ext cx="10972800" cy="411480"/>
          </a:xfrm>
          <a:prstGeom prst="rect">
            <a:avLst/>
          </a:prstGeom>
          <a:noFill/>
        </p:spPr>
        <p:txBody>
          <a:bodyPr wrap="square">
            <a:spAutoFit/>
          </a:bodyPr>
          <a:lstStyle/>
          <a:p>
            <a:pPr algn="l"/>
            <a:r>
              <a:rPr sz="1300" b="1" i="0">
                <a:solidFill>
                  <a:srgbClr val="1E293B"/>
                </a:solidFill>
              </a:rPr>
              <a:t>Marcell Chandra Kenchana  ·  NIM: 322310015</a:t>
            </a:r>
          </a:p>
        </p:txBody>
      </p:sp>
      <p:sp>
        <p:nvSpPr>
          <p:cNvPr id="11" name="TextBox 10"/>
          <p:cNvSpPr txBox="1"/>
          <p:nvPr/>
        </p:nvSpPr>
        <p:spPr>
          <a:xfrm>
            <a:off x="457200" y="4343400"/>
            <a:ext cx="10972800" cy="365760"/>
          </a:xfrm>
          <a:prstGeom prst="rect">
            <a:avLst/>
          </a:prstGeom>
          <a:noFill/>
        </p:spPr>
        <p:txBody>
          <a:bodyPr wrap="square">
            <a:spAutoFit/>
          </a:bodyPr>
          <a:lstStyle/>
          <a:p>
            <a:pPr algn="l"/>
            <a:r>
              <a:rPr sz="1100" b="0" i="0">
                <a:solidFill>
                  <a:srgbClr val="64748B"/>
                </a:solidFill>
              </a:rPr>
              <a:t>Program Studi Sistem Informasi  ·  Fakultas Teknologi dan Desain  ·  Universitas Ma Chung</a:t>
            </a:r>
          </a:p>
        </p:txBody>
      </p:sp>
      <p:sp>
        <p:nvSpPr>
          <p:cNvPr id="12" name="TextBox 11"/>
          <p:cNvSpPr txBox="1"/>
          <p:nvPr/>
        </p:nvSpPr>
        <p:spPr>
          <a:xfrm>
            <a:off x="457200" y="4800600"/>
            <a:ext cx="10972800" cy="320040"/>
          </a:xfrm>
          <a:prstGeom prst="rect">
            <a:avLst/>
          </a:prstGeom>
          <a:noFill/>
        </p:spPr>
        <p:txBody>
          <a:bodyPr wrap="square">
            <a:spAutoFit/>
          </a:bodyPr>
          <a:lstStyle/>
          <a:p>
            <a:pPr algn="l"/>
            <a:r>
              <a:rPr sz="1100" b="1" i="0">
                <a:solidFill>
                  <a:srgbClr val="1E293B"/>
                </a:solidFill>
              </a:rPr>
              <a:t>Dosen Pembimbing:</a:t>
            </a:r>
          </a:p>
        </p:txBody>
      </p:sp>
      <p:sp>
        <p:nvSpPr>
          <p:cNvPr id="13" name="TextBox 12"/>
          <p:cNvSpPr txBox="1"/>
          <p:nvPr/>
        </p:nvSpPr>
        <p:spPr>
          <a:xfrm>
            <a:off x="457200" y="5074920"/>
            <a:ext cx="10972800" cy="320040"/>
          </a:xfrm>
          <a:prstGeom prst="rect">
            <a:avLst/>
          </a:prstGeom>
          <a:noFill/>
        </p:spPr>
        <p:txBody>
          <a:bodyPr wrap="square">
            <a:spAutoFit/>
          </a:bodyPr>
          <a:lstStyle/>
          <a:p>
            <a:pPr algn="l"/>
            <a:r>
              <a:rPr sz="1100" b="0" i="0">
                <a:solidFill>
                  <a:srgbClr val="64748B"/>
                </a:solidFill>
              </a:rPr>
              <a:t>Dr. Soetam Rizky Wicaksono, S.Kom., MM., MCP., MCTS., MOSM.</a:t>
            </a:r>
          </a:p>
        </p:txBody>
      </p:sp>
      <p:sp>
        <p:nvSpPr>
          <p:cNvPr id="14" name="TextBox 13"/>
          <p:cNvSpPr txBox="1"/>
          <p:nvPr/>
        </p:nvSpPr>
        <p:spPr>
          <a:xfrm>
            <a:off x="457200" y="5394960"/>
            <a:ext cx="10972800" cy="320040"/>
          </a:xfrm>
          <a:prstGeom prst="rect">
            <a:avLst/>
          </a:prstGeom>
          <a:noFill/>
        </p:spPr>
        <p:txBody>
          <a:bodyPr wrap="square">
            <a:spAutoFit/>
          </a:bodyPr>
          <a:lstStyle/>
          <a:p>
            <a:pPr algn="l"/>
            <a:r>
              <a:rPr sz="1100" b="0" i="0">
                <a:solidFill>
                  <a:srgbClr val="64748B"/>
                </a:solidFill>
              </a:rPr>
              <a:t>Penguji: [Ketua Penguji]  |  [Penguji I]  |  [Penguji II]</a:t>
            </a:r>
          </a:p>
        </p:txBody>
      </p:sp>
      <p:sp>
        <p:nvSpPr>
          <p:cNvPr id="15" name="TextBox 14"/>
          <p:cNvSpPr txBox="1"/>
          <p:nvPr/>
        </p:nvSpPr>
        <p:spPr>
          <a:xfrm>
            <a:off x="457200" y="5943600"/>
            <a:ext cx="4572000" cy="457200"/>
          </a:xfrm>
          <a:prstGeom prst="rect">
            <a:avLst/>
          </a:prstGeom>
          <a:noFill/>
        </p:spPr>
        <p:txBody>
          <a:bodyPr wrap="square">
            <a:spAutoFit/>
          </a:bodyPr>
          <a:lstStyle/>
          <a:p>
            <a:pPr algn="l"/>
            <a:r>
              <a:rPr sz="1200" b="1" i="0">
                <a:solidFill>
                  <a:srgbClr val="FFFFFF"/>
                </a:solidFill>
              </a:rPr>
              <a:t>Malang,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2</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Daftar Isi</a:t>
            </a:r>
          </a:p>
        </p:txBody>
      </p:sp>
      <p:sp>
        <p:nvSpPr>
          <p:cNvPr id="7" name="Rectangle 6"/>
          <p:cNvSpPr/>
          <p:nvPr/>
        </p:nvSpPr>
        <p:spPr>
          <a:xfrm>
            <a:off x="516636" y="2377440"/>
            <a:ext cx="2148840" cy="192024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 y="2606040"/>
            <a:ext cx="2148840" cy="548640"/>
          </a:xfrm>
          <a:prstGeom prst="rect">
            <a:avLst/>
          </a:prstGeom>
          <a:noFill/>
        </p:spPr>
        <p:txBody>
          <a:bodyPr wrap="square">
            <a:spAutoFit/>
          </a:bodyPr>
          <a:lstStyle/>
          <a:p>
            <a:pPr algn="ctr"/>
            <a:r>
              <a:rPr sz="2800" b="1" i="0">
                <a:solidFill>
                  <a:srgbClr val="FFFFFF"/>
                </a:solidFill>
              </a:rPr>
              <a:t>01</a:t>
            </a:r>
          </a:p>
        </p:txBody>
      </p:sp>
      <p:sp>
        <p:nvSpPr>
          <p:cNvPr id="9" name="TextBox 8"/>
          <p:cNvSpPr txBox="1"/>
          <p:nvPr/>
        </p:nvSpPr>
        <p:spPr>
          <a:xfrm>
            <a:off x="608076" y="3154680"/>
            <a:ext cx="1965960" cy="914400"/>
          </a:xfrm>
          <a:prstGeom prst="rect">
            <a:avLst/>
          </a:prstGeom>
          <a:noFill/>
        </p:spPr>
        <p:txBody>
          <a:bodyPr wrap="square">
            <a:spAutoFit/>
          </a:bodyPr>
          <a:lstStyle/>
          <a:p>
            <a:pPr algn="ctr"/>
            <a:r>
              <a:rPr sz="1200" b="0" i="0">
                <a:solidFill>
                  <a:srgbClr val="FFFFFF"/>
                </a:solidFill>
              </a:rPr>
              <a:t>Latar Belakang &amp;
Identifikasi Masalah</a:t>
            </a:r>
          </a:p>
        </p:txBody>
      </p:sp>
      <p:sp>
        <p:nvSpPr>
          <p:cNvPr id="10" name="Rectangle 9"/>
          <p:cNvSpPr/>
          <p:nvPr/>
        </p:nvSpPr>
        <p:spPr>
          <a:xfrm>
            <a:off x="2830068" y="2377440"/>
            <a:ext cx="2148840" cy="192024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0068" y="2606040"/>
            <a:ext cx="2148840" cy="548640"/>
          </a:xfrm>
          <a:prstGeom prst="rect">
            <a:avLst/>
          </a:prstGeom>
          <a:noFill/>
        </p:spPr>
        <p:txBody>
          <a:bodyPr wrap="square">
            <a:spAutoFit/>
          </a:bodyPr>
          <a:lstStyle/>
          <a:p>
            <a:pPr algn="ctr"/>
            <a:r>
              <a:rPr sz="2800" b="1" i="0">
                <a:solidFill>
                  <a:srgbClr val="FFFFFF"/>
                </a:solidFill>
              </a:rPr>
              <a:t>02</a:t>
            </a:r>
          </a:p>
        </p:txBody>
      </p:sp>
      <p:sp>
        <p:nvSpPr>
          <p:cNvPr id="12" name="TextBox 11"/>
          <p:cNvSpPr txBox="1"/>
          <p:nvPr/>
        </p:nvSpPr>
        <p:spPr>
          <a:xfrm>
            <a:off x="2921508" y="3154680"/>
            <a:ext cx="1965960" cy="914400"/>
          </a:xfrm>
          <a:prstGeom prst="rect">
            <a:avLst/>
          </a:prstGeom>
          <a:noFill/>
        </p:spPr>
        <p:txBody>
          <a:bodyPr wrap="square">
            <a:spAutoFit/>
          </a:bodyPr>
          <a:lstStyle/>
          <a:p>
            <a:pPr algn="ctr"/>
            <a:r>
              <a:rPr sz="1200" b="0" i="0">
                <a:solidFill>
                  <a:srgbClr val="FFFFFF"/>
                </a:solidFill>
              </a:rPr>
              <a:t>Perbandingan
Penelitian Terdahulu</a:t>
            </a:r>
          </a:p>
        </p:txBody>
      </p:sp>
      <p:sp>
        <p:nvSpPr>
          <p:cNvPr id="13" name="Rectangle 12"/>
          <p:cNvSpPr/>
          <p:nvPr/>
        </p:nvSpPr>
        <p:spPr>
          <a:xfrm>
            <a:off x="5143500" y="2377440"/>
            <a:ext cx="2148840" cy="192024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43500" y="2606040"/>
            <a:ext cx="2148840" cy="548640"/>
          </a:xfrm>
          <a:prstGeom prst="rect">
            <a:avLst/>
          </a:prstGeom>
          <a:noFill/>
        </p:spPr>
        <p:txBody>
          <a:bodyPr wrap="square">
            <a:spAutoFit/>
          </a:bodyPr>
          <a:lstStyle/>
          <a:p>
            <a:pPr algn="ctr"/>
            <a:r>
              <a:rPr sz="2800" b="1" i="0">
                <a:solidFill>
                  <a:srgbClr val="FFFFFF"/>
                </a:solidFill>
              </a:rPr>
              <a:t>03</a:t>
            </a:r>
          </a:p>
        </p:txBody>
      </p:sp>
      <p:sp>
        <p:nvSpPr>
          <p:cNvPr id="15" name="TextBox 14"/>
          <p:cNvSpPr txBox="1"/>
          <p:nvPr/>
        </p:nvSpPr>
        <p:spPr>
          <a:xfrm>
            <a:off x="5234940" y="3154680"/>
            <a:ext cx="1965960" cy="914400"/>
          </a:xfrm>
          <a:prstGeom prst="rect">
            <a:avLst/>
          </a:prstGeom>
          <a:noFill/>
        </p:spPr>
        <p:txBody>
          <a:bodyPr wrap="square">
            <a:spAutoFit/>
          </a:bodyPr>
          <a:lstStyle/>
          <a:p>
            <a:pPr algn="ctr"/>
            <a:r>
              <a:rPr sz="1200" b="0" i="0">
                <a:solidFill>
                  <a:srgbClr val="FFFFFF"/>
                </a:solidFill>
              </a:rPr>
              <a:t>Workflow &amp;
Antarmuka Sistem</a:t>
            </a:r>
          </a:p>
        </p:txBody>
      </p:sp>
      <p:sp>
        <p:nvSpPr>
          <p:cNvPr id="16" name="Rectangle 15"/>
          <p:cNvSpPr/>
          <p:nvPr/>
        </p:nvSpPr>
        <p:spPr>
          <a:xfrm>
            <a:off x="7456932" y="2377440"/>
            <a:ext cx="2148840" cy="192024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6932" y="2606040"/>
            <a:ext cx="2148840" cy="548640"/>
          </a:xfrm>
          <a:prstGeom prst="rect">
            <a:avLst/>
          </a:prstGeom>
          <a:noFill/>
        </p:spPr>
        <p:txBody>
          <a:bodyPr wrap="square">
            <a:spAutoFit/>
          </a:bodyPr>
          <a:lstStyle/>
          <a:p>
            <a:pPr algn="ctr"/>
            <a:r>
              <a:rPr sz="2800" b="1" i="0">
                <a:solidFill>
                  <a:srgbClr val="FFFFFF"/>
                </a:solidFill>
              </a:rPr>
              <a:t>04</a:t>
            </a:r>
          </a:p>
        </p:txBody>
      </p:sp>
      <p:sp>
        <p:nvSpPr>
          <p:cNvPr id="18" name="TextBox 17"/>
          <p:cNvSpPr txBox="1"/>
          <p:nvPr/>
        </p:nvSpPr>
        <p:spPr>
          <a:xfrm>
            <a:off x="7548372" y="3154680"/>
            <a:ext cx="1965960" cy="914400"/>
          </a:xfrm>
          <a:prstGeom prst="rect">
            <a:avLst/>
          </a:prstGeom>
          <a:noFill/>
        </p:spPr>
        <p:txBody>
          <a:bodyPr wrap="square">
            <a:spAutoFit/>
          </a:bodyPr>
          <a:lstStyle/>
          <a:p>
            <a:pPr algn="ctr"/>
            <a:r>
              <a:rPr sz="1200" b="0" i="0">
                <a:solidFill>
                  <a:srgbClr val="FFFFFF"/>
                </a:solidFill>
              </a:rPr>
              <a:t>Arsitektur Teknis
&amp; Database</a:t>
            </a:r>
          </a:p>
        </p:txBody>
      </p:sp>
      <p:sp>
        <p:nvSpPr>
          <p:cNvPr id="19" name="Rectangle 18"/>
          <p:cNvSpPr/>
          <p:nvPr/>
        </p:nvSpPr>
        <p:spPr>
          <a:xfrm>
            <a:off x="9770364" y="2377440"/>
            <a:ext cx="2148840" cy="192024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70364" y="2606040"/>
            <a:ext cx="2148840" cy="548640"/>
          </a:xfrm>
          <a:prstGeom prst="rect">
            <a:avLst/>
          </a:prstGeom>
          <a:noFill/>
        </p:spPr>
        <p:txBody>
          <a:bodyPr wrap="square">
            <a:spAutoFit/>
          </a:bodyPr>
          <a:lstStyle/>
          <a:p>
            <a:pPr algn="ctr"/>
            <a:r>
              <a:rPr sz="2800" b="1" i="0">
                <a:solidFill>
                  <a:srgbClr val="FFFFFF"/>
                </a:solidFill>
              </a:rPr>
              <a:t>05</a:t>
            </a:r>
          </a:p>
        </p:txBody>
      </p:sp>
      <p:sp>
        <p:nvSpPr>
          <p:cNvPr id="21" name="TextBox 20"/>
          <p:cNvSpPr txBox="1"/>
          <p:nvPr/>
        </p:nvSpPr>
        <p:spPr>
          <a:xfrm>
            <a:off x="9861804" y="3154680"/>
            <a:ext cx="1965960" cy="914400"/>
          </a:xfrm>
          <a:prstGeom prst="rect">
            <a:avLst/>
          </a:prstGeom>
          <a:noFill/>
        </p:spPr>
        <p:txBody>
          <a:bodyPr wrap="square">
            <a:spAutoFit/>
          </a:bodyPr>
          <a:lstStyle/>
          <a:p>
            <a:pPr algn="ctr"/>
            <a:r>
              <a:rPr sz="1200" b="0" i="0">
                <a:solidFill>
                  <a:srgbClr val="FFFFFF"/>
                </a:solidFill>
              </a:rPr>
              <a:t>Dokumentasi Lapangan
&amp; Kesimpulan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3</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Latar Belakang &amp; Identifikasi Masalah</a:t>
            </a:r>
          </a:p>
        </p:txBody>
      </p:sp>
      <p:sp>
        <p:nvSpPr>
          <p:cNvPr id="7" name="Rectangle 6"/>
          <p:cNvSpPr/>
          <p:nvPr/>
        </p:nvSpPr>
        <p:spPr>
          <a:xfrm>
            <a:off x="411480" y="1188720"/>
            <a:ext cx="3749039" cy="4892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88720"/>
            <a:ext cx="3749039"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25880"/>
            <a:ext cx="3749039" cy="548640"/>
          </a:xfrm>
          <a:prstGeom prst="rect">
            <a:avLst/>
          </a:prstGeom>
          <a:noFill/>
        </p:spPr>
        <p:txBody>
          <a:bodyPr wrap="square">
            <a:spAutoFit/>
          </a:bodyPr>
          <a:lstStyle/>
          <a:p>
            <a:pPr algn="ctr"/>
            <a:r>
              <a:rPr sz="2800" b="0" i="0">
                <a:solidFill>
                  <a:srgbClr val="4AB5BF"/>
                </a:solidFill>
              </a:rPr>
              <a:t>⚡</a:t>
            </a:r>
          </a:p>
        </p:txBody>
      </p:sp>
      <p:sp>
        <p:nvSpPr>
          <p:cNvPr id="10" name="TextBox 9"/>
          <p:cNvSpPr txBox="1"/>
          <p:nvPr/>
        </p:nvSpPr>
        <p:spPr>
          <a:xfrm>
            <a:off x="548640" y="1920240"/>
            <a:ext cx="3474719" cy="502920"/>
          </a:xfrm>
          <a:prstGeom prst="rect">
            <a:avLst/>
          </a:prstGeom>
          <a:noFill/>
        </p:spPr>
        <p:txBody>
          <a:bodyPr wrap="square">
            <a:spAutoFit/>
          </a:bodyPr>
          <a:lstStyle/>
          <a:p>
            <a:pPr algn="ctr"/>
            <a:r>
              <a:rPr sz="1300" b="1" i="0">
                <a:solidFill>
                  <a:srgbClr val="2D8996"/>
                </a:solidFill>
              </a:rPr>
              <a:t>Kasir Luring &amp; Daring Terpisah</a:t>
            </a:r>
          </a:p>
        </p:txBody>
      </p:sp>
      <p:sp>
        <p:nvSpPr>
          <p:cNvPr id="11" name="TextBox 10"/>
          <p:cNvSpPr txBox="1"/>
          <p:nvPr/>
        </p:nvSpPr>
        <p:spPr>
          <a:xfrm>
            <a:off x="548640" y="2514600"/>
            <a:ext cx="3474719" cy="3383280"/>
          </a:xfrm>
          <a:prstGeom prst="rect">
            <a:avLst/>
          </a:prstGeom>
          <a:noFill/>
        </p:spPr>
        <p:txBody>
          <a:bodyPr wrap="square">
            <a:spAutoFit/>
          </a:bodyPr>
          <a:lstStyle/>
          <a:p>
            <a:pPr algn="l"/>
            <a:r>
              <a:rPr sz="1150" b="0" i="0">
                <a:solidFill>
                  <a:srgbClr val="1E293B"/>
                </a:solidFill>
              </a:rPr>
              <a:t>Penggunaan aplikasi POS fisik stand-alone memicu tingginya risiko pesanan ganda (overselling) karena ketersediaan fisik tidak tersinkronisasi otomatis dengan etalase e-commerce.</a:t>
            </a:r>
          </a:p>
        </p:txBody>
      </p:sp>
      <p:sp>
        <p:nvSpPr>
          <p:cNvPr id="12" name="Rectangle 11"/>
          <p:cNvSpPr/>
          <p:nvPr/>
        </p:nvSpPr>
        <p:spPr>
          <a:xfrm>
            <a:off x="4297679" y="1188720"/>
            <a:ext cx="3749039" cy="4892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188720"/>
            <a:ext cx="3749039"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1325880"/>
            <a:ext cx="3749039" cy="548640"/>
          </a:xfrm>
          <a:prstGeom prst="rect">
            <a:avLst/>
          </a:prstGeom>
          <a:noFill/>
        </p:spPr>
        <p:txBody>
          <a:bodyPr wrap="square">
            <a:spAutoFit/>
          </a:bodyPr>
          <a:lstStyle/>
          <a:p>
            <a:pPr algn="ctr"/>
            <a:r>
              <a:rPr sz="2800" b="0" i="0">
                <a:solidFill>
                  <a:srgbClr val="4AB5BF"/>
                </a:solidFill>
              </a:rPr>
              <a:t>🔢</a:t>
            </a:r>
          </a:p>
        </p:txBody>
      </p:sp>
      <p:sp>
        <p:nvSpPr>
          <p:cNvPr id="15" name="TextBox 14"/>
          <p:cNvSpPr txBox="1"/>
          <p:nvPr/>
        </p:nvSpPr>
        <p:spPr>
          <a:xfrm>
            <a:off x="4434839" y="1920240"/>
            <a:ext cx="3474719" cy="502920"/>
          </a:xfrm>
          <a:prstGeom prst="rect">
            <a:avLst/>
          </a:prstGeom>
          <a:noFill/>
        </p:spPr>
        <p:txBody>
          <a:bodyPr wrap="square">
            <a:spAutoFit/>
          </a:bodyPr>
          <a:lstStyle/>
          <a:p>
            <a:pPr algn="ctr"/>
            <a:r>
              <a:rPr sz="1300" b="1" i="0">
                <a:solidFill>
                  <a:srgbClr val="2D8996"/>
                </a:solidFill>
              </a:rPr>
              <a:t>Konversi Multi-Satuan Manual</a:t>
            </a:r>
          </a:p>
        </p:txBody>
      </p:sp>
      <p:sp>
        <p:nvSpPr>
          <p:cNvPr id="16" name="TextBox 15"/>
          <p:cNvSpPr txBox="1"/>
          <p:nvPr/>
        </p:nvSpPr>
        <p:spPr>
          <a:xfrm>
            <a:off x="4434839" y="2514600"/>
            <a:ext cx="3474719" cy="3383280"/>
          </a:xfrm>
          <a:prstGeom prst="rect">
            <a:avLst/>
          </a:prstGeom>
          <a:noFill/>
        </p:spPr>
        <p:txBody>
          <a:bodyPr wrap="square">
            <a:spAutoFit/>
          </a:bodyPr>
          <a:lstStyle/>
          <a:p>
            <a:pPr algn="l"/>
            <a:r>
              <a:rPr sz="1150" b="0" i="0">
                <a:solidFill>
                  <a:srgbClr val="1E293B"/>
                </a:solidFill>
              </a:rPr>
              <a:t>Ketiadaan fitur konversi satuan memaksa admin menghitung pecahan kemasan grosir (Box) ke eceran (Strip) secara manual sebelum memotong sisa persediaan.</a:t>
            </a:r>
          </a:p>
        </p:txBody>
      </p:sp>
      <p:sp>
        <p:nvSpPr>
          <p:cNvPr id="17" name="Rectangle 16"/>
          <p:cNvSpPr/>
          <p:nvPr/>
        </p:nvSpPr>
        <p:spPr>
          <a:xfrm>
            <a:off x="8183878" y="1188720"/>
            <a:ext cx="3749039" cy="4892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8" y="1188720"/>
            <a:ext cx="3749039"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8" y="1325880"/>
            <a:ext cx="3749039" cy="548640"/>
          </a:xfrm>
          <a:prstGeom prst="rect">
            <a:avLst/>
          </a:prstGeom>
          <a:noFill/>
        </p:spPr>
        <p:txBody>
          <a:bodyPr wrap="square">
            <a:spAutoFit/>
          </a:bodyPr>
          <a:lstStyle/>
          <a:p>
            <a:pPr algn="ctr"/>
            <a:r>
              <a:rPr sz="2800" b="0" i="0">
                <a:solidFill>
                  <a:srgbClr val="4AB5BF"/>
                </a:solidFill>
              </a:rPr>
              <a:t>🏥</a:t>
            </a:r>
          </a:p>
        </p:txBody>
      </p:sp>
      <p:sp>
        <p:nvSpPr>
          <p:cNvPr id="20" name="TextBox 19"/>
          <p:cNvSpPr txBox="1"/>
          <p:nvPr/>
        </p:nvSpPr>
        <p:spPr>
          <a:xfrm>
            <a:off x="8321038" y="1920240"/>
            <a:ext cx="3474719" cy="502920"/>
          </a:xfrm>
          <a:prstGeom prst="rect">
            <a:avLst/>
          </a:prstGeom>
          <a:noFill/>
        </p:spPr>
        <p:txBody>
          <a:bodyPr wrap="square">
            <a:spAutoFit/>
          </a:bodyPr>
          <a:lstStyle/>
          <a:p>
            <a:pPr algn="ctr"/>
            <a:r>
              <a:rPr sz="1300" b="1" i="0">
                <a:solidFill>
                  <a:srgbClr val="2D8996"/>
                </a:solidFill>
              </a:rPr>
              <a:t>Ketiadaan Kendali Logistik Medis</a:t>
            </a:r>
          </a:p>
        </p:txBody>
      </p:sp>
      <p:sp>
        <p:nvSpPr>
          <p:cNvPr id="21" name="TextBox 20"/>
          <p:cNvSpPr txBox="1"/>
          <p:nvPr/>
        </p:nvSpPr>
        <p:spPr>
          <a:xfrm>
            <a:off x="8321038" y="2514600"/>
            <a:ext cx="3474719" cy="3383280"/>
          </a:xfrm>
          <a:prstGeom prst="rect">
            <a:avLst/>
          </a:prstGeom>
          <a:noFill/>
        </p:spPr>
        <p:txBody>
          <a:bodyPr wrap="square">
            <a:spAutoFit/>
          </a:bodyPr>
          <a:lstStyle/>
          <a:p>
            <a:pPr algn="l"/>
            <a:r>
              <a:rPr sz="1150" b="0" i="0">
                <a:solidFill>
                  <a:srgbClr val="1E293B"/>
                </a:solidFill>
              </a:rPr>
              <a:t>Sistem pencatatan saat ini belum mendata tanggal kedaluwarsa berbasis Batch (FEFO) untuk obat, maupun pelacakan Serial Number (SN) jaminan garansi alat kesehatan.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4</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Batasan Masalah</a:t>
            </a:r>
          </a:p>
        </p:txBody>
      </p:sp>
      <p:sp>
        <p:nvSpPr>
          <p:cNvPr id="7" name="Rectangle 6"/>
          <p:cNvSpPr/>
          <p:nvPr/>
        </p:nvSpPr>
        <p:spPr>
          <a:xfrm>
            <a:off x="411480" y="1645920"/>
            <a:ext cx="3611880" cy="4023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645920"/>
            <a:ext cx="502920" cy="40233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377440"/>
            <a:ext cx="502920" cy="548640"/>
          </a:xfrm>
          <a:prstGeom prst="rect">
            <a:avLst/>
          </a:prstGeom>
          <a:noFill/>
        </p:spPr>
        <p:txBody>
          <a:bodyPr wrap="square">
            <a:spAutoFit/>
          </a:bodyPr>
          <a:lstStyle/>
          <a:p>
            <a:pPr algn="ctr"/>
            <a:r>
              <a:rPr sz="2000" b="0" i="0">
                <a:solidFill>
                  <a:srgbClr val="FFFFFF"/>
                </a:solidFill>
              </a:rPr>
              <a:t>🎯</a:t>
            </a:r>
          </a:p>
        </p:txBody>
      </p:sp>
      <p:sp>
        <p:nvSpPr>
          <p:cNvPr id="10" name="TextBox 9"/>
          <p:cNvSpPr txBox="1"/>
          <p:nvPr/>
        </p:nvSpPr>
        <p:spPr>
          <a:xfrm>
            <a:off x="1005840" y="1783080"/>
            <a:ext cx="2926080" cy="502920"/>
          </a:xfrm>
          <a:prstGeom prst="rect">
            <a:avLst/>
          </a:prstGeom>
          <a:noFill/>
        </p:spPr>
        <p:txBody>
          <a:bodyPr wrap="square">
            <a:spAutoFit/>
          </a:bodyPr>
          <a:lstStyle/>
          <a:p>
            <a:pPr algn="l"/>
            <a:r>
              <a:rPr sz="1400" b="1" i="0">
                <a:solidFill>
                  <a:srgbClr val="2D8996"/>
                </a:solidFill>
              </a:rPr>
              <a:t>Fokus Operasional</a:t>
            </a:r>
          </a:p>
        </p:txBody>
      </p:sp>
      <p:sp>
        <p:nvSpPr>
          <p:cNvPr id="11" name="TextBox 10"/>
          <p:cNvSpPr txBox="1"/>
          <p:nvPr/>
        </p:nvSpPr>
        <p:spPr>
          <a:xfrm>
            <a:off x="1005840" y="2377440"/>
            <a:ext cx="2926080" cy="3108960"/>
          </a:xfrm>
          <a:prstGeom prst="rect">
            <a:avLst/>
          </a:prstGeom>
          <a:noFill/>
        </p:spPr>
        <p:txBody>
          <a:bodyPr wrap="square">
            <a:spAutoFit/>
          </a:bodyPr>
          <a:lstStyle/>
          <a:p>
            <a:pPr algn="l"/>
            <a:r>
              <a:rPr sz="1200" b="0" i="0">
                <a:solidFill>
                  <a:srgbClr val="1E293B"/>
                </a:solidFill>
              </a:rPr>
              <a:t>Sistem murni menyinkronkan inventaris antara terminal POS dan E-Commerce mandiri, tanpa mencakup modul akuntansi keuangan atau laba rugi.</a:t>
            </a:r>
          </a:p>
        </p:txBody>
      </p:sp>
      <p:sp>
        <p:nvSpPr>
          <p:cNvPr id="12" name="Rectangle 11"/>
          <p:cNvSpPr/>
          <p:nvPr/>
        </p:nvSpPr>
        <p:spPr>
          <a:xfrm>
            <a:off x="4206240" y="1645920"/>
            <a:ext cx="3611880" cy="4023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645920"/>
            <a:ext cx="502920" cy="40233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377440"/>
            <a:ext cx="502920" cy="548640"/>
          </a:xfrm>
          <a:prstGeom prst="rect">
            <a:avLst/>
          </a:prstGeom>
          <a:noFill/>
        </p:spPr>
        <p:txBody>
          <a:bodyPr wrap="square">
            <a:spAutoFit/>
          </a:bodyPr>
          <a:lstStyle/>
          <a:p>
            <a:pPr algn="ctr"/>
            <a:r>
              <a:rPr sz="2000" b="0" i="0">
                <a:solidFill>
                  <a:srgbClr val="FFFFFF"/>
                </a:solidFill>
              </a:rPr>
              <a:t>📦</a:t>
            </a:r>
          </a:p>
        </p:txBody>
      </p:sp>
      <p:sp>
        <p:nvSpPr>
          <p:cNvPr id="15" name="TextBox 14"/>
          <p:cNvSpPr txBox="1"/>
          <p:nvPr/>
        </p:nvSpPr>
        <p:spPr>
          <a:xfrm>
            <a:off x="4800600" y="1783080"/>
            <a:ext cx="2926080" cy="502920"/>
          </a:xfrm>
          <a:prstGeom prst="rect">
            <a:avLst/>
          </a:prstGeom>
          <a:noFill/>
        </p:spPr>
        <p:txBody>
          <a:bodyPr wrap="square">
            <a:spAutoFit/>
          </a:bodyPr>
          <a:lstStyle/>
          <a:p>
            <a:pPr algn="l"/>
            <a:r>
              <a:rPr sz="1400" b="1" i="0">
                <a:solidFill>
                  <a:srgbClr val="2D8996"/>
                </a:solidFill>
              </a:rPr>
              <a:t>Logika Pengeluaran Logistik</a:t>
            </a:r>
          </a:p>
        </p:txBody>
      </p:sp>
      <p:sp>
        <p:nvSpPr>
          <p:cNvPr id="16" name="TextBox 15"/>
          <p:cNvSpPr txBox="1"/>
          <p:nvPr/>
        </p:nvSpPr>
        <p:spPr>
          <a:xfrm>
            <a:off x="4800600" y="2377440"/>
            <a:ext cx="2926080" cy="3108960"/>
          </a:xfrm>
          <a:prstGeom prst="rect">
            <a:avLst/>
          </a:prstGeom>
          <a:noFill/>
        </p:spPr>
        <p:txBody>
          <a:bodyPr wrap="square">
            <a:spAutoFit/>
          </a:bodyPr>
          <a:lstStyle/>
          <a:p>
            <a:pPr algn="l"/>
            <a:r>
              <a:rPr sz="1200" b="0" i="0">
                <a:solidFill>
                  <a:srgbClr val="1E293B"/>
                </a:solidFill>
              </a:rPr>
              <a:t>Pengendalian persediaan menerapkan algoritma First Expired First Out (FEFO) berbasis Batch untuk obat, serta pendataan Serial Number untuk Alat Kesehatan.</a:t>
            </a:r>
          </a:p>
        </p:txBody>
      </p:sp>
      <p:sp>
        <p:nvSpPr>
          <p:cNvPr id="17" name="Rectangle 16"/>
          <p:cNvSpPr/>
          <p:nvPr/>
        </p:nvSpPr>
        <p:spPr>
          <a:xfrm>
            <a:off x="8001000" y="1645920"/>
            <a:ext cx="3611880" cy="4023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645920"/>
            <a:ext cx="502920" cy="40233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2377440"/>
            <a:ext cx="502920" cy="548640"/>
          </a:xfrm>
          <a:prstGeom prst="rect">
            <a:avLst/>
          </a:prstGeom>
          <a:noFill/>
        </p:spPr>
        <p:txBody>
          <a:bodyPr wrap="square">
            <a:spAutoFit/>
          </a:bodyPr>
          <a:lstStyle/>
          <a:p>
            <a:pPr algn="ctr"/>
            <a:r>
              <a:rPr sz="2000" b="0" i="0">
                <a:solidFill>
                  <a:srgbClr val="FFFFFF"/>
                </a:solidFill>
              </a:rPr>
              <a:t>🔗</a:t>
            </a:r>
          </a:p>
        </p:txBody>
      </p:sp>
      <p:sp>
        <p:nvSpPr>
          <p:cNvPr id="20" name="TextBox 19"/>
          <p:cNvSpPr txBox="1"/>
          <p:nvPr/>
        </p:nvSpPr>
        <p:spPr>
          <a:xfrm>
            <a:off x="8595360" y="1783080"/>
            <a:ext cx="2926080" cy="502920"/>
          </a:xfrm>
          <a:prstGeom prst="rect">
            <a:avLst/>
          </a:prstGeom>
          <a:noFill/>
        </p:spPr>
        <p:txBody>
          <a:bodyPr wrap="square">
            <a:spAutoFit/>
          </a:bodyPr>
          <a:lstStyle/>
          <a:p>
            <a:pPr algn="l"/>
            <a:r>
              <a:rPr sz="1400" b="1" i="0">
                <a:solidFill>
                  <a:srgbClr val="2D8996"/>
                </a:solidFill>
              </a:rPr>
              <a:t>Infrastruktur Pihak Ketiga</a:t>
            </a:r>
          </a:p>
        </p:txBody>
      </p:sp>
      <p:sp>
        <p:nvSpPr>
          <p:cNvPr id="21" name="TextBox 20"/>
          <p:cNvSpPr txBox="1"/>
          <p:nvPr/>
        </p:nvSpPr>
        <p:spPr>
          <a:xfrm>
            <a:off x="8595360" y="2377440"/>
            <a:ext cx="2926080" cy="3108960"/>
          </a:xfrm>
          <a:prstGeom prst="rect">
            <a:avLst/>
          </a:prstGeom>
          <a:noFill/>
        </p:spPr>
        <p:txBody>
          <a:bodyPr wrap="square">
            <a:spAutoFit/>
          </a:bodyPr>
          <a:lstStyle/>
          <a:p>
            <a:pPr algn="l"/>
            <a:r>
              <a:rPr sz="1200" b="0" i="0">
                <a:solidFill>
                  <a:srgbClr val="1E293B"/>
                </a:solidFill>
              </a:rPr>
              <a:t>Integrasi Midtrans API (pembayaran) dan RajaOngkir (ongkir) dijalankan secara eksklusif pada lingkungan pengujian (Sandbox Mode).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5</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Perbandingan Penelitian Terdahulu (Research Gap)</a:t>
            </a:r>
          </a:p>
        </p:txBody>
      </p:sp>
      <p:sp>
        <p:nvSpPr>
          <p:cNvPr id="7" name="Rectangle 6"/>
          <p:cNvSpPr/>
          <p:nvPr/>
        </p:nvSpPr>
        <p:spPr>
          <a:xfrm>
            <a:off x="411480" y="1188720"/>
            <a:ext cx="2148840" cy="621792"/>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2057400" cy="530352"/>
          </a:xfrm>
          <a:prstGeom prst="rect">
            <a:avLst/>
          </a:prstGeom>
          <a:noFill/>
        </p:spPr>
        <p:txBody>
          <a:bodyPr wrap="square">
            <a:spAutoFit/>
          </a:bodyPr>
          <a:lstStyle/>
          <a:p>
            <a:pPr algn="ctr"/>
            <a:r>
              <a:rPr sz="1000" b="1" i="0">
                <a:solidFill>
                  <a:srgbClr val="FFFFFF"/>
                </a:solidFill>
              </a:rPr>
              <a:t>Aspek</a:t>
            </a:r>
          </a:p>
        </p:txBody>
      </p:sp>
      <p:sp>
        <p:nvSpPr>
          <p:cNvPr id="9" name="Rectangle 8"/>
          <p:cNvSpPr/>
          <p:nvPr/>
        </p:nvSpPr>
        <p:spPr>
          <a:xfrm>
            <a:off x="2560320" y="1188720"/>
            <a:ext cx="1828800" cy="621792"/>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234440"/>
            <a:ext cx="1737360" cy="530352"/>
          </a:xfrm>
          <a:prstGeom prst="rect">
            <a:avLst/>
          </a:prstGeom>
          <a:noFill/>
        </p:spPr>
        <p:txBody>
          <a:bodyPr wrap="square">
            <a:spAutoFit/>
          </a:bodyPr>
          <a:lstStyle/>
          <a:p>
            <a:pPr algn="ctr"/>
            <a:r>
              <a:rPr sz="1000" b="1" i="0">
                <a:solidFill>
                  <a:srgbClr val="FFFFFF"/>
                </a:solidFill>
              </a:rPr>
              <a:t>Rachman dkk.
(2024)</a:t>
            </a:r>
          </a:p>
        </p:txBody>
      </p:sp>
      <p:sp>
        <p:nvSpPr>
          <p:cNvPr id="11" name="Rectangle 10"/>
          <p:cNvSpPr/>
          <p:nvPr/>
        </p:nvSpPr>
        <p:spPr>
          <a:xfrm>
            <a:off x="4389120" y="1188720"/>
            <a:ext cx="1828800" cy="621792"/>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234440"/>
            <a:ext cx="1737360" cy="530352"/>
          </a:xfrm>
          <a:prstGeom prst="rect">
            <a:avLst/>
          </a:prstGeom>
          <a:noFill/>
        </p:spPr>
        <p:txBody>
          <a:bodyPr wrap="square">
            <a:spAutoFit/>
          </a:bodyPr>
          <a:lstStyle/>
          <a:p>
            <a:pPr algn="ctr"/>
            <a:r>
              <a:rPr sz="1000" b="1" i="0">
                <a:solidFill>
                  <a:srgbClr val="FFFFFF"/>
                </a:solidFill>
              </a:rPr>
              <a:t>Nuralisa dkk.
(2024)</a:t>
            </a:r>
          </a:p>
        </p:txBody>
      </p:sp>
      <p:sp>
        <p:nvSpPr>
          <p:cNvPr id="13" name="Rectangle 12"/>
          <p:cNvSpPr/>
          <p:nvPr/>
        </p:nvSpPr>
        <p:spPr>
          <a:xfrm>
            <a:off x="6217920" y="1188720"/>
            <a:ext cx="1828800" cy="621792"/>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234440"/>
            <a:ext cx="1737360" cy="530352"/>
          </a:xfrm>
          <a:prstGeom prst="rect">
            <a:avLst/>
          </a:prstGeom>
          <a:noFill/>
        </p:spPr>
        <p:txBody>
          <a:bodyPr wrap="square">
            <a:spAutoFit/>
          </a:bodyPr>
          <a:lstStyle/>
          <a:p>
            <a:pPr algn="ctr"/>
            <a:r>
              <a:rPr sz="1000" b="1" i="0">
                <a:solidFill>
                  <a:srgbClr val="FFFFFF"/>
                </a:solidFill>
              </a:rPr>
              <a:t>Mattegunta
(2025)</a:t>
            </a:r>
          </a:p>
        </p:txBody>
      </p:sp>
      <p:sp>
        <p:nvSpPr>
          <p:cNvPr id="15" name="Rectangle 14"/>
          <p:cNvSpPr/>
          <p:nvPr/>
        </p:nvSpPr>
        <p:spPr>
          <a:xfrm>
            <a:off x="8046720" y="1188720"/>
            <a:ext cx="2194560" cy="621792"/>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234440"/>
            <a:ext cx="2103120" cy="530352"/>
          </a:xfrm>
          <a:prstGeom prst="rect">
            <a:avLst/>
          </a:prstGeom>
          <a:noFill/>
        </p:spPr>
        <p:txBody>
          <a:bodyPr wrap="square">
            <a:spAutoFit/>
          </a:bodyPr>
          <a:lstStyle/>
          <a:p>
            <a:pPr algn="ctr"/>
            <a:r>
              <a:rPr sz="1000" b="1" i="0">
                <a:solidFill>
                  <a:srgbClr val="FFFFFF"/>
                </a:solidFill>
              </a:rPr>
              <a:t>Sistem Usulan
(ZenCare Medical)</a:t>
            </a:r>
          </a:p>
        </p:txBody>
      </p:sp>
      <p:sp>
        <p:nvSpPr>
          <p:cNvPr id="17" name="Rectangle 16"/>
          <p:cNvSpPr/>
          <p:nvPr/>
        </p:nvSpPr>
        <p:spPr>
          <a:xfrm>
            <a:off x="411480" y="1810512"/>
            <a:ext cx="214884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856232"/>
            <a:ext cx="2057400" cy="530352"/>
          </a:xfrm>
          <a:prstGeom prst="rect">
            <a:avLst/>
          </a:prstGeom>
          <a:noFill/>
        </p:spPr>
        <p:txBody>
          <a:bodyPr wrap="square">
            <a:spAutoFit/>
          </a:bodyPr>
          <a:lstStyle/>
          <a:p>
            <a:pPr algn="ctr"/>
            <a:r>
              <a:rPr sz="1000" b="0" i="0">
                <a:solidFill>
                  <a:srgbClr val="1E293B"/>
                </a:solidFill>
              </a:rPr>
              <a:t>Lingkup Saluran</a:t>
            </a:r>
          </a:p>
        </p:txBody>
      </p:sp>
      <p:sp>
        <p:nvSpPr>
          <p:cNvPr id="19" name="Rectangle 18"/>
          <p:cNvSpPr/>
          <p:nvPr/>
        </p:nvSpPr>
        <p:spPr>
          <a:xfrm>
            <a:off x="2560320" y="1810512"/>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6040" y="1856232"/>
            <a:ext cx="1737360" cy="530352"/>
          </a:xfrm>
          <a:prstGeom prst="rect">
            <a:avLst/>
          </a:prstGeom>
          <a:noFill/>
        </p:spPr>
        <p:txBody>
          <a:bodyPr wrap="square">
            <a:spAutoFit/>
          </a:bodyPr>
          <a:lstStyle/>
          <a:p>
            <a:pPr algn="ctr"/>
            <a:r>
              <a:rPr sz="1000" b="0" i="0">
                <a:solidFill>
                  <a:srgbClr val="1E293B"/>
                </a:solidFill>
              </a:rPr>
              <a:t>Single-channel
(Luring)</a:t>
            </a:r>
          </a:p>
        </p:txBody>
      </p:sp>
      <p:sp>
        <p:nvSpPr>
          <p:cNvPr id="21" name="Rectangle 20"/>
          <p:cNvSpPr/>
          <p:nvPr/>
        </p:nvSpPr>
        <p:spPr>
          <a:xfrm>
            <a:off x="4389120" y="1810512"/>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1856232"/>
            <a:ext cx="1737360" cy="530352"/>
          </a:xfrm>
          <a:prstGeom prst="rect">
            <a:avLst/>
          </a:prstGeom>
          <a:noFill/>
        </p:spPr>
        <p:txBody>
          <a:bodyPr wrap="square">
            <a:spAutoFit/>
          </a:bodyPr>
          <a:lstStyle/>
          <a:p>
            <a:pPr algn="ctr"/>
            <a:r>
              <a:rPr sz="1000" b="0" i="0">
                <a:solidFill>
                  <a:srgbClr val="1E293B"/>
                </a:solidFill>
              </a:rPr>
              <a:t>Single-channel
(Luring)</a:t>
            </a:r>
          </a:p>
        </p:txBody>
      </p:sp>
      <p:sp>
        <p:nvSpPr>
          <p:cNvPr id="23" name="Rectangle 22"/>
          <p:cNvSpPr/>
          <p:nvPr/>
        </p:nvSpPr>
        <p:spPr>
          <a:xfrm>
            <a:off x="6217920" y="1810512"/>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1856232"/>
            <a:ext cx="1737360" cy="530352"/>
          </a:xfrm>
          <a:prstGeom prst="rect">
            <a:avLst/>
          </a:prstGeom>
          <a:noFill/>
        </p:spPr>
        <p:txBody>
          <a:bodyPr wrap="square">
            <a:spAutoFit/>
          </a:bodyPr>
          <a:lstStyle/>
          <a:p>
            <a:pPr algn="ctr"/>
            <a:r>
              <a:rPr sz="1000" b="0" i="0">
                <a:solidFill>
                  <a:srgbClr val="1E293B"/>
                </a:solidFill>
              </a:rPr>
              <a:t>Omnichannel
(Ritel Umum)</a:t>
            </a:r>
          </a:p>
        </p:txBody>
      </p:sp>
      <p:sp>
        <p:nvSpPr>
          <p:cNvPr id="25" name="Rectangle 24"/>
          <p:cNvSpPr/>
          <p:nvPr/>
        </p:nvSpPr>
        <p:spPr>
          <a:xfrm>
            <a:off x="8046720" y="1810512"/>
            <a:ext cx="2194560" cy="621792"/>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1856232"/>
            <a:ext cx="2103120" cy="530352"/>
          </a:xfrm>
          <a:prstGeom prst="rect">
            <a:avLst/>
          </a:prstGeom>
          <a:noFill/>
        </p:spPr>
        <p:txBody>
          <a:bodyPr wrap="square">
            <a:spAutoFit/>
          </a:bodyPr>
          <a:lstStyle/>
          <a:p>
            <a:pPr algn="ctr"/>
            <a:r>
              <a:rPr sz="1000" b="0" i="0">
                <a:solidFill>
                  <a:srgbClr val="16A34A"/>
                </a:solidFill>
              </a:rPr>
              <a:t>✅ Omnichannel
(POS + E-Commerce)</a:t>
            </a:r>
          </a:p>
        </p:txBody>
      </p:sp>
      <p:sp>
        <p:nvSpPr>
          <p:cNvPr id="27" name="Rectangle 26"/>
          <p:cNvSpPr/>
          <p:nvPr/>
        </p:nvSpPr>
        <p:spPr>
          <a:xfrm>
            <a:off x="411480" y="2432304"/>
            <a:ext cx="21488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478024"/>
            <a:ext cx="2057400" cy="530352"/>
          </a:xfrm>
          <a:prstGeom prst="rect">
            <a:avLst/>
          </a:prstGeom>
          <a:noFill/>
        </p:spPr>
        <p:txBody>
          <a:bodyPr wrap="square">
            <a:spAutoFit/>
          </a:bodyPr>
          <a:lstStyle/>
          <a:p>
            <a:pPr algn="ctr"/>
            <a:r>
              <a:rPr sz="1000" b="0" i="0">
                <a:solidFill>
                  <a:srgbClr val="1E293B"/>
                </a:solidFill>
              </a:rPr>
              <a:t>Konversi Multi-UOM</a:t>
            </a:r>
          </a:p>
        </p:txBody>
      </p:sp>
      <p:sp>
        <p:nvSpPr>
          <p:cNvPr id="29" name="Rectangle 28"/>
          <p:cNvSpPr/>
          <p:nvPr/>
        </p:nvSpPr>
        <p:spPr>
          <a:xfrm>
            <a:off x="2560320" y="2432304"/>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06040" y="2478024"/>
            <a:ext cx="1737360" cy="530352"/>
          </a:xfrm>
          <a:prstGeom prst="rect">
            <a:avLst/>
          </a:prstGeom>
          <a:noFill/>
        </p:spPr>
        <p:txBody>
          <a:bodyPr wrap="square">
            <a:spAutoFit/>
          </a:bodyPr>
          <a:lstStyle/>
          <a:p>
            <a:pPr algn="ctr"/>
            <a:r>
              <a:rPr sz="1000" b="0" i="0">
                <a:solidFill>
                  <a:srgbClr val="DC2626"/>
                </a:solidFill>
              </a:rPr>
              <a:t>❌ Tidak Ada</a:t>
            </a:r>
          </a:p>
        </p:txBody>
      </p:sp>
      <p:sp>
        <p:nvSpPr>
          <p:cNvPr id="31" name="Rectangle 30"/>
          <p:cNvSpPr/>
          <p:nvPr/>
        </p:nvSpPr>
        <p:spPr>
          <a:xfrm>
            <a:off x="4389120" y="2432304"/>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2478024"/>
            <a:ext cx="1737360" cy="530352"/>
          </a:xfrm>
          <a:prstGeom prst="rect">
            <a:avLst/>
          </a:prstGeom>
          <a:noFill/>
        </p:spPr>
        <p:txBody>
          <a:bodyPr wrap="square">
            <a:spAutoFit/>
          </a:bodyPr>
          <a:lstStyle/>
          <a:p>
            <a:pPr algn="ctr"/>
            <a:r>
              <a:rPr sz="1000" b="0" i="0">
                <a:solidFill>
                  <a:srgbClr val="DC2626"/>
                </a:solidFill>
              </a:rPr>
              <a:t>❌ Tidak Ada</a:t>
            </a:r>
          </a:p>
        </p:txBody>
      </p:sp>
      <p:sp>
        <p:nvSpPr>
          <p:cNvPr id="33" name="Rectangle 32"/>
          <p:cNvSpPr/>
          <p:nvPr/>
        </p:nvSpPr>
        <p:spPr>
          <a:xfrm>
            <a:off x="6217920" y="2432304"/>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2478024"/>
            <a:ext cx="1737360" cy="530352"/>
          </a:xfrm>
          <a:prstGeom prst="rect">
            <a:avLst/>
          </a:prstGeom>
          <a:noFill/>
        </p:spPr>
        <p:txBody>
          <a:bodyPr wrap="square">
            <a:spAutoFit/>
          </a:bodyPr>
          <a:lstStyle/>
          <a:p>
            <a:pPr algn="ctr"/>
            <a:r>
              <a:rPr sz="1000" b="0" i="0">
                <a:solidFill>
                  <a:srgbClr val="DC2626"/>
                </a:solidFill>
              </a:rPr>
              <a:t>❌ Tidak Ada</a:t>
            </a:r>
          </a:p>
        </p:txBody>
      </p:sp>
      <p:sp>
        <p:nvSpPr>
          <p:cNvPr id="35" name="Rectangle 34"/>
          <p:cNvSpPr/>
          <p:nvPr/>
        </p:nvSpPr>
        <p:spPr>
          <a:xfrm>
            <a:off x="8046720" y="2432304"/>
            <a:ext cx="2194560" cy="621792"/>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92440" y="2478024"/>
            <a:ext cx="2103120" cy="530352"/>
          </a:xfrm>
          <a:prstGeom prst="rect">
            <a:avLst/>
          </a:prstGeom>
          <a:noFill/>
        </p:spPr>
        <p:txBody>
          <a:bodyPr wrap="square">
            <a:spAutoFit/>
          </a:bodyPr>
          <a:lstStyle/>
          <a:p>
            <a:pPr algn="ctr"/>
            <a:r>
              <a:rPr sz="1000" b="0" i="0">
                <a:solidFill>
                  <a:srgbClr val="16A34A"/>
                </a:solidFill>
              </a:rPr>
              <a:t>✅ Dual-UOM Dinamis</a:t>
            </a:r>
          </a:p>
        </p:txBody>
      </p:sp>
      <p:sp>
        <p:nvSpPr>
          <p:cNvPr id="37" name="Rectangle 36"/>
          <p:cNvSpPr/>
          <p:nvPr/>
        </p:nvSpPr>
        <p:spPr>
          <a:xfrm>
            <a:off x="411480" y="3054096"/>
            <a:ext cx="214884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099816"/>
            <a:ext cx="2057400" cy="530352"/>
          </a:xfrm>
          <a:prstGeom prst="rect">
            <a:avLst/>
          </a:prstGeom>
          <a:noFill/>
        </p:spPr>
        <p:txBody>
          <a:bodyPr wrap="square">
            <a:spAutoFit/>
          </a:bodyPr>
          <a:lstStyle/>
          <a:p>
            <a:pPr algn="ctr"/>
            <a:r>
              <a:rPr sz="1000" b="0" i="0">
                <a:solidFill>
                  <a:srgbClr val="1E293B"/>
                </a:solidFill>
              </a:rPr>
              <a:t>Pelacakan FEFO/Batch</a:t>
            </a:r>
          </a:p>
        </p:txBody>
      </p:sp>
      <p:sp>
        <p:nvSpPr>
          <p:cNvPr id="39" name="Rectangle 38"/>
          <p:cNvSpPr/>
          <p:nvPr/>
        </p:nvSpPr>
        <p:spPr>
          <a:xfrm>
            <a:off x="2560320" y="3054096"/>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06040" y="3099816"/>
            <a:ext cx="1737360" cy="530352"/>
          </a:xfrm>
          <a:prstGeom prst="rect">
            <a:avLst/>
          </a:prstGeom>
          <a:noFill/>
        </p:spPr>
        <p:txBody>
          <a:bodyPr wrap="square">
            <a:spAutoFit/>
          </a:bodyPr>
          <a:lstStyle/>
          <a:p>
            <a:pPr algn="ctr"/>
            <a:r>
              <a:rPr sz="1000" b="0" i="0">
                <a:solidFill>
                  <a:srgbClr val="DC2626"/>
                </a:solidFill>
              </a:rPr>
              <a:t>❌ Tidak Ada</a:t>
            </a:r>
          </a:p>
        </p:txBody>
      </p:sp>
      <p:sp>
        <p:nvSpPr>
          <p:cNvPr id="41" name="Rectangle 40"/>
          <p:cNvSpPr/>
          <p:nvPr/>
        </p:nvSpPr>
        <p:spPr>
          <a:xfrm>
            <a:off x="4389120" y="3054096"/>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3099816"/>
            <a:ext cx="1737360" cy="530352"/>
          </a:xfrm>
          <a:prstGeom prst="rect">
            <a:avLst/>
          </a:prstGeom>
          <a:noFill/>
        </p:spPr>
        <p:txBody>
          <a:bodyPr wrap="square">
            <a:spAutoFit/>
          </a:bodyPr>
          <a:lstStyle/>
          <a:p>
            <a:pPr algn="ctr"/>
            <a:r>
              <a:rPr sz="1000" b="0" i="0">
                <a:solidFill>
                  <a:srgbClr val="DC2626"/>
                </a:solidFill>
              </a:rPr>
              <a:t>❌ Tidak Ada</a:t>
            </a:r>
          </a:p>
        </p:txBody>
      </p:sp>
      <p:sp>
        <p:nvSpPr>
          <p:cNvPr id="43" name="Rectangle 42"/>
          <p:cNvSpPr/>
          <p:nvPr/>
        </p:nvSpPr>
        <p:spPr>
          <a:xfrm>
            <a:off x="6217920" y="3054096"/>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3099816"/>
            <a:ext cx="1737360" cy="530352"/>
          </a:xfrm>
          <a:prstGeom prst="rect">
            <a:avLst/>
          </a:prstGeom>
          <a:noFill/>
        </p:spPr>
        <p:txBody>
          <a:bodyPr wrap="square">
            <a:spAutoFit/>
          </a:bodyPr>
          <a:lstStyle/>
          <a:p>
            <a:pPr algn="ctr"/>
            <a:r>
              <a:rPr sz="1000" b="0" i="0">
                <a:solidFill>
                  <a:srgbClr val="DC2626"/>
                </a:solidFill>
              </a:rPr>
              <a:t>❌ Tidak Ada</a:t>
            </a:r>
          </a:p>
        </p:txBody>
      </p:sp>
      <p:sp>
        <p:nvSpPr>
          <p:cNvPr id="45" name="Rectangle 44"/>
          <p:cNvSpPr/>
          <p:nvPr/>
        </p:nvSpPr>
        <p:spPr>
          <a:xfrm>
            <a:off x="8046720" y="3054096"/>
            <a:ext cx="2194560" cy="621792"/>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92440" y="3099816"/>
            <a:ext cx="2103120" cy="530352"/>
          </a:xfrm>
          <a:prstGeom prst="rect">
            <a:avLst/>
          </a:prstGeom>
          <a:noFill/>
        </p:spPr>
        <p:txBody>
          <a:bodyPr wrap="square">
            <a:spAutoFit/>
          </a:bodyPr>
          <a:lstStyle/>
          <a:p>
            <a:pPr algn="ctr"/>
            <a:r>
              <a:rPr sz="1000" b="0" i="0">
                <a:solidFill>
                  <a:srgbClr val="16A34A"/>
                </a:solidFill>
              </a:rPr>
              <a:t>✅ FEFO per Batch</a:t>
            </a:r>
          </a:p>
        </p:txBody>
      </p:sp>
      <p:sp>
        <p:nvSpPr>
          <p:cNvPr id="47" name="Rectangle 46"/>
          <p:cNvSpPr/>
          <p:nvPr/>
        </p:nvSpPr>
        <p:spPr>
          <a:xfrm>
            <a:off x="411480" y="3675888"/>
            <a:ext cx="21488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721608"/>
            <a:ext cx="2057400" cy="530352"/>
          </a:xfrm>
          <a:prstGeom prst="rect">
            <a:avLst/>
          </a:prstGeom>
          <a:noFill/>
        </p:spPr>
        <p:txBody>
          <a:bodyPr wrap="square">
            <a:spAutoFit/>
          </a:bodyPr>
          <a:lstStyle/>
          <a:p>
            <a:pPr algn="ctr"/>
            <a:r>
              <a:rPr sz="1000" b="0" i="0">
                <a:solidFill>
                  <a:srgbClr val="1E293B"/>
                </a:solidFill>
              </a:rPr>
              <a:t>Pelacakan Serial Number</a:t>
            </a:r>
          </a:p>
        </p:txBody>
      </p:sp>
      <p:sp>
        <p:nvSpPr>
          <p:cNvPr id="49" name="Rectangle 48"/>
          <p:cNvSpPr/>
          <p:nvPr/>
        </p:nvSpPr>
        <p:spPr>
          <a:xfrm>
            <a:off x="2560320" y="3675888"/>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06040" y="3721608"/>
            <a:ext cx="1737360" cy="530352"/>
          </a:xfrm>
          <a:prstGeom prst="rect">
            <a:avLst/>
          </a:prstGeom>
          <a:noFill/>
        </p:spPr>
        <p:txBody>
          <a:bodyPr wrap="square">
            <a:spAutoFit/>
          </a:bodyPr>
          <a:lstStyle/>
          <a:p>
            <a:pPr algn="ctr"/>
            <a:r>
              <a:rPr sz="1000" b="0" i="0">
                <a:solidFill>
                  <a:srgbClr val="DC2626"/>
                </a:solidFill>
              </a:rPr>
              <a:t>❌ Tidak Ada</a:t>
            </a:r>
          </a:p>
        </p:txBody>
      </p:sp>
      <p:sp>
        <p:nvSpPr>
          <p:cNvPr id="51" name="Rectangle 50"/>
          <p:cNvSpPr/>
          <p:nvPr/>
        </p:nvSpPr>
        <p:spPr>
          <a:xfrm>
            <a:off x="4389120" y="3675888"/>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34840" y="3721608"/>
            <a:ext cx="1737360" cy="530352"/>
          </a:xfrm>
          <a:prstGeom prst="rect">
            <a:avLst/>
          </a:prstGeom>
          <a:noFill/>
        </p:spPr>
        <p:txBody>
          <a:bodyPr wrap="square">
            <a:spAutoFit/>
          </a:bodyPr>
          <a:lstStyle/>
          <a:p>
            <a:pPr algn="ctr"/>
            <a:r>
              <a:rPr sz="1000" b="0" i="0">
                <a:solidFill>
                  <a:srgbClr val="DC2626"/>
                </a:solidFill>
              </a:rPr>
              <a:t>❌ Tidak Ada</a:t>
            </a:r>
          </a:p>
        </p:txBody>
      </p:sp>
      <p:sp>
        <p:nvSpPr>
          <p:cNvPr id="53" name="Rectangle 52"/>
          <p:cNvSpPr/>
          <p:nvPr/>
        </p:nvSpPr>
        <p:spPr>
          <a:xfrm>
            <a:off x="6217920" y="3675888"/>
            <a:ext cx="18288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3721608"/>
            <a:ext cx="1737360" cy="530352"/>
          </a:xfrm>
          <a:prstGeom prst="rect">
            <a:avLst/>
          </a:prstGeom>
          <a:noFill/>
        </p:spPr>
        <p:txBody>
          <a:bodyPr wrap="square">
            <a:spAutoFit/>
          </a:bodyPr>
          <a:lstStyle/>
          <a:p>
            <a:pPr algn="ctr"/>
            <a:r>
              <a:rPr sz="1000" b="0" i="0">
                <a:solidFill>
                  <a:srgbClr val="DC2626"/>
                </a:solidFill>
              </a:rPr>
              <a:t>❌ Tidak Ada</a:t>
            </a:r>
          </a:p>
        </p:txBody>
      </p:sp>
      <p:sp>
        <p:nvSpPr>
          <p:cNvPr id="55" name="Rectangle 54"/>
          <p:cNvSpPr/>
          <p:nvPr/>
        </p:nvSpPr>
        <p:spPr>
          <a:xfrm>
            <a:off x="8046720" y="3675888"/>
            <a:ext cx="2194560" cy="621792"/>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92440" y="3721608"/>
            <a:ext cx="2103120" cy="530352"/>
          </a:xfrm>
          <a:prstGeom prst="rect">
            <a:avLst/>
          </a:prstGeom>
          <a:noFill/>
        </p:spPr>
        <p:txBody>
          <a:bodyPr wrap="square">
            <a:spAutoFit/>
          </a:bodyPr>
          <a:lstStyle/>
          <a:p>
            <a:pPr algn="ctr"/>
            <a:r>
              <a:rPr sz="1000" b="0" i="0">
                <a:solidFill>
                  <a:srgbClr val="16A34A"/>
                </a:solidFill>
              </a:rPr>
              <a:t>✅ SN Alat Kesehatan</a:t>
            </a:r>
          </a:p>
        </p:txBody>
      </p:sp>
      <p:sp>
        <p:nvSpPr>
          <p:cNvPr id="57" name="Rectangle 56"/>
          <p:cNvSpPr/>
          <p:nvPr/>
        </p:nvSpPr>
        <p:spPr>
          <a:xfrm>
            <a:off x="411480" y="4297680"/>
            <a:ext cx="214884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343400"/>
            <a:ext cx="2057400" cy="530352"/>
          </a:xfrm>
          <a:prstGeom prst="rect">
            <a:avLst/>
          </a:prstGeom>
          <a:noFill/>
        </p:spPr>
        <p:txBody>
          <a:bodyPr wrap="square">
            <a:spAutoFit/>
          </a:bodyPr>
          <a:lstStyle/>
          <a:p>
            <a:pPr algn="ctr"/>
            <a:r>
              <a:rPr sz="1000" b="0" i="0">
                <a:solidFill>
                  <a:srgbClr val="1E293B"/>
                </a:solidFill>
              </a:rPr>
              <a:t>Segmentasi Medis</a:t>
            </a:r>
          </a:p>
        </p:txBody>
      </p:sp>
      <p:sp>
        <p:nvSpPr>
          <p:cNvPr id="59" name="Rectangle 58"/>
          <p:cNvSpPr/>
          <p:nvPr/>
        </p:nvSpPr>
        <p:spPr>
          <a:xfrm>
            <a:off x="2560320" y="4297680"/>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06040" y="4343400"/>
            <a:ext cx="1737360" cy="530352"/>
          </a:xfrm>
          <a:prstGeom prst="rect">
            <a:avLst/>
          </a:prstGeom>
          <a:noFill/>
        </p:spPr>
        <p:txBody>
          <a:bodyPr wrap="square">
            <a:spAutoFit/>
          </a:bodyPr>
          <a:lstStyle/>
          <a:p>
            <a:pPr algn="ctr"/>
            <a:r>
              <a:rPr sz="1000" b="0" i="0">
                <a:solidFill>
                  <a:srgbClr val="DC2626"/>
                </a:solidFill>
              </a:rPr>
              <a:t>❌ Umum</a:t>
            </a:r>
          </a:p>
        </p:txBody>
      </p:sp>
      <p:sp>
        <p:nvSpPr>
          <p:cNvPr id="61" name="Rectangle 60"/>
          <p:cNvSpPr/>
          <p:nvPr/>
        </p:nvSpPr>
        <p:spPr>
          <a:xfrm>
            <a:off x="4389120" y="4297680"/>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434840" y="4343400"/>
            <a:ext cx="1737360" cy="530352"/>
          </a:xfrm>
          <a:prstGeom prst="rect">
            <a:avLst/>
          </a:prstGeom>
          <a:noFill/>
        </p:spPr>
        <p:txBody>
          <a:bodyPr wrap="square">
            <a:spAutoFit/>
          </a:bodyPr>
          <a:lstStyle/>
          <a:p>
            <a:pPr algn="ctr"/>
            <a:r>
              <a:rPr sz="1000" b="0" i="0">
                <a:solidFill>
                  <a:srgbClr val="DC2626"/>
                </a:solidFill>
              </a:rPr>
              <a:t>❌ Umum</a:t>
            </a:r>
          </a:p>
        </p:txBody>
      </p:sp>
      <p:sp>
        <p:nvSpPr>
          <p:cNvPr id="63" name="Rectangle 62"/>
          <p:cNvSpPr/>
          <p:nvPr/>
        </p:nvSpPr>
        <p:spPr>
          <a:xfrm>
            <a:off x="6217920" y="4297680"/>
            <a:ext cx="1828800" cy="6217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4343400"/>
            <a:ext cx="1737360" cy="530352"/>
          </a:xfrm>
          <a:prstGeom prst="rect">
            <a:avLst/>
          </a:prstGeom>
          <a:noFill/>
        </p:spPr>
        <p:txBody>
          <a:bodyPr wrap="square">
            <a:spAutoFit/>
          </a:bodyPr>
          <a:lstStyle/>
          <a:p>
            <a:pPr algn="ctr"/>
            <a:r>
              <a:rPr sz="1000" b="0" i="0">
                <a:solidFill>
                  <a:srgbClr val="DC2626"/>
                </a:solidFill>
              </a:rPr>
              <a:t>❌ Ritel Umum</a:t>
            </a:r>
          </a:p>
        </p:txBody>
      </p:sp>
      <p:sp>
        <p:nvSpPr>
          <p:cNvPr id="65" name="Rectangle 64"/>
          <p:cNvSpPr/>
          <p:nvPr/>
        </p:nvSpPr>
        <p:spPr>
          <a:xfrm>
            <a:off x="8046720" y="4297680"/>
            <a:ext cx="2194560" cy="621792"/>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92440" y="4343400"/>
            <a:ext cx="2103120" cy="530352"/>
          </a:xfrm>
          <a:prstGeom prst="rect">
            <a:avLst/>
          </a:prstGeom>
          <a:noFill/>
        </p:spPr>
        <p:txBody>
          <a:bodyPr wrap="square">
            <a:spAutoFit/>
          </a:bodyPr>
          <a:lstStyle/>
          <a:p>
            <a:pPr algn="ctr"/>
            <a:r>
              <a:rPr sz="1000" b="0" i="0">
                <a:solidFill>
                  <a:srgbClr val="16A34A"/>
                </a:solidFill>
              </a:rPr>
              <a:t>✅ Obat &amp; Alkes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6</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Pembaruan Sistem (Novelty)</a:t>
            </a:r>
          </a:p>
        </p:txBody>
      </p:sp>
      <p:sp>
        <p:nvSpPr>
          <p:cNvPr id="7" name="Rectangle 6"/>
          <p:cNvSpPr/>
          <p:nvPr/>
        </p:nvSpPr>
        <p:spPr>
          <a:xfrm>
            <a:off x="411480" y="1188720"/>
            <a:ext cx="5669280"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188720"/>
            <a:ext cx="5669280" cy="502920"/>
          </a:xfrm>
          <a:prstGeom prst="rect">
            <a:avLst/>
          </a:prstGeom>
          <a:noFill/>
        </p:spPr>
        <p:txBody>
          <a:bodyPr wrap="square">
            <a:spAutoFit/>
          </a:bodyPr>
          <a:lstStyle/>
          <a:p>
            <a:pPr algn="ctr"/>
            <a:r>
              <a:rPr sz="1400" b="1" i="0">
                <a:solidFill>
                  <a:srgbClr val="FFFFFF"/>
                </a:solidFill>
              </a:rPr>
              <a:t>✖  Kendala Sistem Berjalan</a:t>
            </a:r>
          </a:p>
        </p:txBody>
      </p:sp>
      <p:sp>
        <p:nvSpPr>
          <p:cNvPr id="9" name="Rectangle 8"/>
          <p:cNvSpPr/>
          <p:nvPr/>
        </p:nvSpPr>
        <p:spPr>
          <a:xfrm>
            <a:off x="411480" y="1783080"/>
            <a:ext cx="566928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28800"/>
            <a:ext cx="5486400" cy="594360"/>
          </a:xfrm>
          <a:prstGeom prst="rect">
            <a:avLst/>
          </a:prstGeom>
          <a:noFill/>
        </p:spPr>
        <p:txBody>
          <a:bodyPr wrap="square">
            <a:spAutoFit/>
          </a:bodyPr>
          <a:lstStyle/>
          <a:p>
            <a:pPr algn="l"/>
            <a:r>
              <a:rPr sz="1150" b="0" i="0">
                <a:solidFill>
                  <a:srgbClr val="1E293B"/>
                </a:solidFill>
              </a:rPr>
              <a:t>● Risiko overselling akibat aplikasi kasir yang terisolasi dari stok E-Commerce.</a:t>
            </a:r>
          </a:p>
        </p:txBody>
      </p:sp>
      <p:sp>
        <p:nvSpPr>
          <p:cNvPr id="11" name="Rectangle 10"/>
          <p:cNvSpPr/>
          <p:nvPr/>
        </p:nvSpPr>
        <p:spPr>
          <a:xfrm>
            <a:off x="411480" y="2532888"/>
            <a:ext cx="566928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578608"/>
            <a:ext cx="5486400" cy="594360"/>
          </a:xfrm>
          <a:prstGeom prst="rect">
            <a:avLst/>
          </a:prstGeom>
          <a:noFill/>
        </p:spPr>
        <p:txBody>
          <a:bodyPr wrap="square">
            <a:spAutoFit/>
          </a:bodyPr>
          <a:lstStyle/>
          <a:p>
            <a:pPr algn="l"/>
            <a:r>
              <a:rPr sz="1150" b="0" i="0">
                <a:solidFill>
                  <a:srgbClr val="1E293B"/>
                </a:solidFill>
              </a:rPr>
              <a:t>● Beban kerja tinggi akibat konversi satuan (Box→Strip) dilakukan manual.</a:t>
            </a:r>
          </a:p>
        </p:txBody>
      </p:sp>
      <p:sp>
        <p:nvSpPr>
          <p:cNvPr id="13" name="Rectangle 12"/>
          <p:cNvSpPr/>
          <p:nvPr/>
        </p:nvSpPr>
        <p:spPr>
          <a:xfrm>
            <a:off x="411480" y="3282696"/>
            <a:ext cx="566928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28416"/>
            <a:ext cx="5486400" cy="594360"/>
          </a:xfrm>
          <a:prstGeom prst="rect">
            <a:avLst/>
          </a:prstGeom>
          <a:noFill/>
        </p:spPr>
        <p:txBody>
          <a:bodyPr wrap="square">
            <a:spAutoFit/>
          </a:bodyPr>
          <a:lstStyle/>
          <a:p>
            <a:pPr algn="l"/>
            <a:r>
              <a:rPr sz="1150" b="0" i="0">
                <a:solidFill>
                  <a:srgbClr val="1E293B"/>
                </a:solidFill>
              </a:rPr>
              <a:t>● Penumpukan obat kadaluarsa di rak karena tidak ada sistem peringatan FEFO.</a:t>
            </a:r>
          </a:p>
        </p:txBody>
      </p:sp>
      <p:sp>
        <p:nvSpPr>
          <p:cNvPr id="15" name="Rectangle 14"/>
          <p:cNvSpPr/>
          <p:nvPr/>
        </p:nvSpPr>
        <p:spPr>
          <a:xfrm>
            <a:off x="411480" y="4032504"/>
            <a:ext cx="566928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78224"/>
            <a:ext cx="5486400" cy="594360"/>
          </a:xfrm>
          <a:prstGeom prst="rect">
            <a:avLst/>
          </a:prstGeom>
          <a:noFill/>
        </p:spPr>
        <p:txBody>
          <a:bodyPr wrap="square">
            <a:spAutoFit/>
          </a:bodyPr>
          <a:lstStyle/>
          <a:p>
            <a:pPr algn="l"/>
            <a:r>
              <a:rPr sz="1150" b="0" i="0">
                <a:solidFill>
                  <a:srgbClr val="1E293B"/>
                </a:solidFill>
              </a:rPr>
              <a:t>● Nomor Seri alkes tidak terdokumentasi, menyulitkan klaim garansi.</a:t>
            </a:r>
          </a:p>
        </p:txBody>
      </p:sp>
      <p:sp>
        <p:nvSpPr>
          <p:cNvPr id="17" name="Rectangle 16"/>
          <p:cNvSpPr/>
          <p:nvPr/>
        </p:nvSpPr>
        <p:spPr>
          <a:xfrm>
            <a:off x="411480" y="4782312"/>
            <a:ext cx="566928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828032"/>
            <a:ext cx="5486400" cy="594360"/>
          </a:xfrm>
          <a:prstGeom prst="rect">
            <a:avLst/>
          </a:prstGeom>
          <a:noFill/>
        </p:spPr>
        <p:txBody>
          <a:bodyPr wrap="square">
            <a:spAutoFit/>
          </a:bodyPr>
          <a:lstStyle/>
          <a:p>
            <a:pPr algn="l"/>
            <a:r>
              <a:rPr sz="1150" b="0" i="0">
                <a:solidFill>
                  <a:srgbClr val="1E293B"/>
                </a:solidFill>
              </a:rPr>
              <a:t>● Tidak ada pemisahan wewenang (RBAC) antara Admin Gudang &amp; Manajemen.</a:t>
            </a:r>
          </a:p>
        </p:txBody>
      </p:sp>
      <p:sp>
        <p:nvSpPr>
          <p:cNvPr id="19" name="Rectangle 18"/>
          <p:cNvSpPr/>
          <p:nvPr/>
        </p:nvSpPr>
        <p:spPr>
          <a:xfrm>
            <a:off x="6355080" y="1188720"/>
            <a:ext cx="566928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188720"/>
            <a:ext cx="5669280" cy="502920"/>
          </a:xfrm>
          <a:prstGeom prst="rect">
            <a:avLst/>
          </a:prstGeom>
          <a:noFill/>
        </p:spPr>
        <p:txBody>
          <a:bodyPr wrap="square">
            <a:spAutoFit/>
          </a:bodyPr>
          <a:lstStyle/>
          <a:p>
            <a:pPr algn="ctr"/>
            <a:r>
              <a:rPr sz="1400" b="1" i="0">
                <a:solidFill>
                  <a:srgbClr val="FFFFFF"/>
                </a:solidFill>
              </a:rPr>
              <a:t>✔  Sistem Usulan (ZenCare Medical)</a:t>
            </a:r>
          </a:p>
        </p:txBody>
      </p:sp>
      <p:sp>
        <p:nvSpPr>
          <p:cNvPr id="21" name="Rectangle 20"/>
          <p:cNvSpPr/>
          <p:nvPr/>
        </p:nvSpPr>
        <p:spPr>
          <a:xfrm>
            <a:off x="6355080" y="1783080"/>
            <a:ext cx="5669280" cy="685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1828800"/>
            <a:ext cx="5486400" cy="594360"/>
          </a:xfrm>
          <a:prstGeom prst="rect">
            <a:avLst/>
          </a:prstGeom>
          <a:noFill/>
        </p:spPr>
        <p:txBody>
          <a:bodyPr wrap="square">
            <a:spAutoFit/>
          </a:bodyPr>
          <a:lstStyle/>
          <a:p>
            <a:pPr algn="l"/>
            <a:r>
              <a:rPr sz="1150" b="0" i="0">
                <a:solidFill>
                  <a:srgbClr val="1E293B"/>
                </a:solidFill>
              </a:rPr>
              <a:t>● Sinkronisasi basis data tunggal Omnichannel mengunci stok seketika di semua saluran.</a:t>
            </a:r>
          </a:p>
        </p:txBody>
      </p:sp>
      <p:sp>
        <p:nvSpPr>
          <p:cNvPr id="23" name="Rectangle 22"/>
          <p:cNvSpPr/>
          <p:nvPr/>
        </p:nvSpPr>
        <p:spPr>
          <a:xfrm>
            <a:off x="6355080" y="2532888"/>
            <a:ext cx="5669280" cy="685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578608"/>
            <a:ext cx="5486400" cy="594360"/>
          </a:xfrm>
          <a:prstGeom prst="rect">
            <a:avLst/>
          </a:prstGeom>
          <a:noFill/>
        </p:spPr>
        <p:txBody>
          <a:bodyPr wrap="square">
            <a:spAutoFit/>
          </a:bodyPr>
          <a:lstStyle/>
          <a:p>
            <a:pPr algn="l"/>
            <a:r>
              <a:rPr sz="1150" b="0" i="0">
                <a:solidFill>
                  <a:srgbClr val="1E293B"/>
                </a:solidFill>
              </a:rPr>
              <a:t>● Algoritma konversi Dual-UOM dinamis (rasio_konversi) berjalan otomatis.</a:t>
            </a:r>
          </a:p>
        </p:txBody>
      </p:sp>
      <p:sp>
        <p:nvSpPr>
          <p:cNvPr id="25" name="Rectangle 24"/>
          <p:cNvSpPr/>
          <p:nvPr/>
        </p:nvSpPr>
        <p:spPr>
          <a:xfrm>
            <a:off x="6355080" y="3282696"/>
            <a:ext cx="5669280" cy="685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328416"/>
            <a:ext cx="5486400" cy="594360"/>
          </a:xfrm>
          <a:prstGeom prst="rect">
            <a:avLst/>
          </a:prstGeom>
          <a:noFill/>
        </p:spPr>
        <p:txBody>
          <a:bodyPr wrap="square">
            <a:spAutoFit/>
          </a:bodyPr>
          <a:lstStyle/>
          <a:p>
            <a:pPr algn="l"/>
            <a:r>
              <a:rPr sz="1150" b="0" i="0">
                <a:solidFill>
                  <a:srgbClr val="1E293B"/>
                </a:solidFill>
              </a:rPr>
              <a:t>● Sistem Gatekeeper: validasi FEFO wajib di setiap transaksi barang masuk &amp; keluar.</a:t>
            </a:r>
          </a:p>
        </p:txBody>
      </p:sp>
      <p:sp>
        <p:nvSpPr>
          <p:cNvPr id="27" name="Rectangle 26"/>
          <p:cNvSpPr/>
          <p:nvPr/>
        </p:nvSpPr>
        <p:spPr>
          <a:xfrm>
            <a:off x="6355080" y="4032504"/>
            <a:ext cx="5669280" cy="685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078224"/>
            <a:ext cx="5486400" cy="594360"/>
          </a:xfrm>
          <a:prstGeom prst="rect">
            <a:avLst/>
          </a:prstGeom>
          <a:noFill/>
        </p:spPr>
        <p:txBody>
          <a:bodyPr wrap="square">
            <a:spAutoFit/>
          </a:bodyPr>
          <a:lstStyle/>
          <a:p>
            <a:pPr algn="l"/>
            <a:r>
              <a:rPr sz="1150" b="0" i="0">
                <a:solidFill>
                  <a:srgbClr val="1E293B"/>
                </a:solidFill>
              </a:rPr>
              <a:t>● Setiap unit Alat Kesehatan teregistrasi Serial Number unik di basis data.</a:t>
            </a:r>
          </a:p>
        </p:txBody>
      </p:sp>
      <p:sp>
        <p:nvSpPr>
          <p:cNvPr id="29" name="Rectangle 28"/>
          <p:cNvSpPr/>
          <p:nvPr/>
        </p:nvSpPr>
        <p:spPr>
          <a:xfrm>
            <a:off x="6355080" y="4782312"/>
            <a:ext cx="5669280" cy="685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4828032"/>
            <a:ext cx="5486400" cy="594360"/>
          </a:xfrm>
          <a:prstGeom prst="rect">
            <a:avLst/>
          </a:prstGeom>
          <a:noFill/>
        </p:spPr>
        <p:txBody>
          <a:bodyPr wrap="square">
            <a:spAutoFit/>
          </a:bodyPr>
          <a:lstStyle/>
          <a:p>
            <a:pPr algn="l"/>
            <a:r>
              <a:rPr sz="1150" b="0" i="0">
                <a:solidFill>
                  <a:srgbClr val="1E293B"/>
                </a:solidFill>
              </a:rPr>
              <a:t>● RBAC tegas: Admin mencatat fisik, Superadmin mengontrol Master Produk &amp; Harga.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7</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Arsitektur Navigasi (Sitemap)</a:t>
            </a:r>
          </a:p>
        </p:txBody>
      </p:sp>
      <p:sp>
        <p:nvSpPr>
          <p:cNvPr id="7" name="TextBox 6"/>
          <p:cNvSpPr txBox="1"/>
          <p:nvPr/>
        </p:nvSpPr>
        <p:spPr>
          <a:xfrm>
            <a:off x="411480" y="1188720"/>
            <a:ext cx="3779520" cy="320040"/>
          </a:xfrm>
          <a:prstGeom prst="rect">
            <a:avLst/>
          </a:prstGeom>
          <a:noFill/>
        </p:spPr>
        <p:txBody>
          <a:bodyPr wrap="square">
            <a:spAutoFit/>
          </a:bodyPr>
          <a:lstStyle/>
          <a:p>
            <a:pPr algn="ctr"/>
            <a:r>
              <a:rPr sz="1200" b="1" i="0">
                <a:solidFill>
                  <a:srgbClr val="2D8996"/>
                </a:solidFill>
              </a:rPr>
              <a:t>Pelanggan</a:t>
            </a:r>
          </a:p>
        </p:txBody>
      </p:sp>
      <p:pic>
        <p:nvPicPr>
          <p:cNvPr id="8" name="Picture 7" descr="Sitemap Sistem Informasi Inventori Omnichannel ZenCare Medical (Pelanggan).png"/>
          <p:cNvPicPr>
            <a:picLocks noChangeAspect="1"/>
          </p:cNvPicPr>
          <p:nvPr/>
        </p:nvPicPr>
        <p:blipFill>
          <a:blip r:embed="rId2"/>
          <a:stretch>
            <a:fillRect/>
          </a:stretch>
        </p:blipFill>
        <p:spPr>
          <a:xfrm>
            <a:off x="411480" y="1554480"/>
            <a:ext cx="3779520" cy="3840480"/>
          </a:xfrm>
          <a:prstGeom prst="rect">
            <a:avLst/>
          </a:prstGeom>
        </p:spPr>
      </p:pic>
      <p:sp>
        <p:nvSpPr>
          <p:cNvPr id="9" name="TextBox 8"/>
          <p:cNvSpPr txBox="1"/>
          <p:nvPr/>
        </p:nvSpPr>
        <p:spPr>
          <a:xfrm>
            <a:off x="4328160" y="1188720"/>
            <a:ext cx="3779520" cy="320040"/>
          </a:xfrm>
          <a:prstGeom prst="rect">
            <a:avLst/>
          </a:prstGeom>
          <a:noFill/>
        </p:spPr>
        <p:txBody>
          <a:bodyPr wrap="square">
            <a:spAutoFit/>
          </a:bodyPr>
          <a:lstStyle/>
          <a:p>
            <a:pPr algn="ctr"/>
            <a:r>
              <a:rPr sz="1200" b="1" i="0">
                <a:solidFill>
                  <a:srgbClr val="2D8996"/>
                </a:solidFill>
              </a:rPr>
              <a:t>Admin (Staf Gudang/Kasir)</a:t>
            </a:r>
          </a:p>
        </p:txBody>
      </p:sp>
      <p:pic>
        <p:nvPicPr>
          <p:cNvPr id="10" name="Picture 9" descr="Sitemap Sistem Informasi Inventori Omnichannel ZenCare Medical (Admin).png"/>
          <p:cNvPicPr>
            <a:picLocks noChangeAspect="1"/>
          </p:cNvPicPr>
          <p:nvPr/>
        </p:nvPicPr>
        <p:blipFill>
          <a:blip r:embed="rId3"/>
          <a:stretch>
            <a:fillRect/>
          </a:stretch>
        </p:blipFill>
        <p:spPr>
          <a:xfrm>
            <a:off x="4328160" y="1554480"/>
            <a:ext cx="3779520" cy="3840480"/>
          </a:xfrm>
          <a:prstGeom prst="rect">
            <a:avLst/>
          </a:prstGeom>
        </p:spPr>
      </p:pic>
      <p:sp>
        <p:nvSpPr>
          <p:cNvPr id="11" name="TextBox 10"/>
          <p:cNvSpPr txBox="1"/>
          <p:nvPr/>
        </p:nvSpPr>
        <p:spPr>
          <a:xfrm>
            <a:off x="8244840" y="1188720"/>
            <a:ext cx="3779520" cy="320040"/>
          </a:xfrm>
          <a:prstGeom prst="rect">
            <a:avLst/>
          </a:prstGeom>
          <a:noFill/>
        </p:spPr>
        <p:txBody>
          <a:bodyPr wrap="square">
            <a:spAutoFit/>
          </a:bodyPr>
          <a:lstStyle/>
          <a:p>
            <a:pPr algn="ctr"/>
            <a:r>
              <a:rPr sz="1200" b="1" i="0">
                <a:solidFill>
                  <a:srgbClr val="2D8996"/>
                </a:solidFill>
              </a:rPr>
              <a:t>Superadmin (Manajemen)</a:t>
            </a:r>
          </a:p>
        </p:txBody>
      </p:sp>
      <p:pic>
        <p:nvPicPr>
          <p:cNvPr id="12" name="Picture 11" descr="Sitemap Sistem Informasi Inventori Omnichannel ZenCare Medical (Superadmin).png"/>
          <p:cNvPicPr>
            <a:picLocks noChangeAspect="1"/>
          </p:cNvPicPr>
          <p:nvPr/>
        </p:nvPicPr>
        <p:blipFill>
          <a:blip r:embed="rId4"/>
          <a:stretch>
            <a:fillRect/>
          </a:stretch>
        </p:blipFill>
        <p:spPr>
          <a:xfrm>
            <a:off x="8244840" y="1554480"/>
            <a:ext cx="3779520" cy="3840480"/>
          </a:xfrm>
          <a:prstGeom prst="rect">
            <a:avLst/>
          </a:prstGeom>
        </p:spPr>
      </p:pic>
      <p:sp>
        <p:nvSpPr>
          <p:cNvPr id="13" name="Rectangle 12"/>
          <p:cNvSpPr/>
          <p:nvPr/>
        </p:nvSpPr>
        <p:spPr>
          <a:xfrm>
            <a:off x="411480" y="5532120"/>
            <a:ext cx="1161288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577840"/>
            <a:ext cx="11430000" cy="411480"/>
          </a:xfrm>
          <a:prstGeom prst="rect">
            <a:avLst/>
          </a:prstGeom>
          <a:noFill/>
        </p:spPr>
        <p:txBody>
          <a:bodyPr wrap="square">
            <a:spAutoFit/>
          </a:bodyPr>
          <a:lstStyle/>
          <a:p>
            <a:pPr algn="l"/>
            <a:r>
              <a:rPr sz="1000" b="0" i="1">
                <a:solidFill>
                  <a:srgbClr val="64748B"/>
                </a:solidFill>
              </a:rPr>
              <a:t>Pemetaan antarmuka memisahkan hak akses secara tegas: Pelanggan (E-Commerce), Admin (POS &amp; Penerimaan Barang), Superadmin (Master Produk, Harga, &amp; Pemantauan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8</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Workflow Barang Keluar (Omnichannel)</a:t>
            </a:r>
          </a:p>
        </p:txBody>
      </p:sp>
      <p:sp>
        <p:nvSpPr>
          <p:cNvPr id="7" name="TextBox 6"/>
          <p:cNvSpPr txBox="1"/>
          <p:nvPr/>
        </p:nvSpPr>
        <p:spPr>
          <a:xfrm>
            <a:off x="411480" y="1188720"/>
            <a:ext cx="5737860" cy="274320"/>
          </a:xfrm>
          <a:prstGeom prst="rect">
            <a:avLst/>
          </a:prstGeom>
          <a:noFill/>
        </p:spPr>
        <p:txBody>
          <a:bodyPr wrap="square">
            <a:spAutoFit/>
          </a:bodyPr>
          <a:lstStyle/>
          <a:p>
            <a:pPr algn="l"/>
            <a:r>
              <a:rPr sz="1100" b="1" i="0">
                <a:solidFill>
                  <a:srgbClr val="64748B"/>
                </a:solidFill>
              </a:rPr>
              <a:t>Sistem Berjalan</a:t>
            </a:r>
          </a:p>
        </p:txBody>
      </p:sp>
      <p:pic>
        <p:nvPicPr>
          <p:cNvPr id="8" name="Picture 7" descr="Workflow Barang Keluar (Berjalan).png"/>
          <p:cNvPicPr>
            <a:picLocks noChangeAspect="1"/>
          </p:cNvPicPr>
          <p:nvPr/>
        </p:nvPicPr>
        <p:blipFill>
          <a:blip r:embed="rId2"/>
          <a:stretch>
            <a:fillRect/>
          </a:stretch>
        </p:blipFill>
        <p:spPr>
          <a:xfrm>
            <a:off x="411480" y="1463040"/>
            <a:ext cx="5737860" cy="2194560"/>
          </a:xfrm>
          <a:prstGeom prst="rect">
            <a:avLst/>
          </a:prstGeom>
        </p:spPr>
      </p:pic>
      <p:sp>
        <p:nvSpPr>
          <p:cNvPr id="9" name="TextBox 8"/>
          <p:cNvSpPr txBox="1"/>
          <p:nvPr/>
        </p:nvSpPr>
        <p:spPr>
          <a:xfrm>
            <a:off x="6286500" y="1188720"/>
            <a:ext cx="5737860" cy="274320"/>
          </a:xfrm>
          <a:prstGeom prst="rect">
            <a:avLst/>
          </a:prstGeom>
          <a:noFill/>
        </p:spPr>
        <p:txBody>
          <a:bodyPr wrap="square">
            <a:spAutoFit/>
          </a:bodyPr>
          <a:lstStyle/>
          <a:p>
            <a:pPr algn="l"/>
            <a:r>
              <a:rPr sz="1100" b="1" i="0">
                <a:solidFill>
                  <a:srgbClr val="2D8996"/>
                </a:solidFill>
              </a:rPr>
              <a:t>Sistem Usulan</a:t>
            </a:r>
          </a:p>
        </p:txBody>
      </p:sp>
      <p:pic>
        <p:nvPicPr>
          <p:cNvPr id="10" name="Picture 9" descr="Workflow Barang Keluar (Sistem Usulan).png"/>
          <p:cNvPicPr>
            <a:picLocks noChangeAspect="1"/>
          </p:cNvPicPr>
          <p:nvPr/>
        </p:nvPicPr>
        <p:blipFill>
          <a:blip r:embed="rId3"/>
          <a:stretch>
            <a:fillRect/>
          </a:stretch>
        </p:blipFill>
        <p:spPr>
          <a:xfrm>
            <a:off x="6286500" y="1463040"/>
            <a:ext cx="5737860" cy="2194560"/>
          </a:xfrm>
          <a:prstGeom prst="rect">
            <a:avLst/>
          </a:prstGeom>
        </p:spPr>
      </p:pic>
      <p:sp>
        <p:nvSpPr>
          <p:cNvPr id="11" name="Rectangle 10"/>
          <p:cNvSpPr/>
          <p:nvPr/>
        </p:nvSpPr>
        <p:spPr>
          <a:xfrm>
            <a:off x="411480" y="3794760"/>
            <a:ext cx="11612880" cy="3657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931920"/>
            <a:ext cx="5737860" cy="274320"/>
          </a:xfrm>
          <a:prstGeom prst="rect">
            <a:avLst/>
          </a:prstGeom>
          <a:noFill/>
        </p:spPr>
        <p:txBody>
          <a:bodyPr wrap="square">
            <a:spAutoFit/>
          </a:bodyPr>
          <a:lstStyle/>
          <a:p>
            <a:pPr algn="l"/>
            <a:r>
              <a:rPr sz="1100" b="1" i="0">
                <a:solidFill>
                  <a:srgbClr val="64748B"/>
                </a:solidFill>
              </a:rPr>
              <a:t>Wireframe: Terminal POS (Luring)</a:t>
            </a:r>
          </a:p>
        </p:txBody>
      </p:sp>
      <p:pic>
        <p:nvPicPr>
          <p:cNvPr id="13" name="Picture 12" descr="POS.png"/>
          <p:cNvPicPr>
            <a:picLocks noChangeAspect="1"/>
          </p:cNvPicPr>
          <p:nvPr/>
        </p:nvPicPr>
        <p:blipFill>
          <a:blip r:embed="rId4"/>
          <a:stretch>
            <a:fillRect/>
          </a:stretch>
        </p:blipFill>
        <p:spPr>
          <a:xfrm>
            <a:off x="411480" y="4206240"/>
            <a:ext cx="5737860" cy="1828800"/>
          </a:xfrm>
          <a:prstGeom prst="rect">
            <a:avLst/>
          </a:prstGeom>
        </p:spPr>
      </p:pic>
      <p:sp>
        <p:nvSpPr>
          <p:cNvPr id="14" name="TextBox 13"/>
          <p:cNvSpPr txBox="1"/>
          <p:nvPr/>
        </p:nvSpPr>
        <p:spPr>
          <a:xfrm>
            <a:off x="6286500" y="3931920"/>
            <a:ext cx="5737860" cy="274320"/>
          </a:xfrm>
          <a:prstGeom prst="rect">
            <a:avLst/>
          </a:prstGeom>
          <a:noFill/>
        </p:spPr>
        <p:txBody>
          <a:bodyPr wrap="square">
            <a:spAutoFit/>
          </a:bodyPr>
          <a:lstStyle/>
          <a:p>
            <a:pPr algn="l"/>
            <a:r>
              <a:rPr sz="1100" b="1" i="0">
                <a:solidFill>
                  <a:srgbClr val="64748B"/>
                </a:solidFill>
              </a:rPr>
              <a:t>Wireframe: Checkout (Daring)</a:t>
            </a:r>
          </a:p>
        </p:txBody>
      </p:sp>
      <p:pic>
        <p:nvPicPr>
          <p:cNvPr id="15" name="Picture 14" descr="Checkout Pembayaran.png"/>
          <p:cNvPicPr>
            <a:picLocks noChangeAspect="1"/>
          </p:cNvPicPr>
          <p:nvPr/>
        </p:nvPicPr>
        <p:blipFill>
          <a:blip r:embed="rId5"/>
          <a:stretch>
            <a:fillRect/>
          </a:stretch>
        </p:blipFill>
        <p:spPr>
          <a:xfrm>
            <a:off x="6286500" y="4206240"/>
            <a:ext cx="5737860" cy="1828800"/>
          </a:xfrm>
          <a:prstGeom prst="rect">
            <a:avLst/>
          </a:prstGeom>
        </p:spPr>
      </p:pic>
      <p:sp>
        <p:nvSpPr>
          <p:cNvPr id="16" name="Rectangle 15"/>
          <p:cNvSpPr/>
          <p:nvPr/>
        </p:nvSpPr>
        <p:spPr>
          <a:xfrm>
            <a:off x="411480" y="5669280"/>
            <a:ext cx="11612880" cy="457200"/>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5724144"/>
            <a:ext cx="11430000" cy="365760"/>
          </a:xfrm>
          <a:prstGeom prst="rect">
            <a:avLst/>
          </a:prstGeom>
          <a:noFill/>
        </p:spPr>
        <p:txBody>
          <a:bodyPr wrap="square">
            <a:spAutoFit/>
          </a:bodyPr>
          <a:lstStyle/>
          <a:p>
            <a:pPr algn="l"/>
            <a:r>
              <a:rPr sz="1000" b="0" i="0">
                <a:solidFill>
                  <a:srgbClr val="1E293B"/>
                </a:solidFill>
              </a:rPr>
              <a:t>🔄 Sistem mengonversi satuan otomatis dan mengunci stok sementara (Reserved) untuk mencegah overselling di semua saluran secara bersamaan.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9</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Workflow Penerimaan Barang &amp; Logistik</a:t>
            </a:r>
          </a:p>
        </p:txBody>
      </p:sp>
      <p:sp>
        <p:nvSpPr>
          <p:cNvPr id="7" name="TextBox 6"/>
          <p:cNvSpPr txBox="1"/>
          <p:nvPr/>
        </p:nvSpPr>
        <p:spPr>
          <a:xfrm>
            <a:off x="411480" y="1188720"/>
            <a:ext cx="5737860" cy="274320"/>
          </a:xfrm>
          <a:prstGeom prst="rect">
            <a:avLst/>
          </a:prstGeom>
          <a:noFill/>
        </p:spPr>
        <p:txBody>
          <a:bodyPr wrap="square">
            <a:spAutoFit/>
          </a:bodyPr>
          <a:lstStyle/>
          <a:p>
            <a:pPr algn="l"/>
            <a:r>
              <a:rPr sz="1100" b="1" i="0">
                <a:solidFill>
                  <a:srgbClr val="64748B"/>
                </a:solidFill>
              </a:rPr>
              <a:t>Sistem Berjalan</a:t>
            </a:r>
          </a:p>
        </p:txBody>
      </p:sp>
      <p:pic>
        <p:nvPicPr>
          <p:cNvPr id="8" name="Picture 7" descr="Workflow Barang Masuk (Berjalan).png"/>
          <p:cNvPicPr>
            <a:picLocks noChangeAspect="1"/>
          </p:cNvPicPr>
          <p:nvPr/>
        </p:nvPicPr>
        <p:blipFill>
          <a:blip r:embed="rId2"/>
          <a:stretch>
            <a:fillRect/>
          </a:stretch>
        </p:blipFill>
        <p:spPr>
          <a:xfrm>
            <a:off x="411480" y="1463040"/>
            <a:ext cx="5737860" cy="2194560"/>
          </a:xfrm>
          <a:prstGeom prst="rect">
            <a:avLst/>
          </a:prstGeom>
        </p:spPr>
      </p:pic>
      <p:sp>
        <p:nvSpPr>
          <p:cNvPr id="9" name="TextBox 8"/>
          <p:cNvSpPr txBox="1"/>
          <p:nvPr/>
        </p:nvSpPr>
        <p:spPr>
          <a:xfrm>
            <a:off x="6286500" y="1188720"/>
            <a:ext cx="5737860" cy="274320"/>
          </a:xfrm>
          <a:prstGeom prst="rect">
            <a:avLst/>
          </a:prstGeom>
          <a:noFill/>
        </p:spPr>
        <p:txBody>
          <a:bodyPr wrap="square">
            <a:spAutoFit/>
          </a:bodyPr>
          <a:lstStyle/>
          <a:p>
            <a:pPr algn="l"/>
            <a:r>
              <a:rPr sz="1100" b="1" i="0">
                <a:solidFill>
                  <a:srgbClr val="2D8996"/>
                </a:solidFill>
              </a:rPr>
              <a:t>Sistem Usulan</a:t>
            </a:r>
          </a:p>
        </p:txBody>
      </p:sp>
      <p:pic>
        <p:nvPicPr>
          <p:cNvPr id="10" name="Picture 9" descr="Workflow Barang Masuk &amp; Logistik (Sistem Usulan).png"/>
          <p:cNvPicPr>
            <a:picLocks noChangeAspect="1"/>
          </p:cNvPicPr>
          <p:nvPr/>
        </p:nvPicPr>
        <p:blipFill>
          <a:blip r:embed="rId3"/>
          <a:stretch>
            <a:fillRect/>
          </a:stretch>
        </p:blipFill>
        <p:spPr>
          <a:xfrm>
            <a:off x="6286500" y="1463040"/>
            <a:ext cx="5737860" cy="2194560"/>
          </a:xfrm>
          <a:prstGeom prst="rect">
            <a:avLst/>
          </a:prstGeom>
        </p:spPr>
      </p:pic>
      <p:sp>
        <p:nvSpPr>
          <p:cNvPr id="11" name="Rectangle 10"/>
          <p:cNvSpPr/>
          <p:nvPr/>
        </p:nvSpPr>
        <p:spPr>
          <a:xfrm>
            <a:off x="411480" y="3794760"/>
            <a:ext cx="11612880" cy="3657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931920"/>
            <a:ext cx="5806440" cy="274320"/>
          </a:xfrm>
          <a:prstGeom prst="rect">
            <a:avLst/>
          </a:prstGeom>
          <a:noFill/>
        </p:spPr>
        <p:txBody>
          <a:bodyPr wrap="square">
            <a:spAutoFit/>
          </a:bodyPr>
          <a:lstStyle/>
          <a:p>
            <a:pPr algn="l"/>
            <a:r>
              <a:rPr sz="1100" b="1" i="0">
                <a:solidFill>
                  <a:srgbClr val="64748B"/>
                </a:solidFill>
              </a:rPr>
              <a:t>Wireframe: Form Penerimaan Barang</a:t>
            </a:r>
          </a:p>
        </p:txBody>
      </p:sp>
      <p:pic>
        <p:nvPicPr>
          <p:cNvPr id="13" name="Picture 12" descr="Penerimaan Barang.png"/>
          <p:cNvPicPr>
            <a:picLocks noChangeAspect="1"/>
          </p:cNvPicPr>
          <p:nvPr/>
        </p:nvPicPr>
        <p:blipFill>
          <a:blip r:embed="rId4"/>
          <a:stretch>
            <a:fillRect/>
          </a:stretch>
        </p:blipFill>
        <p:spPr>
          <a:xfrm>
            <a:off x="411480" y="4206240"/>
            <a:ext cx="5806440" cy="1828800"/>
          </a:xfrm>
          <a:prstGeom prst="rect">
            <a:avLst/>
          </a:prstGeom>
        </p:spPr>
      </p:pic>
      <p:sp>
        <p:nvSpPr>
          <p:cNvPr id="14" name="TextBox 13"/>
          <p:cNvSpPr txBox="1"/>
          <p:nvPr/>
        </p:nvSpPr>
        <p:spPr>
          <a:xfrm>
            <a:off x="6355080" y="3931920"/>
            <a:ext cx="5669280" cy="274320"/>
          </a:xfrm>
          <a:prstGeom prst="rect">
            <a:avLst/>
          </a:prstGeom>
          <a:noFill/>
        </p:spPr>
        <p:txBody>
          <a:bodyPr wrap="square">
            <a:spAutoFit/>
          </a:bodyPr>
          <a:lstStyle/>
          <a:p>
            <a:pPr algn="l"/>
            <a:r>
              <a:rPr sz="1100" b="1" i="0">
                <a:solidFill>
                  <a:srgbClr val="64748B"/>
                </a:solidFill>
              </a:rPr>
              <a:t>Wireframe: Dashboard Superadmin</a:t>
            </a:r>
          </a:p>
        </p:txBody>
      </p:sp>
      <p:pic>
        <p:nvPicPr>
          <p:cNvPr id="15" name="Picture 14" descr="Dashboard (Superadmin).png"/>
          <p:cNvPicPr>
            <a:picLocks noChangeAspect="1"/>
          </p:cNvPicPr>
          <p:nvPr/>
        </p:nvPicPr>
        <p:blipFill>
          <a:blip r:embed="rId5"/>
          <a:stretch>
            <a:fillRect/>
          </a:stretch>
        </p:blipFill>
        <p:spPr>
          <a:xfrm>
            <a:off x="6355080" y="4206240"/>
            <a:ext cx="5669280" cy="1828800"/>
          </a:xfrm>
          <a:prstGeom prst="rect">
            <a:avLst/>
          </a:prstGeom>
        </p:spPr>
      </p:pic>
      <p:sp>
        <p:nvSpPr>
          <p:cNvPr id="16" name="Rectangle 15"/>
          <p:cNvSpPr/>
          <p:nvPr/>
        </p:nvSpPr>
        <p:spPr>
          <a:xfrm>
            <a:off x="411480" y="5669280"/>
            <a:ext cx="11612880" cy="457200"/>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5724144"/>
            <a:ext cx="11430000" cy="365760"/>
          </a:xfrm>
          <a:prstGeom prst="rect">
            <a:avLst/>
          </a:prstGeom>
          <a:noFill/>
        </p:spPr>
        <p:txBody>
          <a:bodyPr wrap="square">
            <a:spAutoFit/>
          </a:bodyPr>
          <a:lstStyle/>
          <a:p>
            <a:pPr algn="l"/>
            <a:r>
              <a:rPr sz="1000" b="0" i="0">
                <a:solidFill>
                  <a:srgbClr val="1E293B"/>
                </a:solidFill>
              </a:rPr>
              <a:t>🔐 Sistem sebagai Gatekeeper: Admin wajib menginput Identitas Logistik (Batch/EXP/SN) &amp; Harga Beli. Superadmin memantau histori pengadaan &amp; harga modal via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10</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Analisis Kebutuhan Sistem (Use Case Diagram)</a:t>
            </a:r>
          </a:p>
        </p:txBody>
      </p:sp>
      <p:pic>
        <p:nvPicPr>
          <p:cNvPr id="7" name="Picture 6" descr="TA Use Case.png"/>
          <p:cNvPicPr>
            <a:picLocks noChangeAspect="1"/>
          </p:cNvPicPr>
          <p:nvPr/>
        </p:nvPicPr>
        <p:blipFill>
          <a:blip r:embed="rId2"/>
          <a:stretch>
            <a:fillRect/>
          </a:stretch>
        </p:blipFill>
        <p:spPr>
          <a:xfrm>
            <a:off x="1325880" y="1188720"/>
            <a:ext cx="9784080" cy="4526280"/>
          </a:xfrm>
          <a:prstGeom prst="rect">
            <a:avLst/>
          </a:prstGeom>
        </p:spPr>
      </p:pic>
      <p:sp>
        <p:nvSpPr>
          <p:cNvPr id="8" name="TextBox 7"/>
          <p:cNvSpPr txBox="1"/>
          <p:nvPr/>
        </p:nvSpPr>
        <p:spPr>
          <a:xfrm>
            <a:off x="411480" y="5760720"/>
            <a:ext cx="11612880" cy="365760"/>
          </a:xfrm>
          <a:prstGeom prst="rect">
            <a:avLst/>
          </a:prstGeom>
          <a:noFill/>
        </p:spPr>
        <p:txBody>
          <a:bodyPr wrap="square">
            <a:spAutoFit/>
          </a:bodyPr>
          <a:lstStyle/>
          <a:p>
            <a:pPr algn="ctr"/>
            <a:r>
              <a:rPr sz="1000" b="0" i="1">
                <a:solidFill>
                  <a:srgbClr val="64748B"/>
                </a:solidFill>
              </a:rPr>
              <a:t>Tiga aktor utama: Pelanggan (E-Commerce), Admin Gudang/Kasir (POS &amp; Logistik), dan Superadmin (Master Produk, Harga, &amp; Laporan Manajerial).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11</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Activity Diagram: Penerimaan Barang &amp; Validasi Logistik</a:t>
            </a:r>
          </a:p>
        </p:txBody>
      </p:sp>
      <p:pic>
        <p:nvPicPr>
          <p:cNvPr id="7" name="Picture 6" descr="Kelola Penerimaan Barang &amp; Validasi Logistik.png"/>
          <p:cNvPicPr>
            <a:picLocks noChangeAspect="1"/>
          </p:cNvPicPr>
          <p:nvPr/>
        </p:nvPicPr>
        <p:blipFill>
          <a:blip r:embed="rId2"/>
          <a:stretch>
            <a:fillRect/>
          </a:stretch>
        </p:blipFill>
        <p:spPr>
          <a:xfrm>
            <a:off x="2788920" y="1188720"/>
            <a:ext cx="6858000" cy="4526280"/>
          </a:xfrm>
          <a:prstGeom prst="rect">
            <a:avLst/>
          </a:prstGeom>
        </p:spPr>
      </p:pic>
      <p:sp>
        <p:nvSpPr>
          <p:cNvPr id="8" name="Rectangle 7"/>
          <p:cNvSpPr/>
          <p:nvPr/>
        </p:nvSpPr>
        <p:spPr>
          <a:xfrm>
            <a:off x="411480" y="5669280"/>
            <a:ext cx="11612880" cy="457200"/>
          </a:xfrm>
          <a:prstGeom prst="rect">
            <a:avLst/>
          </a:prstGeom>
          <a:solidFill>
            <a:srgbClr val="E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724144"/>
            <a:ext cx="11430000" cy="365760"/>
          </a:xfrm>
          <a:prstGeom prst="rect">
            <a:avLst/>
          </a:prstGeom>
          <a:noFill/>
        </p:spPr>
        <p:txBody>
          <a:bodyPr wrap="square">
            <a:spAutoFit/>
          </a:bodyPr>
          <a:lstStyle/>
          <a:p>
            <a:pPr algn="l"/>
            <a:r>
              <a:rPr sz="1000" b="0" i="0">
                <a:solidFill>
                  <a:srgbClr val="1E293B"/>
                </a:solidFill>
              </a:rPr>
              <a:t>🔀 Sistem memvalidasi kelengkapan Identitas Logistik (Batch/EXP untuk Obat; Serial Number untuk Alkes). Proses ditolak dan dikembalikan ke form jika data tidak lengkap.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12</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Logical Database: Entity Relationship Diagram (ERD)</a:t>
            </a:r>
          </a:p>
        </p:txBody>
      </p:sp>
      <p:pic>
        <p:nvPicPr>
          <p:cNvPr id="7" name="Picture 6" descr="Entity Relationship Diagram (ERD) &amp; Logical Database.png"/>
          <p:cNvPicPr>
            <a:picLocks noChangeAspect="1"/>
          </p:cNvPicPr>
          <p:nvPr/>
        </p:nvPicPr>
        <p:blipFill>
          <a:blip r:embed="rId2"/>
          <a:stretch>
            <a:fillRect/>
          </a:stretch>
        </p:blipFill>
        <p:spPr>
          <a:xfrm>
            <a:off x="411480" y="1188720"/>
            <a:ext cx="11612880" cy="4526280"/>
          </a:xfrm>
          <a:prstGeom prst="rect">
            <a:avLst/>
          </a:prstGeom>
        </p:spPr>
      </p:pic>
      <p:sp>
        <p:nvSpPr>
          <p:cNvPr id="8" name="TextBox 7"/>
          <p:cNvSpPr txBox="1"/>
          <p:nvPr/>
        </p:nvSpPr>
        <p:spPr>
          <a:xfrm>
            <a:off x="411480" y="5760720"/>
            <a:ext cx="11612880" cy="365760"/>
          </a:xfrm>
          <a:prstGeom prst="rect">
            <a:avLst/>
          </a:prstGeom>
          <a:noFill/>
        </p:spPr>
        <p:txBody>
          <a:bodyPr wrap="square">
            <a:spAutoFit/>
          </a:bodyPr>
          <a:lstStyle/>
          <a:p>
            <a:pPr algn="ctr"/>
            <a:r>
              <a:rPr sz="1000" b="0" i="1">
                <a:solidFill>
                  <a:srgbClr val="64748B"/>
                </a:solidFill>
              </a:rPr>
              <a:t>Arsitektur Relasional 4 Klaster: Klaster Aktor (RBAC) · Klaster Konversi Multi-UOM · Klaster Logistik Medis (Stok &amp; Batch) · Klaster Transaksi &amp; Riwayat Mutasi (Kartu Stok).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13</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Struktur Tabel Esensial Database</a:t>
            </a:r>
          </a:p>
        </p:txBody>
      </p:sp>
      <p:sp>
        <p:nvSpPr>
          <p:cNvPr id="7" name="Rectangle 6"/>
          <p:cNvSpPr/>
          <p:nvPr/>
        </p:nvSpPr>
        <p:spPr>
          <a:xfrm>
            <a:off x="411480" y="1188720"/>
            <a:ext cx="5692140" cy="4572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5509260" cy="384048"/>
          </a:xfrm>
          <a:prstGeom prst="rect">
            <a:avLst/>
          </a:prstGeom>
          <a:noFill/>
        </p:spPr>
        <p:txBody>
          <a:bodyPr wrap="square">
            <a:spAutoFit/>
          </a:bodyPr>
          <a:lstStyle/>
          <a:p>
            <a:pPr algn="l"/>
            <a:r>
              <a:rPr sz="1200" b="1" i="0">
                <a:solidFill>
                  <a:srgbClr val="FFFFFF"/>
                </a:solidFill>
              </a:rPr>
              <a:t>produk_variasi — Konversi Multi-UOM</a:t>
            </a:r>
          </a:p>
        </p:txBody>
      </p:sp>
      <p:sp>
        <p:nvSpPr>
          <p:cNvPr id="9" name="Rectangle 8"/>
          <p:cNvSpPr/>
          <p:nvPr/>
        </p:nvSpPr>
        <p:spPr>
          <a:xfrm>
            <a:off x="411480" y="1691640"/>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28216"/>
            <a:ext cx="2011680" cy="365760"/>
          </a:xfrm>
          <a:prstGeom prst="rect">
            <a:avLst/>
          </a:prstGeom>
          <a:noFill/>
        </p:spPr>
        <p:txBody>
          <a:bodyPr wrap="square">
            <a:spAutoFit/>
          </a:bodyPr>
          <a:lstStyle/>
          <a:p>
            <a:pPr algn="l"/>
            <a:r>
              <a:rPr sz="1000" b="1" i="0">
                <a:solidFill>
                  <a:srgbClr val="1E293B"/>
                </a:solidFill>
              </a:rPr>
              <a:t>sku_variasi</a:t>
            </a:r>
          </a:p>
        </p:txBody>
      </p:sp>
      <p:sp>
        <p:nvSpPr>
          <p:cNvPr id="11" name="TextBox 10"/>
          <p:cNvSpPr txBox="1"/>
          <p:nvPr/>
        </p:nvSpPr>
        <p:spPr>
          <a:xfrm>
            <a:off x="502920" y="2093976"/>
            <a:ext cx="640080" cy="274320"/>
          </a:xfrm>
          <a:prstGeom prst="rect">
            <a:avLst/>
          </a:prstGeom>
          <a:noFill/>
        </p:spPr>
        <p:txBody>
          <a:bodyPr wrap="square">
            <a:spAutoFit/>
          </a:bodyPr>
          <a:lstStyle/>
          <a:p>
            <a:pPr algn="ctr"/>
            <a:r>
              <a:rPr sz="850" b="0" i="0">
                <a:solidFill>
                  <a:srgbClr val="FFFFFF"/>
                </a:solidFill>
              </a:rPr>
              <a:t>VARCHAR</a:t>
            </a:r>
          </a:p>
        </p:txBody>
      </p:sp>
      <p:sp>
        <p:nvSpPr>
          <p:cNvPr id="12" name="Rectangle 11"/>
          <p:cNvSpPr/>
          <p:nvPr/>
        </p:nvSpPr>
        <p:spPr>
          <a:xfrm>
            <a:off x="502920" y="2093976"/>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93976"/>
            <a:ext cx="640080" cy="256032"/>
          </a:xfrm>
          <a:prstGeom prst="rect">
            <a:avLst/>
          </a:prstGeom>
          <a:noFill/>
        </p:spPr>
        <p:txBody>
          <a:bodyPr wrap="square">
            <a:spAutoFit/>
          </a:bodyPr>
          <a:lstStyle/>
          <a:p>
            <a:pPr algn="ctr"/>
            <a:r>
              <a:rPr sz="800" b="0" i="0">
                <a:solidFill>
                  <a:srgbClr val="FFFFFF"/>
                </a:solidFill>
              </a:rPr>
              <a:t>VARCHAR</a:t>
            </a:r>
          </a:p>
        </p:txBody>
      </p:sp>
      <p:sp>
        <p:nvSpPr>
          <p:cNvPr id="14" name="TextBox 13"/>
          <p:cNvSpPr txBox="1"/>
          <p:nvPr/>
        </p:nvSpPr>
        <p:spPr>
          <a:xfrm>
            <a:off x="1188720" y="2093976"/>
            <a:ext cx="4823460" cy="274320"/>
          </a:xfrm>
          <a:prstGeom prst="rect">
            <a:avLst/>
          </a:prstGeom>
          <a:noFill/>
        </p:spPr>
        <p:txBody>
          <a:bodyPr wrap="square">
            <a:spAutoFit/>
          </a:bodyPr>
          <a:lstStyle/>
          <a:p>
            <a:pPr algn="l"/>
            <a:r>
              <a:rPr sz="950" b="0" i="0">
                <a:solidFill>
                  <a:srgbClr val="64748B"/>
                </a:solidFill>
              </a:rPr>
              <a:t>Kode unik per varian produk</a:t>
            </a:r>
          </a:p>
        </p:txBody>
      </p:sp>
      <p:sp>
        <p:nvSpPr>
          <p:cNvPr id="15" name="Rectangle 14"/>
          <p:cNvSpPr/>
          <p:nvPr/>
        </p:nvSpPr>
        <p:spPr>
          <a:xfrm>
            <a:off x="411480" y="2496312"/>
            <a:ext cx="569214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532888"/>
            <a:ext cx="2011680" cy="365760"/>
          </a:xfrm>
          <a:prstGeom prst="rect">
            <a:avLst/>
          </a:prstGeom>
          <a:noFill/>
        </p:spPr>
        <p:txBody>
          <a:bodyPr wrap="square">
            <a:spAutoFit/>
          </a:bodyPr>
          <a:lstStyle/>
          <a:p>
            <a:pPr algn="l"/>
            <a:r>
              <a:rPr sz="1000" b="1" i="0">
                <a:solidFill>
                  <a:srgbClr val="1E293B"/>
                </a:solidFill>
              </a:rPr>
              <a:t>satuan_kecil / satuan_besar</a:t>
            </a:r>
          </a:p>
        </p:txBody>
      </p:sp>
      <p:sp>
        <p:nvSpPr>
          <p:cNvPr id="17" name="TextBox 16"/>
          <p:cNvSpPr txBox="1"/>
          <p:nvPr/>
        </p:nvSpPr>
        <p:spPr>
          <a:xfrm>
            <a:off x="502920" y="2898648"/>
            <a:ext cx="640080" cy="274320"/>
          </a:xfrm>
          <a:prstGeom prst="rect">
            <a:avLst/>
          </a:prstGeom>
          <a:noFill/>
        </p:spPr>
        <p:txBody>
          <a:bodyPr wrap="square">
            <a:spAutoFit/>
          </a:bodyPr>
          <a:lstStyle/>
          <a:p>
            <a:pPr algn="ctr"/>
            <a:r>
              <a:rPr sz="850" b="0" i="0">
                <a:solidFill>
                  <a:srgbClr val="FFFFFF"/>
                </a:solidFill>
              </a:rPr>
              <a:t>VARCHAR</a:t>
            </a:r>
          </a:p>
        </p:txBody>
      </p:sp>
      <p:sp>
        <p:nvSpPr>
          <p:cNvPr id="18" name="Rectangle 17"/>
          <p:cNvSpPr/>
          <p:nvPr/>
        </p:nvSpPr>
        <p:spPr>
          <a:xfrm>
            <a:off x="502920" y="2898648"/>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98648"/>
            <a:ext cx="640080" cy="256032"/>
          </a:xfrm>
          <a:prstGeom prst="rect">
            <a:avLst/>
          </a:prstGeom>
          <a:noFill/>
        </p:spPr>
        <p:txBody>
          <a:bodyPr wrap="square">
            <a:spAutoFit/>
          </a:bodyPr>
          <a:lstStyle/>
          <a:p>
            <a:pPr algn="ctr"/>
            <a:r>
              <a:rPr sz="800" b="0" i="0">
                <a:solidFill>
                  <a:srgbClr val="FFFFFF"/>
                </a:solidFill>
              </a:rPr>
              <a:t>VARCHAR</a:t>
            </a:r>
          </a:p>
        </p:txBody>
      </p:sp>
      <p:sp>
        <p:nvSpPr>
          <p:cNvPr id="20" name="TextBox 19"/>
          <p:cNvSpPr txBox="1"/>
          <p:nvPr/>
        </p:nvSpPr>
        <p:spPr>
          <a:xfrm>
            <a:off x="1188720" y="2898648"/>
            <a:ext cx="4823460" cy="274320"/>
          </a:xfrm>
          <a:prstGeom prst="rect">
            <a:avLst/>
          </a:prstGeom>
          <a:noFill/>
        </p:spPr>
        <p:txBody>
          <a:bodyPr wrap="square">
            <a:spAutoFit/>
          </a:bodyPr>
          <a:lstStyle/>
          <a:p>
            <a:pPr algn="l"/>
            <a:r>
              <a:rPr sz="950" b="0" i="0">
                <a:solidFill>
                  <a:srgbClr val="64748B"/>
                </a:solidFill>
              </a:rPr>
              <a:t>Pcs / Box (contoh)</a:t>
            </a:r>
          </a:p>
        </p:txBody>
      </p:sp>
      <p:sp>
        <p:nvSpPr>
          <p:cNvPr id="21" name="Rectangle 20"/>
          <p:cNvSpPr/>
          <p:nvPr/>
        </p:nvSpPr>
        <p:spPr>
          <a:xfrm>
            <a:off x="411480" y="3300984"/>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337560"/>
            <a:ext cx="2011680" cy="365760"/>
          </a:xfrm>
          <a:prstGeom prst="rect">
            <a:avLst/>
          </a:prstGeom>
          <a:noFill/>
        </p:spPr>
        <p:txBody>
          <a:bodyPr wrap="square">
            <a:spAutoFit/>
          </a:bodyPr>
          <a:lstStyle/>
          <a:p>
            <a:pPr algn="l"/>
            <a:r>
              <a:rPr sz="1000" b="1" i="0">
                <a:solidFill>
                  <a:srgbClr val="1E293B"/>
                </a:solidFill>
              </a:rPr>
              <a:t>rasio_konversi</a:t>
            </a:r>
          </a:p>
        </p:txBody>
      </p:sp>
      <p:sp>
        <p:nvSpPr>
          <p:cNvPr id="23" name="TextBox 22"/>
          <p:cNvSpPr txBox="1"/>
          <p:nvPr/>
        </p:nvSpPr>
        <p:spPr>
          <a:xfrm>
            <a:off x="502920" y="3703320"/>
            <a:ext cx="640080" cy="274320"/>
          </a:xfrm>
          <a:prstGeom prst="rect">
            <a:avLst/>
          </a:prstGeom>
          <a:noFill/>
        </p:spPr>
        <p:txBody>
          <a:bodyPr wrap="square">
            <a:spAutoFit/>
          </a:bodyPr>
          <a:lstStyle/>
          <a:p>
            <a:pPr algn="ctr"/>
            <a:r>
              <a:rPr sz="850" b="0" i="0">
                <a:solidFill>
                  <a:srgbClr val="FFFFFF"/>
                </a:solidFill>
              </a:rPr>
              <a:t>INT</a:t>
            </a:r>
          </a:p>
        </p:txBody>
      </p:sp>
      <p:sp>
        <p:nvSpPr>
          <p:cNvPr id="24" name="Rectangle 23"/>
          <p:cNvSpPr/>
          <p:nvPr/>
        </p:nvSpPr>
        <p:spPr>
          <a:xfrm>
            <a:off x="502920" y="3703320"/>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703320"/>
            <a:ext cx="640080" cy="256032"/>
          </a:xfrm>
          <a:prstGeom prst="rect">
            <a:avLst/>
          </a:prstGeom>
          <a:noFill/>
        </p:spPr>
        <p:txBody>
          <a:bodyPr wrap="square">
            <a:spAutoFit/>
          </a:bodyPr>
          <a:lstStyle/>
          <a:p>
            <a:pPr algn="ctr"/>
            <a:r>
              <a:rPr sz="800" b="0" i="0">
                <a:solidFill>
                  <a:srgbClr val="FFFFFF"/>
                </a:solidFill>
              </a:rPr>
              <a:t>INT</a:t>
            </a:r>
          </a:p>
        </p:txBody>
      </p:sp>
      <p:sp>
        <p:nvSpPr>
          <p:cNvPr id="26" name="TextBox 25"/>
          <p:cNvSpPr txBox="1"/>
          <p:nvPr/>
        </p:nvSpPr>
        <p:spPr>
          <a:xfrm>
            <a:off x="1188720" y="3703320"/>
            <a:ext cx="4823460" cy="274320"/>
          </a:xfrm>
          <a:prstGeom prst="rect">
            <a:avLst/>
          </a:prstGeom>
          <a:noFill/>
        </p:spPr>
        <p:txBody>
          <a:bodyPr wrap="square">
            <a:spAutoFit/>
          </a:bodyPr>
          <a:lstStyle/>
          <a:p>
            <a:pPr algn="l"/>
            <a:r>
              <a:rPr sz="950" b="0" i="0">
                <a:solidFill>
                  <a:srgbClr val="64748B"/>
                </a:solidFill>
              </a:rPr>
              <a:t>→ pengunci perkalian matematis</a:t>
            </a:r>
          </a:p>
        </p:txBody>
      </p:sp>
      <p:sp>
        <p:nvSpPr>
          <p:cNvPr id="27" name="Rectangle 26"/>
          <p:cNvSpPr/>
          <p:nvPr/>
        </p:nvSpPr>
        <p:spPr>
          <a:xfrm>
            <a:off x="411480" y="4105656"/>
            <a:ext cx="569214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142232"/>
            <a:ext cx="2011680" cy="365760"/>
          </a:xfrm>
          <a:prstGeom prst="rect">
            <a:avLst/>
          </a:prstGeom>
          <a:noFill/>
        </p:spPr>
        <p:txBody>
          <a:bodyPr wrap="square">
            <a:spAutoFit/>
          </a:bodyPr>
          <a:lstStyle/>
          <a:p>
            <a:pPr algn="l"/>
            <a:r>
              <a:rPr sz="1000" b="1" i="0">
                <a:solidFill>
                  <a:srgbClr val="1E293B"/>
                </a:solidFill>
              </a:rPr>
              <a:t>harga_jual_kecil / besar</a:t>
            </a:r>
          </a:p>
        </p:txBody>
      </p:sp>
      <p:sp>
        <p:nvSpPr>
          <p:cNvPr id="29" name="TextBox 28"/>
          <p:cNvSpPr txBox="1"/>
          <p:nvPr/>
        </p:nvSpPr>
        <p:spPr>
          <a:xfrm>
            <a:off x="502920" y="4507992"/>
            <a:ext cx="640080" cy="274320"/>
          </a:xfrm>
          <a:prstGeom prst="rect">
            <a:avLst/>
          </a:prstGeom>
          <a:noFill/>
        </p:spPr>
        <p:txBody>
          <a:bodyPr wrap="square">
            <a:spAutoFit/>
          </a:bodyPr>
          <a:lstStyle/>
          <a:p>
            <a:pPr algn="ctr"/>
            <a:r>
              <a:rPr sz="850" b="0" i="0">
                <a:solidFill>
                  <a:srgbClr val="FFFFFF"/>
                </a:solidFill>
              </a:rPr>
              <a:t>DECIMAL</a:t>
            </a:r>
          </a:p>
        </p:txBody>
      </p:sp>
      <p:sp>
        <p:nvSpPr>
          <p:cNvPr id="30" name="Rectangle 29"/>
          <p:cNvSpPr/>
          <p:nvPr/>
        </p:nvSpPr>
        <p:spPr>
          <a:xfrm>
            <a:off x="502920" y="4507992"/>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507992"/>
            <a:ext cx="640080" cy="256032"/>
          </a:xfrm>
          <a:prstGeom prst="rect">
            <a:avLst/>
          </a:prstGeom>
          <a:noFill/>
        </p:spPr>
        <p:txBody>
          <a:bodyPr wrap="square">
            <a:spAutoFit/>
          </a:bodyPr>
          <a:lstStyle/>
          <a:p>
            <a:pPr algn="ctr"/>
            <a:r>
              <a:rPr sz="800" b="0" i="0">
                <a:solidFill>
                  <a:srgbClr val="FFFFFF"/>
                </a:solidFill>
              </a:rPr>
              <a:t>DECIMAL</a:t>
            </a:r>
          </a:p>
        </p:txBody>
      </p:sp>
      <p:sp>
        <p:nvSpPr>
          <p:cNvPr id="32" name="TextBox 31"/>
          <p:cNvSpPr txBox="1"/>
          <p:nvPr/>
        </p:nvSpPr>
        <p:spPr>
          <a:xfrm>
            <a:off x="1188720" y="4507992"/>
            <a:ext cx="4823460" cy="274320"/>
          </a:xfrm>
          <a:prstGeom prst="rect">
            <a:avLst/>
          </a:prstGeom>
          <a:noFill/>
        </p:spPr>
        <p:txBody>
          <a:bodyPr wrap="square">
            <a:spAutoFit/>
          </a:bodyPr>
          <a:lstStyle/>
          <a:p>
            <a:pPr algn="l"/>
            <a:r>
              <a:rPr sz="950" b="0" i="0">
                <a:solidFill>
                  <a:srgbClr val="64748B"/>
                </a:solidFill>
              </a:rPr>
              <a:t>Harga jual statis per satuan</a:t>
            </a:r>
          </a:p>
        </p:txBody>
      </p:sp>
      <p:sp>
        <p:nvSpPr>
          <p:cNvPr id="33" name="Rectangle 32"/>
          <p:cNvSpPr/>
          <p:nvPr/>
        </p:nvSpPr>
        <p:spPr>
          <a:xfrm>
            <a:off x="411480" y="4910328"/>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946904"/>
            <a:ext cx="2011680" cy="365760"/>
          </a:xfrm>
          <a:prstGeom prst="rect">
            <a:avLst/>
          </a:prstGeom>
          <a:noFill/>
        </p:spPr>
        <p:txBody>
          <a:bodyPr wrap="square">
            <a:spAutoFit/>
          </a:bodyPr>
          <a:lstStyle/>
          <a:p>
            <a:pPr algn="l"/>
            <a:r>
              <a:rPr sz="1000" b="1" i="0">
                <a:solidFill>
                  <a:srgbClr val="1E293B"/>
                </a:solidFill>
              </a:rPr>
              <a:t>tampil_di_online</a:t>
            </a:r>
          </a:p>
        </p:txBody>
      </p:sp>
      <p:sp>
        <p:nvSpPr>
          <p:cNvPr id="35" name="TextBox 34"/>
          <p:cNvSpPr txBox="1"/>
          <p:nvPr/>
        </p:nvSpPr>
        <p:spPr>
          <a:xfrm>
            <a:off x="502920" y="5312664"/>
            <a:ext cx="640080" cy="274320"/>
          </a:xfrm>
          <a:prstGeom prst="rect">
            <a:avLst/>
          </a:prstGeom>
          <a:noFill/>
        </p:spPr>
        <p:txBody>
          <a:bodyPr wrap="square">
            <a:spAutoFit/>
          </a:bodyPr>
          <a:lstStyle/>
          <a:p>
            <a:pPr algn="ctr"/>
            <a:r>
              <a:rPr sz="850" b="0" i="0">
                <a:solidFill>
                  <a:srgbClr val="FFFFFF"/>
                </a:solidFill>
              </a:rPr>
              <a:t>TINYINT</a:t>
            </a:r>
          </a:p>
        </p:txBody>
      </p:sp>
      <p:sp>
        <p:nvSpPr>
          <p:cNvPr id="36" name="Rectangle 35"/>
          <p:cNvSpPr/>
          <p:nvPr/>
        </p:nvSpPr>
        <p:spPr>
          <a:xfrm>
            <a:off x="502920" y="5312664"/>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5312664"/>
            <a:ext cx="640080" cy="256032"/>
          </a:xfrm>
          <a:prstGeom prst="rect">
            <a:avLst/>
          </a:prstGeom>
          <a:noFill/>
        </p:spPr>
        <p:txBody>
          <a:bodyPr wrap="square">
            <a:spAutoFit/>
          </a:bodyPr>
          <a:lstStyle/>
          <a:p>
            <a:pPr algn="ctr"/>
            <a:r>
              <a:rPr sz="800" b="0" i="0">
                <a:solidFill>
                  <a:srgbClr val="FFFFFF"/>
                </a:solidFill>
              </a:rPr>
              <a:t>TINYINT</a:t>
            </a:r>
          </a:p>
        </p:txBody>
      </p:sp>
      <p:sp>
        <p:nvSpPr>
          <p:cNvPr id="38" name="TextBox 37"/>
          <p:cNvSpPr txBox="1"/>
          <p:nvPr/>
        </p:nvSpPr>
        <p:spPr>
          <a:xfrm>
            <a:off x="1188720" y="5312664"/>
            <a:ext cx="4823460" cy="274320"/>
          </a:xfrm>
          <a:prstGeom prst="rect">
            <a:avLst/>
          </a:prstGeom>
          <a:noFill/>
        </p:spPr>
        <p:txBody>
          <a:bodyPr wrap="square">
            <a:spAutoFit/>
          </a:bodyPr>
          <a:lstStyle/>
          <a:p>
            <a:pPr algn="l"/>
            <a:r>
              <a:rPr sz="950" b="0" i="0">
                <a:solidFill>
                  <a:srgbClr val="64748B"/>
                </a:solidFill>
              </a:rPr>
              <a:t>Toggle visibilitas E-Commerce</a:t>
            </a:r>
          </a:p>
        </p:txBody>
      </p:sp>
      <p:sp>
        <p:nvSpPr>
          <p:cNvPr id="39" name="Rectangle 38"/>
          <p:cNvSpPr/>
          <p:nvPr/>
        </p:nvSpPr>
        <p:spPr>
          <a:xfrm>
            <a:off x="6332220" y="1188720"/>
            <a:ext cx="5692140" cy="457200"/>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3660" y="1234440"/>
            <a:ext cx="5509260" cy="384048"/>
          </a:xfrm>
          <a:prstGeom prst="rect">
            <a:avLst/>
          </a:prstGeom>
          <a:noFill/>
        </p:spPr>
        <p:txBody>
          <a:bodyPr wrap="square">
            <a:spAutoFit/>
          </a:bodyPr>
          <a:lstStyle/>
          <a:p>
            <a:pPr algn="l"/>
            <a:r>
              <a:rPr sz="1200" b="1" i="0">
                <a:solidFill>
                  <a:srgbClr val="FFFFFF"/>
                </a:solidFill>
              </a:rPr>
              <a:t>stok_batch — Logika FEFO Obat</a:t>
            </a:r>
          </a:p>
        </p:txBody>
      </p:sp>
      <p:sp>
        <p:nvSpPr>
          <p:cNvPr id="41" name="Rectangle 40"/>
          <p:cNvSpPr/>
          <p:nvPr/>
        </p:nvSpPr>
        <p:spPr>
          <a:xfrm>
            <a:off x="6332220" y="1691640"/>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23660" y="1728216"/>
            <a:ext cx="2011680" cy="365760"/>
          </a:xfrm>
          <a:prstGeom prst="rect">
            <a:avLst/>
          </a:prstGeom>
          <a:noFill/>
        </p:spPr>
        <p:txBody>
          <a:bodyPr wrap="square">
            <a:spAutoFit/>
          </a:bodyPr>
          <a:lstStyle/>
          <a:p>
            <a:pPr algn="l"/>
            <a:r>
              <a:rPr sz="1000" b="1" i="0">
                <a:solidFill>
                  <a:srgbClr val="1E293B"/>
                </a:solidFill>
              </a:rPr>
              <a:t>id_variasi</a:t>
            </a:r>
          </a:p>
        </p:txBody>
      </p:sp>
      <p:sp>
        <p:nvSpPr>
          <p:cNvPr id="43" name="TextBox 42"/>
          <p:cNvSpPr txBox="1"/>
          <p:nvPr/>
        </p:nvSpPr>
        <p:spPr>
          <a:xfrm>
            <a:off x="6423660" y="2093976"/>
            <a:ext cx="640080" cy="274320"/>
          </a:xfrm>
          <a:prstGeom prst="rect">
            <a:avLst/>
          </a:prstGeom>
          <a:noFill/>
        </p:spPr>
        <p:txBody>
          <a:bodyPr wrap="square">
            <a:spAutoFit/>
          </a:bodyPr>
          <a:lstStyle/>
          <a:p>
            <a:pPr algn="ctr"/>
            <a:r>
              <a:rPr sz="850" b="0" i="0">
                <a:solidFill>
                  <a:srgbClr val="FFFFFF"/>
                </a:solidFill>
              </a:rPr>
              <a:t>FK</a:t>
            </a:r>
          </a:p>
        </p:txBody>
      </p:sp>
      <p:sp>
        <p:nvSpPr>
          <p:cNvPr id="44" name="Rectangle 43"/>
          <p:cNvSpPr/>
          <p:nvPr/>
        </p:nvSpPr>
        <p:spPr>
          <a:xfrm>
            <a:off x="6423660" y="2093976"/>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3660" y="2093976"/>
            <a:ext cx="640080" cy="256032"/>
          </a:xfrm>
          <a:prstGeom prst="rect">
            <a:avLst/>
          </a:prstGeom>
          <a:noFill/>
        </p:spPr>
        <p:txBody>
          <a:bodyPr wrap="square">
            <a:spAutoFit/>
          </a:bodyPr>
          <a:lstStyle/>
          <a:p>
            <a:pPr algn="ctr"/>
            <a:r>
              <a:rPr sz="800" b="0" i="0">
                <a:solidFill>
                  <a:srgbClr val="FFFFFF"/>
                </a:solidFill>
              </a:rPr>
              <a:t>FK</a:t>
            </a:r>
          </a:p>
        </p:txBody>
      </p:sp>
      <p:sp>
        <p:nvSpPr>
          <p:cNvPr id="46" name="TextBox 45"/>
          <p:cNvSpPr txBox="1"/>
          <p:nvPr/>
        </p:nvSpPr>
        <p:spPr>
          <a:xfrm>
            <a:off x="7109460" y="2093976"/>
            <a:ext cx="4823460" cy="274320"/>
          </a:xfrm>
          <a:prstGeom prst="rect">
            <a:avLst/>
          </a:prstGeom>
          <a:noFill/>
        </p:spPr>
        <p:txBody>
          <a:bodyPr wrap="square">
            <a:spAutoFit/>
          </a:bodyPr>
          <a:lstStyle/>
          <a:p>
            <a:pPr algn="l"/>
            <a:r>
              <a:rPr sz="950" b="0" i="0">
                <a:solidFill>
                  <a:srgbClr val="64748B"/>
                </a:solidFill>
              </a:rPr>
              <a:t>Relasi ke produk_variasi</a:t>
            </a:r>
          </a:p>
        </p:txBody>
      </p:sp>
      <p:sp>
        <p:nvSpPr>
          <p:cNvPr id="47" name="Rectangle 46"/>
          <p:cNvSpPr/>
          <p:nvPr/>
        </p:nvSpPr>
        <p:spPr>
          <a:xfrm>
            <a:off x="6332220" y="2496312"/>
            <a:ext cx="569214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23660" y="2532888"/>
            <a:ext cx="2011680" cy="365760"/>
          </a:xfrm>
          <a:prstGeom prst="rect">
            <a:avLst/>
          </a:prstGeom>
          <a:noFill/>
        </p:spPr>
        <p:txBody>
          <a:bodyPr wrap="square">
            <a:spAutoFit/>
          </a:bodyPr>
          <a:lstStyle/>
          <a:p>
            <a:pPr algn="l"/>
            <a:r>
              <a:rPr sz="1000" b="1" i="0">
                <a:solidFill>
                  <a:srgbClr val="1E293B"/>
                </a:solidFill>
              </a:rPr>
              <a:t>no_batch</a:t>
            </a:r>
          </a:p>
        </p:txBody>
      </p:sp>
      <p:sp>
        <p:nvSpPr>
          <p:cNvPr id="49" name="TextBox 48"/>
          <p:cNvSpPr txBox="1"/>
          <p:nvPr/>
        </p:nvSpPr>
        <p:spPr>
          <a:xfrm>
            <a:off x="6423660" y="2898648"/>
            <a:ext cx="640080" cy="274320"/>
          </a:xfrm>
          <a:prstGeom prst="rect">
            <a:avLst/>
          </a:prstGeom>
          <a:noFill/>
        </p:spPr>
        <p:txBody>
          <a:bodyPr wrap="square">
            <a:spAutoFit/>
          </a:bodyPr>
          <a:lstStyle/>
          <a:p>
            <a:pPr algn="ctr"/>
            <a:r>
              <a:rPr sz="850" b="0" i="0">
                <a:solidFill>
                  <a:srgbClr val="FFFFFF"/>
                </a:solidFill>
              </a:rPr>
              <a:t>VARCHAR</a:t>
            </a:r>
          </a:p>
        </p:txBody>
      </p:sp>
      <p:sp>
        <p:nvSpPr>
          <p:cNvPr id="50" name="Rectangle 49"/>
          <p:cNvSpPr/>
          <p:nvPr/>
        </p:nvSpPr>
        <p:spPr>
          <a:xfrm>
            <a:off x="6423660" y="2898648"/>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23660" y="2898648"/>
            <a:ext cx="640080" cy="256032"/>
          </a:xfrm>
          <a:prstGeom prst="rect">
            <a:avLst/>
          </a:prstGeom>
          <a:noFill/>
        </p:spPr>
        <p:txBody>
          <a:bodyPr wrap="square">
            <a:spAutoFit/>
          </a:bodyPr>
          <a:lstStyle/>
          <a:p>
            <a:pPr algn="ctr"/>
            <a:r>
              <a:rPr sz="800" b="0" i="0">
                <a:solidFill>
                  <a:srgbClr val="FFFFFF"/>
                </a:solidFill>
              </a:rPr>
              <a:t>VARCHAR</a:t>
            </a:r>
          </a:p>
        </p:txBody>
      </p:sp>
      <p:sp>
        <p:nvSpPr>
          <p:cNvPr id="52" name="TextBox 51"/>
          <p:cNvSpPr txBox="1"/>
          <p:nvPr/>
        </p:nvSpPr>
        <p:spPr>
          <a:xfrm>
            <a:off x="7109460" y="2898648"/>
            <a:ext cx="4823460" cy="274320"/>
          </a:xfrm>
          <a:prstGeom prst="rect">
            <a:avLst/>
          </a:prstGeom>
          <a:noFill/>
        </p:spPr>
        <p:txBody>
          <a:bodyPr wrap="square">
            <a:spAutoFit/>
          </a:bodyPr>
          <a:lstStyle/>
          <a:p>
            <a:pPr algn="l"/>
            <a:r>
              <a:rPr sz="950" b="0" i="0">
                <a:solidFill>
                  <a:srgbClr val="64748B"/>
                </a:solidFill>
              </a:rPr>
              <a:t>Nomor batch dari supplier</a:t>
            </a:r>
          </a:p>
        </p:txBody>
      </p:sp>
      <p:sp>
        <p:nvSpPr>
          <p:cNvPr id="53" name="Rectangle 52"/>
          <p:cNvSpPr/>
          <p:nvPr/>
        </p:nvSpPr>
        <p:spPr>
          <a:xfrm>
            <a:off x="6332220" y="3300984"/>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23660" y="3337560"/>
            <a:ext cx="2011680" cy="365760"/>
          </a:xfrm>
          <a:prstGeom prst="rect">
            <a:avLst/>
          </a:prstGeom>
          <a:noFill/>
        </p:spPr>
        <p:txBody>
          <a:bodyPr wrap="square">
            <a:spAutoFit/>
          </a:bodyPr>
          <a:lstStyle/>
          <a:p>
            <a:pPr algn="l"/>
            <a:r>
              <a:rPr sz="1000" b="1" i="0">
                <a:solidFill>
                  <a:srgbClr val="1E293B"/>
                </a:solidFill>
              </a:rPr>
              <a:t>tgl_exp</a:t>
            </a:r>
          </a:p>
        </p:txBody>
      </p:sp>
      <p:sp>
        <p:nvSpPr>
          <p:cNvPr id="55" name="TextBox 54"/>
          <p:cNvSpPr txBox="1"/>
          <p:nvPr/>
        </p:nvSpPr>
        <p:spPr>
          <a:xfrm>
            <a:off x="6423660" y="3703320"/>
            <a:ext cx="640080" cy="274320"/>
          </a:xfrm>
          <a:prstGeom prst="rect">
            <a:avLst/>
          </a:prstGeom>
          <a:noFill/>
        </p:spPr>
        <p:txBody>
          <a:bodyPr wrap="square">
            <a:spAutoFit/>
          </a:bodyPr>
          <a:lstStyle/>
          <a:p>
            <a:pPr algn="ctr"/>
            <a:r>
              <a:rPr sz="850" b="0" i="0">
                <a:solidFill>
                  <a:srgbClr val="FFFFFF"/>
                </a:solidFill>
              </a:rPr>
              <a:t>DATE</a:t>
            </a:r>
          </a:p>
        </p:txBody>
      </p:sp>
      <p:sp>
        <p:nvSpPr>
          <p:cNvPr id="56" name="Rectangle 55"/>
          <p:cNvSpPr/>
          <p:nvPr/>
        </p:nvSpPr>
        <p:spPr>
          <a:xfrm>
            <a:off x="6423660" y="3703320"/>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23660" y="3703320"/>
            <a:ext cx="640080" cy="256032"/>
          </a:xfrm>
          <a:prstGeom prst="rect">
            <a:avLst/>
          </a:prstGeom>
          <a:noFill/>
        </p:spPr>
        <p:txBody>
          <a:bodyPr wrap="square">
            <a:spAutoFit/>
          </a:bodyPr>
          <a:lstStyle/>
          <a:p>
            <a:pPr algn="ctr"/>
            <a:r>
              <a:rPr sz="800" b="0" i="0">
                <a:solidFill>
                  <a:srgbClr val="FFFFFF"/>
                </a:solidFill>
              </a:rPr>
              <a:t>DATE</a:t>
            </a:r>
          </a:p>
        </p:txBody>
      </p:sp>
      <p:sp>
        <p:nvSpPr>
          <p:cNvPr id="58" name="TextBox 57"/>
          <p:cNvSpPr txBox="1"/>
          <p:nvPr/>
        </p:nvSpPr>
        <p:spPr>
          <a:xfrm>
            <a:off x="7109460" y="3703320"/>
            <a:ext cx="4823460" cy="274320"/>
          </a:xfrm>
          <a:prstGeom prst="rect">
            <a:avLst/>
          </a:prstGeom>
          <a:noFill/>
        </p:spPr>
        <p:txBody>
          <a:bodyPr wrap="square">
            <a:spAutoFit/>
          </a:bodyPr>
          <a:lstStyle/>
          <a:p>
            <a:pPr algn="l"/>
            <a:r>
              <a:rPr sz="950" b="0" i="0">
                <a:solidFill>
                  <a:srgbClr val="64748B"/>
                </a:solidFill>
              </a:rPr>
              <a:t>→ ORDER BY tgl_exp ASC (FEFO)</a:t>
            </a:r>
          </a:p>
        </p:txBody>
      </p:sp>
      <p:sp>
        <p:nvSpPr>
          <p:cNvPr id="59" name="Rectangle 58"/>
          <p:cNvSpPr/>
          <p:nvPr/>
        </p:nvSpPr>
        <p:spPr>
          <a:xfrm>
            <a:off x="6332220" y="4105656"/>
            <a:ext cx="569214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23660" y="4142232"/>
            <a:ext cx="2011680" cy="365760"/>
          </a:xfrm>
          <a:prstGeom prst="rect">
            <a:avLst/>
          </a:prstGeom>
          <a:noFill/>
        </p:spPr>
        <p:txBody>
          <a:bodyPr wrap="square">
            <a:spAutoFit/>
          </a:bodyPr>
          <a:lstStyle/>
          <a:p>
            <a:pPr algn="l"/>
            <a:r>
              <a:rPr sz="1000" b="1" i="0">
                <a:solidFill>
                  <a:srgbClr val="1E293B"/>
                </a:solidFill>
              </a:rPr>
              <a:t>stok_sisa</a:t>
            </a:r>
          </a:p>
        </p:txBody>
      </p:sp>
      <p:sp>
        <p:nvSpPr>
          <p:cNvPr id="61" name="TextBox 60"/>
          <p:cNvSpPr txBox="1"/>
          <p:nvPr/>
        </p:nvSpPr>
        <p:spPr>
          <a:xfrm>
            <a:off x="6423660" y="4507992"/>
            <a:ext cx="640080" cy="274320"/>
          </a:xfrm>
          <a:prstGeom prst="rect">
            <a:avLst/>
          </a:prstGeom>
          <a:noFill/>
        </p:spPr>
        <p:txBody>
          <a:bodyPr wrap="square">
            <a:spAutoFit/>
          </a:bodyPr>
          <a:lstStyle/>
          <a:p>
            <a:pPr algn="ctr"/>
            <a:r>
              <a:rPr sz="850" b="0" i="0">
                <a:solidFill>
                  <a:srgbClr val="FFFFFF"/>
                </a:solidFill>
              </a:rPr>
              <a:t>INT</a:t>
            </a:r>
          </a:p>
        </p:txBody>
      </p:sp>
      <p:sp>
        <p:nvSpPr>
          <p:cNvPr id="62" name="Rectangle 61"/>
          <p:cNvSpPr/>
          <p:nvPr/>
        </p:nvSpPr>
        <p:spPr>
          <a:xfrm>
            <a:off x="6423660" y="4507992"/>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23660" y="4507992"/>
            <a:ext cx="640080" cy="256032"/>
          </a:xfrm>
          <a:prstGeom prst="rect">
            <a:avLst/>
          </a:prstGeom>
          <a:noFill/>
        </p:spPr>
        <p:txBody>
          <a:bodyPr wrap="square">
            <a:spAutoFit/>
          </a:bodyPr>
          <a:lstStyle/>
          <a:p>
            <a:pPr algn="ctr"/>
            <a:r>
              <a:rPr sz="800" b="0" i="0">
                <a:solidFill>
                  <a:srgbClr val="FFFFFF"/>
                </a:solidFill>
              </a:rPr>
              <a:t>INT</a:t>
            </a:r>
          </a:p>
        </p:txBody>
      </p:sp>
      <p:sp>
        <p:nvSpPr>
          <p:cNvPr id="64" name="TextBox 63"/>
          <p:cNvSpPr txBox="1"/>
          <p:nvPr/>
        </p:nvSpPr>
        <p:spPr>
          <a:xfrm>
            <a:off x="7109460" y="4507992"/>
            <a:ext cx="4823460" cy="274320"/>
          </a:xfrm>
          <a:prstGeom prst="rect">
            <a:avLst/>
          </a:prstGeom>
          <a:noFill/>
        </p:spPr>
        <p:txBody>
          <a:bodyPr wrap="square">
            <a:spAutoFit/>
          </a:bodyPr>
          <a:lstStyle/>
          <a:p>
            <a:pPr algn="l"/>
            <a:r>
              <a:rPr sz="950" b="0" i="0">
                <a:solidFill>
                  <a:srgbClr val="64748B"/>
                </a:solidFill>
              </a:rPr>
              <a:t>Stok fisik tersisa per batch</a:t>
            </a:r>
          </a:p>
        </p:txBody>
      </p:sp>
      <p:sp>
        <p:nvSpPr>
          <p:cNvPr id="65" name="Rectangle 64"/>
          <p:cNvSpPr/>
          <p:nvPr/>
        </p:nvSpPr>
        <p:spPr>
          <a:xfrm>
            <a:off x="6332220" y="4910328"/>
            <a:ext cx="5692140" cy="749808"/>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23660" y="4946904"/>
            <a:ext cx="2011680" cy="365760"/>
          </a:xfrm>
          <a:prstGeom prst="rect">
            <a:avLst/>
          </a:prstGeom>
          <a:noFill/>
        </p:spPr>
        <p:txBody>
          <a:bodyPr wrap="square">
            <a:spAutoFit/>
          </a:bodyPr>
          <a:lstStyle/>
          <a:p>
            <a:pPr algn="l"/>
            <a:r>
              <a:rPr sz="1000" b="1" i="0">
                <a:solidFill>
                  <a:srgbClr val="1E293B"/>
                </a:solidFill>
              </a:rPr>
              <a:t>(kartu_stok.alasan_mutasi)</a:t>
            </a:r>
          </a:p>
        </p:txBody>
      </p:sp>
      <p:sp>
        <p:nvSpPr>
          <p:cNvPr id="67" name="TextBox 66"/>
          <p:cNvSpPr txBox="1"/>
          <p:nvPr/>
        </p:nvSpPr>
        <p:spPr>
          <a:xfrm>
            <a:off x="6423660" y="5312664"/>
            <a:ext cx="640080" cy="274320"/>
          </a:xfrm>
          <a:prstGeom prst="rect">
            <a:avLst/>
          </a:prstGeom>
          <a:noFill/>
        </p:spPr>
        <p:txBody>
          <a:bodyPr wrap="square">
            <a:spAutoFit/>
          </a:bodyPr>
          <a:lstStyle/>
          <a:p>
            <a:pPr algn="ctr"/>
            <a:r>
              <a:rPr sz="850" b="0" i="0">
                <a:solidFill>
                  <a:srgbClr val="FFFFFF"/>
                </a:solidFill>
              </a:rPr>
              <a:t>ENUM</a:t>
            </a:r>
          </a:p>
        </p:txBody>
      </p:sp>
      <p:sp>
        <p:nvSpPr>
          <p:cNvPr id="68" name="Rectangle 67"/>
          <p:cNvSpPr/>
          <p:nvPr/>
        </p:nvSpPr>
        <p:spPr>
          <a:xfrm>
            <a:off x="6423660" y="5312664"/>
            <a:ext cx="640080" cy="25603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23660" y="5312664"/>
            <a:ext cx="640080" cy="256032"/>
          </a:xfrm>
          <a:prstGeom prst="rect">
            <a:avLst/>
          </a:prstGeom>
          <a:noFill/>
        </p:spPr>
        <p:txBody>
          <a:bodyPr wrap="square">
            <a:spAutoFit/>
          </a:bodyPr>
          <a:lstStyle/>
          <a:p>
            <a:pPr algn="ctr"/>
            <a:r>
              <a:rPr sz="800" b="0" i="0">
                <a:solidFill>
                  <a:srgbClr val="FFFFFF"/>
                </a:solidFill>
              </a:rPr>
              <a:t>ENUM</a:t>
            </a:r>
          </a:p>
        </p:txBody>
      </p:sp>
      <p:sp>
        <p:nvSpPr>
          <p:cNvPr id="70" name="TextBox 69"/>
          <p:cNvSpPr txBox="1"/>
          <p:nvPr/>
        </p:nvSpPr>
        <p:spPr>
          <a:xfrm>
            <a:off x="7109460" y="5312664"/>
            <a:ext cx="4823460" cy="274320"/>
          </a:xfrm>
          <a:prstGeom prst="rect">
            <a:avLst/>
          </a:prstGeom>
          <a:noFill/>
        </p:spPr>
        <p:txBody>
          <a:bodyPr wrap="square">
            <a:spAutoFit/>
          </a:bodyPr>
          <a:lstStyle/>
          <a:p>
            <a:pPr algn="l"/>
            <a:r>
              <a:rPr sz="950" b="0" i="0">
                <a:solidFill>
                  <a:srgbClr val="64748B"/>
                </a:solidFill>
              </a:rPr>
              <a:t>Jejak audit setiap mutasi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91072"/>
            <a:ext cx="12188952" cy="56692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6355080"/>
            <a:ext cx="640080" cy="365760"/>
          </a:xfrm>
          <a:prstGeom prst="rect">
            <a:avLst/>
          </a:prstGeom>
          <a:noFill/>
        </p:spPr>
        <p:txBody>
          <a:bodyPr wrap="square">
            <a:spAutoFit/>
          </a:bodyPr>
          <a:lstStyle/>
          <a:p>
            <a:pPr algn="r"/>
            <a:r>
              <a:rPr sz="1100" b="0" i="0">
                <a:solidFill>
                  <a:srgbClr val="FFFFFF"/>
                </a:solidFill>
              </a:rPr>
              <a:t>14</a:t>
            </a:r>
          </a:p>
        </p:txBody>
      </p:sp>
      <p:sp>
        <p:nvSpPr>
          <p:cNvPr id="5" name="Rectangle 4"/>
          <p:cNvSpPr/>
          <p:nvPr/>
        </p:nvSpPr>
        <p:spPr>
          <a:xfrm>
            <a:off x="274320" y="1051560"/>
            <a:ext cx="11914632"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11548872" cy="822960"/>
          </a:xfrm>
          <a:prstGeom prst="rect">
            <a:avLst/>
          </a:prstGeom>
          <a:noFill/>
        </p:spPr>
        <p:txBody>
          <a:bodyPr wrap="none">
            <a:spAutoFit/>
          </a:bodyPr>
          <a:lstStyle/>
          <a:p>
            <a:pPr algn="l"/>
            <a:r>
              <a:rPr sz="2200" b="1">
                <a:solidFill>
                  <a:srgbClr val="2D8996"/>
                </a:solidFill>
              </a:rPr>
              <a:t>Kesimpulan</a:t>
            </a:r>
          </a:p>
        </p:txBody>
      </p:sp>
      <p:sp>
        <p:nvSpPr>
          <p:cNvPr id="7" name="Rectangle 6"/>
          <p:cNvSpPr/>
          <p:nvPr/>
        </p:nvSpPr>
        <p:spPr>
          <a:xfrm>
            <a:off x="411480" y="1188720"/>
            <a:ext cx="11612880" cy="4846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88720"/>
            <a:ext cx="73152" cy="484632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08760"/>
            <a:ext cx="11292840" cy="4343400"/>
          </a:xfrm>
          <a:prstGeom prst="rect">
            <a:avLst/>
          </a:prstGeom>
          <a:noFill/>
        </p:spPr>
        <p:txBody>
          <a:bodyPr wrap="square">
            <a:spAutoFit/>
          </a:bodyPr>
          <a:lstStyle/>
          <a:p>
            <a:pPr algn="l"/>
            <a:r>
              <a:rPr sz="1400" b="0" i="0">
                <a:solidFill>
                  <a:srgbClr val="1E293B"/>
                </a:solidFill>
              </a:rPr>
              <a:t>Melalui penelitian ini, dirancang sebuah sistem informasi inventori omnichannel berbasis web yang bertujuan menjembatani kesenjangan antara transaksi kasir fisik (POS) dan penjualan daring di ZenCare Medical.
Dengan menerapkan metode pengembangan Rapid Application Development (RAD), sistem ini diharapkan menjadi solusi atas permasalahan overselling dan inefisiensi konversi multi-satuan (Dual-UOM).
Implementasi basis data terpusat dan fitur Gatekeeper berlogika First Expired First Out (FEFO) pada sistem ini diproyeksikan menciptakan tata kelola logistik medis yang jauh lebih akurat, aman, dan transparan — disertai pemisahan wewenang (RBAC) yang tegas antara Staf Operasional (Admin) dan Pihak Manajemen (Superadmin).</a:t>
            </a:r>
          </a:p>
        </p:txBody>
      </p:sp>
      <p:sp>
        <p:nvSpPr>
          <p:cNvPr id="10" name="Rectangle 9"/>
          <p:cNvSpPr/>
          <p:nvPr/>
        </p:nvSpPr>
        <p:spPr>
          <a:xfrm>
            <a:off x="640080" y="5577840"/>
            <a:ext cx="2651760" cy="41148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23560"/>
            <a:ext cx="2560320" cy="347472"/>
          </a:xfrm>
          <a:prstGeom prst="rect">
            <a:avLst/>
          </a:prstGeom>
          <a:noFill/>
        </p:spPr>
        <p:txBody>
          <a:bodyPr wrap="square">
            <a:spAutoFit/>
          </a:bodyPr>
          <a:lstStyle/>
          <a:p>
            <a:pPr algn="ctr"/>
            <a:r>
              <a:rPr sz="1100" b="1" i="0">
                <a:solidFill>
                  <a:srgbClr val="FFFFFF"/>
                </a:solidFill>
              </a:rPr>
              <a:t>✅ Omnichannel Terpadu</a:t>
            </a:r>
          </a:p>
        </p:txBody>
      </p:sp>
      <p:sp>
        <p:nvSpPr>
          <p:cNvPr id="12" name="Rectangle 11"/>
          <p:cNvSpPr/>
          <p:nvPr/>
        </p:nvSpPr>
        <p:spPr>
          <a:xfrm>
            <a:off x="3401568" y="5577840"/>
            <a:ext cx="2651760" cy="41148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7288" y="5623560"/>
            <a:ext cx="2560320" cy="347472"/>
          </a:xfrm>
          <a:prstGeom prst="rect">
            <a:avLst/>
          </a:prstGeom>
          <a:noFill/>
        </p:spPr>
        <p:txBody>
          <a:bodyPr wrap="square">
            <a:spAutoFit/>
          </a:bodyPr>
          <a:lstStyle/>
          <a:p>
            <a:pPr algn="ctr"/>
            <a:r>
              <a:rPr sz="1100" b="1" i="0">
                <a:solidFill>
                  <a:srgbClr val="FFFFFF"/>
                </a:solidFill>
              </a:rPr>
              <a:t>✅ FEFO &amp; Serial Number</a:t>
            </a:r>
          </a:p>
        </p:txBody>
      </p:sp>
      <p:sp>
        <p:nvSpPr>
          <p:cNvPr id="14" name="Rectangle 13"/>
          <p:cNvSpPr/>
          <p:nvPr/>
        </p:nvSpPr>
        <p:spPr>
          <a:xfrm>
            <a:off x="6163056" y="5577840"/>
            <a:ext cx="2651760" cy="41148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8776" y="5623560"/>
            <a:ext cx="2560320" cy="347472"/>
          </a:xfrm>
          <a:prstGeom prst="rect">
            <a:avLst/>
          </a:prstGeom>
          <a:noFill/>
        </p:spPr>
        <p:txBody>
          <a:bodyPr wrap="square">
            <a:spAutoFit/>
          </a:bodyPr>
          <a:lstStyle/>
          <a:p>
            <a:pPr algn="ctr"/>
            <a:r>
              <a:rPr sz="1100" b="1" i="0">
                <a:solidFill>
                  <a:srgbClr val="FFFFFF"/>
                </a:solidFill>
              </a:rPr>
              <a:t>✅ RBAC Tegas</a:t>
            </a:r>
          </a:p>
        </p:txBody>
      </p:sp>
      <p:sp>
        <p:nvSpPr>
          <p:cNvPr id="16" name="Rectangle 15"/>
          <p:cNvSpPr/>
          <p:nvPr/>
        </p:nvSpPr>
        <p:spPr>
          <a:xfrm>
            <a:off x="8924544" y="5577840"/>
            <a:ext cx="2651760" cy="41148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0264" y="5623560"/>
            <a:ext cx="2560320" cy="347472"/>
          </a:xfrm>
          <a:prstGeom prst="rect">
            <a:avLst/>
          </a:prstGeom>
          <a:noFill/>
        </p:spPr>
        <p:txBody>
          <a:bodyPr wrap="square">
            <a:spAutoFit/>
          </a:bodyPr>
          <a:lstStyle/>
          <a:p>
            <a:pPr algn="ctr"/>
            <a:r>
              <a:rPr sz="1100" b="1" i="0">
                <a:solidFill>
                  <a:srgbClr val="FFFFFF"/>
                </a:solidFill>
              </a:rPr>
              <a:t>✅ Dashboard Manajerial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a:spAutoFit/>
          </a:bodyPr>
          <a:lstStyle/>
          <a:p>
            <a:pPr algn="ctr"/>
            <a:r>
              <a:rPr sz="5200" b="1" i="0">
                <a:solidFill>
                  <a:srgbClr val="FFFFFF"/>
                </a:solidFill>
              </a:rPr>
              <a:t>TERIMA KASIH</a:t>
            </a:r>
          </a:p>
        </p:txBody>
      </p:sp>
      <p:sp>
        <p:nvSpPr>
          <p:cNvPr id="5" name="Rectangle 4"/>
          <p:cNvSpPr/>
          <p:nvPr/>
        </p:nvSpPr>
        <p:spPr>
          <a:xfrm>
            <a:off x="3200400" y="2926080"/>
            <a:ext cx="580644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108960"/>
            <a:ext cx="11274552" cy="731520"/>
          </a:xfrm>
          <a:prstGeom prst="rect">
            <a:avLst/>
          </a:prstGeom>
          <a:noFill/>
        </p:spPr>
        <p:txBody>
          <a:bodyPr wrap="square">
            <a:spAutoFit/>
          </a:bodyPr>
          <a:lstStyle/>
          <a:p>
            <a:pPr algn="ctr"/>
            <a:r>
              <a:rPr sz="1600" b="0" i="1">
                <a:solidFill>
                  <a:srgbClr val="FFFFFF"/>
                </a:solidFill>
              </a:rPr>
              <a:t>Rancang Bangun Sistem Informasi Inventory Omnichannel Alat Kesehatan dan Obat</a:t>
            </a:r>
          </a:p>
        </p:txBody>
      </p:sp>
      <p:sp>
        <p:nvSpPr>
          <p:cNvPr id="7" name="TextBox 6"/>
          <p:cNvSpPr txBox="1"/>
          <p:nvPr/>
        </p:nvSpPr>
        <p:spPr>
          <a:xfrm>
            <a:off x="457200" y="4023360"/>
            <a:ext cx="11274552" cy="548640"/>
          </a:xfrm>
          <a:prstGeom prst="rect">
            <a:avLst/>
          </a:prstGeom>
          <a:noFill/>
        </p:spPr>
        <p:txBody>
          <a:bodyPr wrap="square">
            <a:spAutoFit/>
          </a:bodyPr>
          <a:lstStyle/>
          <a:p>
            <a:pPr algn="ctr"/>
            <a:r>
              <a:rPr sz="2200" b="1" i="0">
                <a:solidFill>
                  <a:srgbClr val="FFFFFF"/>
                </a:solidFill>
              </a:rPr>
              <a:t>Sesi Tanya Jawab (Q&amp;A)</a:t>
            </a:r>
          </a:p>
        </p:txBody>
      </p:sp>
      <p:sp>
        <p:nvSpPr>
          <p:cNvPr id="8" name="TextBox 7"/>
          <p:cNvSpPr txBox="1"/>
          <p:nvPr/>
        </p:nvSpPr>
        <p:spPr>
          <a:xfrm>
            <a:off x="457200" y="4754880"/>
            <a:ext cx="11274552" cy="457200"/>
          </a:xfrm>
          <a:prstGeom prst="rect">
            <a:avLst/>
          </a:prstGeom>
          <a:noFill/>
        </p:spPr>
        <p:txBody>
          <a:bodyPr wrap="square">
            <a:spAutoFit/>
          </a:bodyPr>
          <a:lstStyle/>
          <a:p>
            <a:pPr algn="ctr"/>
            <a:r>
              <a:rPr sz="1300" b="0" i="0">
                <a:solidFill>
                  <a:srgbClr val="B2EBF2"/>
                </a:solidFill>
              </a:rPr>
              <a:t>Marcell Chandra Kenchana  ·  322310015  ·  Universitas Ma Chung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